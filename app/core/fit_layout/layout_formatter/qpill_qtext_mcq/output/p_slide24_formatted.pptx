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  <p:sldId id="278" r:id="rId46"/>
    <p:sldId id="279" r:id="rId47"/>
    <p:sldId id="280" r:id="rId48"/>
    <p:sldId id="281" r:id="rId49"/>
    <p:sldId id="282" r:id="rId50"/>
    <p:sldId id="283" r:id="rId51"/>
    <p:sldId id="284" r:id="rId52"/>
    <p:sldId id="285" r:id="rId53"/>
    <p:sldId id="286" r:id="rId54"/>
    <p:sldId id="287" r:id="rId55"/>
    <p:sldId id="288" r:id="rId56"/>
    <p:sldId id="289" r:id="rId57"/>
    <p:sldId id="290" r:id="rId58"/>
    <p:sldId id="291" r:id="rId59"/>
    <p:sldId id="292" r:id="rId60"/>
    <p:sldId id="293" r:id="rId61"/>
    <p:sldId id="294" r:id="rId62"/>
    <p:sldId id="295" r:id="rId63"/>
    <p:sldId id="296" r:id="rId64"/>
    <p:sldId id="297" r:id="rId65"/>
    <p:sldId id="298" r:id="rId66"/>
  </p:sldIdLst>
  <p:sldSz cx="36576000" cy="20574000"/>
  <p:notesSz cx="6858000" cy="9144000"/>
  <p:embeddedFontLs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Play" panose="020B0604020202020204" charset="0"/>
      <p:regular r:id="rId14"/>
      <p:bold r:id="rId15"/>
    </p:embeddedFont>
    <p:embeddedFont>
      <p:font typeface="Poppins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2264">
          <p15:clr>
            <a:srgbClr val="A4A3A4"/>
          </p15:clr>
        </p15:guide>
        <p15:guide id="2" pos="552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hTXF3oIDNHmtEeAXsM8Of30ZXp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9" d="100"/>
          <a:sy n="29" d="100"/>
        </p:scale>
        <p:origin x="490" y="101"/>
      </p:cViewPr>
      <p:guideLst>
        <p:guide orient="horz" pos="12264"/>
        <p:guide pos="5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Relationship Id="rId16" Type="http://schemas.openxmlformats.org/officeDocument/2006/relationships/font" Target="fonts/font7.fntdata"/><Relationship Id="rId17" Type="http://schemas.openxmlformats.org/officeDocument/2006/relationships/font" Target="fonts/font8.fntdata"/><Relationship Id="rId18" Type="http://schemas.openxmlformats.org/officeDocument/2006/relationships/font" Target="fonts/font9.fntdata"/><Relationship Id="rId19" Type="http://schemas.openxmlformats.org/officeDocument/2006/relationships/font" Target="fonts/font10.fntdata"/><Relationship Id="rId27" Type="http://customschemas.google.com/relationships/presentationmetadata" Target="meta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32" Type="http://schemas.openxmlformats.org/officeDocument/2006/relationships/slide" Target="slides/slide1.xml"/><Relationship Id="rId33" Type="http://schemas.openxmlformats.org/officeDocument/2006/relationships/slide" Target="slides/slide2.xml"/><Relationship Id="rId34" Type="http://schemas.openxmlformats.org/officeDocument/2006/relationships/slide" Target="slides/slide3.xml"/><Relationship Id="rId35" Type="http://schemas.openxmlformats.org/officeDocument/2006/relationships/slide" Target="slides/slide4.xml"/><Relationship Id="rId36" Type="http://schemas.openxmlformats.org/officeDocument/2006/relationships/slide" Target="slides/slide5.xml"/><Relationship Id="rId37" Type="http://schemas.openxmlformats.org/officeDocument/2006/relationships/slide" Target="slides/slide6.xml"/><Relationship Id="rId38" Type="http://schemas.openxmlformats.org/officeDocument/2006/relationships/slide" Target="slides/slide7.xml"/><Relationship Id="rId39" Type="http://schemas.openxmlformats.org/officeDocument/2006/relationships/slide" Target="slides/slide8.xml"/><Relationship Id="rId40" Type="http://schemas.openxmlformats.org/officeDocument/2006/relationships/slide" Target="slides/slide9.xml"/><Relationship Id="rId41" Type="http://schemas.openxmlformats.org/officeDocument/2006/relationships/slide" Target="slides/slide10.xml"/><Relationship Id="rId42" Type="http://schemas.openxmlformats.org/officeDocument/2006/relationships/slide" Target="slides/slide11.xml"/><Relationship Id="rId43" Type="http://schemas.openxmlformats.org/officeDocument/2006/relationships/slide" Target="slides/slide12.xml"/><Relationship Id="rId44" Type="http://schemas.openxmlformats.org/officeDocument/2006/relationships/slide" Target="slides/slide13.xml"/><Relationship Id="rId45" Type="http://schemas.openxmlformats.org/officeDocument/2006/relationships/slide" Target="slides/slide14.xml"/><Relationship Id="rId46" Type="http://schemas.openxmlformats.org/officeDocument/2006/relationships/slide" Target="slides/slide15.xml"/><Relationship Id="rId47" Type="http://schemas.openxmlformats.org/officeDocument/2006/relationships/slide" Target="slides/slide16.xml"/><Relationship Id="rId48" Type="http://schemas.openxmlformats.org/officeDocument/2006/relationships/slide" Target="slides/slide17.xml"/><Relationship Id="rId49" Type="http://schemas.openxmlformats.org/officeDocument/2006/relationships/slide" Target="slides/slide18.xml"/><Relationship Id="rId50" Type="http://schemas.openxmlformats.org/officeDocument/2006/relationships/slide" Target="slides/slide19.xml"/><Relationship Id="rId51" Type="http://schemas.openxmlformats.org/officeDocument/2006/relationships/slide" Target="slides/slide20.xml"/><Relationship Id="rId52" Type="http://schemas.openxmlformats.org/officeDocument/2006/relationships/slide" Target="slides/slide21.xml"/><Relationship Id="rId53" Type="http://schemas.openxmlformats.org/officeDocument/2006/relationships/slide" Target="slides/slide22.xml"/><Relationship Id="rId54" Type="http://schemas.openxmlformats.org/officeDocument/2006/relationships/slide" Target="slides/slide23.xml"/><Relationship Id="rId55" Type="http://schemas.openxmlformats.org/officeDocument/2006/relationships/slide" Target="slides/slide24.xml"/><Relationship Id="rId56" Type="http://schemas.openxmlformats.org/officeDocument/2006/relationships/slide" Target="slides/slide25.xml"/><Relationship Id="rId57" Type="http://schemas.openxmlformats.org/officeDocument/2006/relationships/slide" Target="slides/slide26.xml"/><Relationship Id="rId58" Type="http://schemas.openxmlformats.org/officeDocument/2006/relationships/slide" Target="slides/slide27.xml"/><Relationship Id="rId59" Type="http://schemas.openxmlformats.org/officeDocument/2006/relationships/slide" Target="slides/slide28.xml"/><Relationship Id="rId60" Type="http://schemas.openxmlformats.org/officeDocument/2006/relationships/slide" Target="slides/slide29.xml"/><Relationship Id="rId61" Type="http://schemas.openxmlformats.org/officeDocument/2006/relationships/slide" Target="slides/slide30.xml"/><Relationship Id="rId62" Type="http://schemas.openxmlformats.org/officeDocument/2006/relationships/slide" Target="slides/slide31.xml"/><Relationship Id="rId63" Type="http://schemas.openxmlformats.org/officeDocument/2006/relationships/slide" Target="slides/slide32.xml"/><Relationship Id="rId64" Type="http://schemas.openxmlformats.org/officeDocument/2006/relationships/slide" Target="slides/slide33.xml"/><Relationship Id="rId65" Type="http://schemas.openxmlformats.org/officeDocument/2006/relationships/slide" Target="slides/slide34.xml"/><Relationship Id="rId66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>
            <a:spLocks noGrp="1"/>
          </p:cNvSpPr>
          <p:nvPr>
            <p:ph type="ctrTitle"/>
          </p:nvPr>
        </p:nvSpPr>
        <p:spPr>
          <a:xfrm>
            <a:off x="4572000" y="3367089"/>
            <a:ext cx="27432000" cy="71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8"/>
          <p:cNvSpPr txBox="1">
            <a:spLocks noGrp="1"/>
          </p:cNvSpPr>
          <p:nvPr>
            <p:ph type="subTitle" idx="1"/>
          </p:nvPr>
        </p:nvSpPr>
        <p:spPr>
          <a:xfrm>
            <a:off x="4572000" y="10806114"/>
            <a:ext cx="27432000" cy="4967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/>
            </a:lvl1pPr>
            <a:lvl2pPr lvl="1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/>
            </a:lvl2pPr>
            <a:lvl3pPr lvl="2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/>
            </a:lvl3pPr>
            <a:lvl4pPr lvl="3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lvl="4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lvl="5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lvl="6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lvl="7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lvl="8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9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9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0"/>
          <p:cNvSpPr txBox="1">
            <a:spLocks noGrp="1"/>
          </p:cNvSpPr>
          <p:nvPr>
            <p:ph type="title"/>
          </p:nvPr>
        </p:nvSpPr>
        <p:spPr>
          <a:xfrm>
            <a:off x="2495550" y="5129216"/>
            <a:ext cx="31546800" cy="8558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0"/>
              <a:buFont typeface="Play"/>
              <a:buNone/>
              <a:defRPr sz="1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0"/>
          <p:cNvSpPr txBox="1">
            <a:spLocks noGrp="1"/>
          </p:cNvSpPr>
          <p:nvPr>
            <p:ph type="body" idx="1"/>
          </p:nvPr>
        </p:nvSpPr>
        <p:spPr>
          <a:xfrm>
            <a:off x="2495550" y="13768391"/>
            <a:ext cx="31546800" cy="4500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rgbClr val="757575"/>
              </a:buClr>
              <a:buSzPts val="7200"/>
              <a:buNone/>
              <a:defRPr sz="72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6000"/>
              <a:buNone/>
              <a:defRPr sz="6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5400"/>
              <a:buNone/>
              <a:defRPr sz="54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757575"/>
              </a:buClr>
              <a:buSzPts val="4800"/>
              <a:buNone/>
              <a:defRPr sz="48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20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2"/>
          </p:nvPr>
        </p:nvSpPr>
        <p:spPr>
          <a:xfrm>
            <a:off x="18516600" y="5476875"/>
            <a:ext cx="15544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2"/>
          <p:cNvSpPr txBox="1">
            <a:spLocks noGrp="1"/>
          </p:cNvSpPr>
          <p:nvPr>
            <p:ph type="title"/>
          </p:nvPr>
        </p:nvSpPr>
        <p:spPr>
          <a:xfrm>
            <a:off x="2519364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body" idx="1"/>
          </p:nvPr>
        </p:nvSpPr>
        <p:spPr>
          <a:xfrm>
            <a:off x="2519366" y="5043489"/>
            <a:ext cx="15473361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body" idx="2"/>
          </p:nvPr>
        </p:nvSpPr>
        <p:spPr>
          <a:xfrm>
            <a:off x="2519366" y="7515225"/>
            <a:ext cx="15473361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2"/>
          <p:cNvSpPr txBox="1">
            <a:spLocks noGrp="1"/>
          </p:cNvSpPr>
          <p:nvPr>
            <p:ph type="body" idx="3"/>
          </p:nvPr>
        </p:nvSpPr>
        <p:spPr>
          <a:xfrm>
            <a:off x="18516600" y="5043489"/>
            <a:ext cx="15549564" cy="2471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7200"/>
              <a:buNone/>
              <a:defRPr sz="7200" b="1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1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None/>
              <a:defRPr sz="5400" b="1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 b="1"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body" idx="4"/>
          </p:nvPr>
        </p:nvSpPr>
        <p:spPr>
          <a:xfrm>
            <a:off x="18516600" y="7515225"/>
            <a:ext cx="15549564" cy="1105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3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 txBox="1">
            <a:spLocks noGrp="1"/>
          </p:cNvSpPr>
          <p:nvPr>
            <p:ph type="body" idx="1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8382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1pPr>
            <a:lvl2pPr marL="914400" lvl="1" indent="-7620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400"/>
              <a:buChar char="•"/>
              <a:defRPr sz="8400"/>
            </a:lvl2pPr>
            <a:lvl3pPr marL="1371600" lvl="2" indent="-6858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Char char="•"/>
              <a:defRPr sz="7200"/>
            </a:lvl3pPr>
            <a:lvl4pPr marL="1828800" lvl="3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4pPr>
            <a:lvl5pPr marL="2286000" lvl="4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5pPr>
            <a:lvl6pPr marL="2743200" lvl="5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6pPr>
            <a:lvl7pPr marL="3200400" lvl="6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7pPr>
            <a:lvl8pPr marL="3657600" lvl="7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8pPr>
            <a:lvl9pPr marL="4114800" lvl="8" indent="-609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Char char="•"/>
              <a:defRPr sz="6000"/>
            </a:lvl9pPr>
          </a:lstStyle>
          <a:p>
            <a:endParaRPr/>
          </a:p>
        </p:txBody>
      </p:sp>
      <p:sp>
        <p:nvSpPr>
          <p:cNvPr id="64" name="Google Shape;64;p24"/>
          <p:cNvSpPr txBox="1">
            <a:spLocks noGrp="1"/>
          </p:cNvSpPr>
          <p:nvPr>
            <p:ph type="body" idx="2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2519366" y="1371600"/>
            <a:ext cx="11796711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Play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>
            <a:spLocks noGrp="1"/>
          </p:cNvSpPr>
          <p:nvPr>
            <p:ph type="pic" idx="2"/>
          </p:nvPr>
        </p:nvSpPr>
        <p:spPr>
          <a:xfrm>
            <a:off x="15549564" y="2962277"/>
            <a:ext cx="18516600" cy="1462087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25"/>
          <p:cNvSpPr txBox="1">
            <a:spLocks noGrp="1"/>
          </p:cNvSpPr>
          <p:nvPr>
            <p:ph type="body" idx="1"/>
          </p:nvPr>
        </p:nvSpPr>
        <p:spPr>
          <a:xfrm>
            <a:off x="2519366" y="6172200"/>
            <a:ext cx="11796711" cy="11434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1pPr>
            <a:lvl2pPr marL="914400" lvl="1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/>
            </a:lvl2pPr>
            <a:lvl3pPr marL="1371600" lvl="2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/>
            </a:lvl3pPr>
            <a:lvl4pPr marL="1828800" lvl="3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4pPr>
            <a:lvl5pPr marL="2286000" lvl="4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5pPr>
            <a:lvl6pPr marL="2743200" lvl="5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6pPr>
            <a:lvl7pPr marL="3200400" lvl="6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7pPr>
            <a:lvl8pPr marL="3657600" lvl="7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8pPr>
            <a:lvl9pPr marL="4114800" lvl="8" indent="-2286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body" idx="1"/>
          </p:nvPr>
        </p:nvSpPr>
        <p:spPr>
          <a:xfrm rot="5400000">
            <a:off x="11760993" y="-3769518"/>
            <a:ext cx="13054014" cy="315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7"/>
          <p:cNvSpPr txBox="1">
            <a:spLocks noGrp="1"/>
          </p:cNvSpPr>
          <p:nvPr>
            <p:ph type="title"/>
          </p:nvPr>
        </p:nvSpPr>
        <p:spPr>
          <a:xfrm rot="5400000">
            <a:off x="21400293" y="5869782"/>
            <a:ext cx="1743551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7"/>
          <p:cNvSpPr txBox="1">
            <a:spLocks noGrp="1"/>
          </p:cNvSpPr>
          <p:nvPr>
            <p:ph type="body" idx="1"/>
          </p:nvPr>
        </p:nvSpPr>
        <p:spPr>
          <a:xfrm rot="5400000">
            <a:off x="5398293" y="-1788318"/>
            <a:ext cx="17435514" cy="232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7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7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7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2514600" y="1095377"/>
            <a:ext cx="31546800" cy="397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Play"/>
              <a:buNone/>
              <a:defRPr sz="132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2514600" y="5476875"/>
            <a:ext cx="31546800" cy="13054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762000" algn="l" rtl="0">
              <a:lnSpc>
                <a:spcPct val="90000"/>
              </a:lnSpc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8400"/>
              <a:buFont typeface="Arial"/>
              <a:buChar char="•"/>
              <a:defRPr sz="8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85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Char char="•"/>
              <a:defRPr sz="7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096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Char char="•"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5715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Char char="•"/>
              <a:defRPr sz="5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dt" idx="10"/>
          </p:nvPr>
        </p:nvSpPr>
        <p:spPr>
          <a:xfrm>
            <a:off x="25146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ftr" idx="11"/>
          </p:nvPr>
        </p:nvSpPr>
        <p:spPr>
          <a:xfrm>
            <a:off x="12115800" y="19069052"/>
            <a:ext cx="123444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25831800" y="19069052"/>
            <a:ext cx="82296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15" name="Google Shape;15;p16"/>
          <p:cNvGrpSpPr/>
          <p:nvPr/>
        </p:nvGrpSpPr>
        <p:grpSpPr>
          <a:xfrm>
            <a:off x="33712347" y="-2"/>
            <a:ext cx="2057358" cy="2669535"/>
            <a:chOff x="11306724" y="96065"/>
            <a:chExt cx="685786" cy="889845"/>
          </a:xfrm>
        </p:grpSpPr>
        <p:sp>
          <p:nvSpPr>
            <p:cNvPr id="16" name="Google Shape;16;p16"/>
            <p:cNvSpPr/>
            <p:nvPr/>
          </p:nvSpPr>
          <p:spPr>
            <a:xfrm rot="10800000" flipH="1">
              <a:off x="11306724" y="96065"/>
              <a:ext cx="685786" cy="88984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lt1"/>
            </a:solidFill>
            <a:ln>
              <a:noFill/>
            </a:ln>
            <a:effectLst>
              <a:outerShdw blurRad="50800" dist="38100" dir="5400000" algn="t" rotWithShape="0">
                <a:srgbClr val="000000">
                  <a:alpha val="69411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00"/>
                <a:buFont typeface="Arial"/>
                <a:buNone/>
              </a:pPr>
              <a:endParaRPr sz="16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" name="Google Shape;17;p16"/>
            <p:cNvPicPr preferRelativeResize="0"/>
            <p:nvPr/>
          </p:nvPicPr>
          <p:blipFill rotWithShape="1">
            <a:blip r:embed="rId14">
              <a:alphaModFix/>
            </a:blip>
            <a:srcRect l="8081" t="7836" r="10621" b="9836"/>
            <a:stretch/>
          </p:blipFill>
          <p:spPr>
            <a:xfrm>
              <a:off x="11373763" y="365125"/>
              <a:ext cx="551707" cy="546550"/>
            </a:xfrm>
            <a:prstGeom prst="ellipse">
              <a:avLst/>
            </a:prstGeom>
            <a:noFill/>
            <a:ln>
              <a:noFill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(B)-(III), (C)-(II),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(B)-(III), (C)-(I),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Specific heat capacity of body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 k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g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 kg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J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Jm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(B)-(II), (C)-(I),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(B)-(II), (C)-(III),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(B)-(IV), (C)-(II),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Magnetic induction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Ampere mete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r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intensity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Weber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flux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Gauss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Ampere meter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3. Electric field in a certain region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acc>
                      <m:accPr>
                        <m:chr m:val="⃗"/>
                      </m:acc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</m:ac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x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i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B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y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3</m:t>
                                </m:r>
                              </m:sup>
                            </m:sSup>
                          </m:den>
                        </m:f>
                        <m:acc>
                          <m:accPr>
                            <m:chr m:val="̂"/>
                          </m:accPr>
                          <m:e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j</m:t>
                            </m:r>
                          </m:e>
                        </m:acc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E⃗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( A/(x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î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B/(y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ĵ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 SI unit of A and B are: [30 Jan, 2023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C; N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C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C; Nm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4. Match List-I with List-II. [27 Aug, 2021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R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H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R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H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(Rydberg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h (Planck's constant)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b>
                                <m:sSub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μ</m:t>
                                  </m:r>
                                </m:e>
                                <m:sub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B</m:t>
                                  </m:r>
                                </m:sub>
                              </m:sSub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μ</a:t>
                          </a:r>
                          <a:r>
                            <a:rPr kumimoji="0" lang="en-IN" sz="2880" b="0" i="0" u="none" strike="noStrike" kern="0" cap="none" spc="0" normalizeH="0" baseline="-25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B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 (Magnetic field energy density)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(coefficient of viscosity)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 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 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5. If E and H represents the intensity of electric field and magnetising field respectively, then the unit of E/H will be: [27 Aug, 2021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Joule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Newton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Ohm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Mho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6. The density of a material in SI units is 128 kg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In certain units in which the unit of length is 25 cm and the unit of mass 50 g, the numerical value of density of the material is [10 Jan, 2019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16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640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410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7.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f>
                          <m:fPr/>
                          <m:num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√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equal to that of: (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Vacuum permeability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= Vacuum permittivity) [07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Voltage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Capacitance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Inductance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Resistance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8. Match List-I with List-II. [07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(B)-(III), (C)-(IV),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Mass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Power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9. Match the LIST-I with LIST-II [03 April,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Boltzmann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K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Thermal conductivity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10. Given a charge q, current I and permeability of vacuum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Which of the following quantity has the dimension of momentum?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qI/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qI/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q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q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/I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q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/I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11.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are the permeability and permittivity of free space, respectively, then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1</m:t>
                            </m:r>
                          </m:num>
                          <m:den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μ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 </m:t>
                            </m:r>
                            <m:sSub>
                              <m:sSub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ε</m:t>
                                </m:r>
                              </m:e>
                              <m:sub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0</m:t>
                                </m:r>
                              </m:sub>
                            </m:sSub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( 1/(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: [02 April,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L/T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/L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/L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/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/L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12. If B is magnetic field and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permeability of free space, then the dimensions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(B/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μ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)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(B/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μ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is: [22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A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13. Which one of the following is the correct dimensional formula for the capacitance in F? M, L, T and C stand for unit of mass, length, time and charge: [22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[F] =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[F] = [C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14. The position of a particle moving on x-axis is given by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x(t) = A </m:t>
                    </m:r>
                    <m:func>
                      <m:funcPr/>
                      <m:fName>
                        <m:r>
                          <m:rPr>
                            <m:sty m:val="p"/>
                          </m:rP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sin</m:t>
                        </m:r>
                      </m:fName>
                      <m:e/>
                    </m:func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+ B </m:t>
                    </m:r>
                    <m:sSup>
                      <m:sSupPr/>
                      <m:e>
                        <m:func>
                          <m:funcPr/>
                          <m:fName>
                            <m:r>
                              <m:rPr>
                                <m:sty m:val="p"/>
                              </m:rP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cos</m:t>
                            </m:r>
                          </m:fName>
                          <m:e/>
                        </m:func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+ C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D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x(t) = A sin t + B cos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 + Ct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D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t is time. The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ABC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D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ABC/D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[23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L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15. Match List - I with List - II. [23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(B)-(III), (C)-(I),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(B)-(II), (C)-(IV),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(B)-(IV), (C)-(II),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(A)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(B)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(C)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(III)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[ML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(D) Torsional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(IV)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A]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16. The energy E and momentum p of a moving body of mass m are related by some equation. Given that c represents the speed of light, identify the correct equation [24 Jan, 2025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p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=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p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= p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c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>
          <a:extLst>
            <a:ext uri="{FF2B5EF4-FFF2-40B4-BE49-F238E27FC236}">
              <a16:creationId xmlns:a16="http://schemas.microsoft.com/office/drawing/2014/main" id="{DEBAFB25-DD5B-F566-A866-26C1351F6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>
            <a:extLst>
              <a:ext uri="{FF2B5EF4-FFF2-40B4-BE49-F238E27FC236}">
                <a16:creationId xmlns:a16="http://schemas.microsoft.com/office/drawing/2014/main" id="{85CA81A3-3D37-1665-DB9A-D7056E0817FB}"/>
              </a:ext>
            </a:extLst>
          </p:cNvPr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17. In a measurement, it is asked to find modulus of elasticity per unit torque applied on the system. The measured quantity has dimension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a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b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c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If b = 3, the value of c is ______. [28 Jan, 2025 (Shift-I)]</a:t>
            </a:r>
          </a:p>
        </p:txBody>
      </p:sp>
      <p:sp>
        <p:nvSpPr>
          <p:cNvPr id="3" name="Google Shape;131;p29">
            <a:extLst>
              <a:ext uri="{FF2B5EF4-FFF2-40B4-BE49-F238E27FC236}">
                <a16:creationId xmlns:a16="http://schemas.microsoft.com/office/drawing/2014/main" id="{9946FC45-E036-803C-1844-E619C8A31E32}"/>
              </a:ext>
            </a:extLst>
          </p:cNvPr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" name="Google Shape;132;p29">
            <a:extLst>
              <a:ext uri="{FF2B5EF4-FFF2-40B4-BE49-F238E27FC236}">
                <a16:creationId xmlns:a16="http://schemas.microsoft.com/office/drawing/2014/main" id="{B860A868-BB48-C17E-EDC8-5065AECEE0FB}"/>
              </a:ext>
            </a:extLst>
          </p:cNvPr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50632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18. Match List-I with List-II. [28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 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(C)-(IV),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(A)-(III), (B)-(I),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(C)-(IV), (D)-(II)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Electrical resistivity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Electromotive force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19. The pair of physical quantities not having same dimensions is: [29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Pressure and Young's modulus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Surface tension and impulse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Angular momentum and Planck's constant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Torque and energy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20. The expression given below shows the variation of velocity (v) with time (t),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v =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+ </m:t>
                    </m:r>
                    <m:f>
                      <m:fPr/>
                      <m:num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Bt</m:t>
                        </m:r>
                      </m:num>
                      <m:den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C+t</m:t>
                        </m:r>
                      </m:den>
                    </m:f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v = At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+ Bt/(C+t)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. The dimension of ABC is: [29 Jan, 2025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21. Match List-I with List-II. [29 Jan, 2025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(B)-(IV), (C)-(I),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(A)-(II), (B)-(I), (C)-(IV), (D)-(III)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(A)-(IV), (B)-(II), (C)-(III), (D)-(I)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(A)-(I), (B)-(III), (C)-(II), (D)-(IV)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Gravitational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22. The dimensional formula of latent heat is: [09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[ML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23. If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is the permittivity of free space and E is the electric field, then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b>
                      <m:sSub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ε</m:t>
                        </m:r>
                      </m:e>
                      <m:sub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b>
                    </m:sSub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E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ε</a:t>
                </a:r>
                <a:r>
                  <a:rPr baseline="-25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E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has the dimensions: [08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T A]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 A]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A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02231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23405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44578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24. Given below are two statements: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(I): Dimensions of specific heat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(II): Dimensions of gas constant is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K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K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[06 April, 2024 (Shift-I)]</a:t>
            </a:r>
          </a:p>
        </p:txBody>
      </p:sp>
      <p:sp>
        <p:nvSpPr>
          <p:cNvPr id="6" name="Google Shape;133;p29"/>
          <p:cNvSpPr/>
          <p:nvPr/>
        </p:nvSpPr>
        <p:spPr>
          <a:xfrm>
            <a:off x="1039499" y="81058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83043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83966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 is incorrect but statement (II) is 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04537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 (I) and statement (II) are incorrect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25210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 (I) is correct but statement (II) is incorrect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46563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 rtlCol="0">
            <a:norm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 (I) and statement (II) are correct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25. Match List I with List II [06 April,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B-III,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Magnetic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Magnetic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Permeability of free space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26. What is the dimensional formula of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a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b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ab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in the equation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d>
                      <m:dPr>
                        <m:ctrlPr/>
                      </m:dPr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P + </m:t>
                        </m:r>
                        <m:f>
                          <m:fPr/>
                          <m:num>
                            <m:r>
                              <a:rPr lang="en-IN" sz="6000" b="1" dirty="0">
                                <a:solidFill>
                                  <a:schemeClr val="lt1"/>
                                </a:solidFill>
                                <a:latin typeface="Cambria Math"/>
                                <a:ea typeface="Cambria Math"/>
                                <a:sym typeface="Cambria Math"/>
                              </a:rPr>
                              <m:t xml:space="preserve">a</m:t>
                            </m:r>
                          </m:num>
                          <m:den>
                            <m:sSup>
                              <m:sSupPr/>
                              <m:e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V</m:t>
                                </m:r>
                              </m:e>
                              <m:sup>
                                <m:r>
                                  <a:rPr lang="en-IN" sz="6000" b="1" dirty="0">
                                    <a:solidFill>
                                      <a:schemeClr val="lt1"/>
                                    </a:solidFill>
                                    <a:latin typeface="Cambria Math"/>
                                    <a:ea typeface="Cambria Math"/>
                                    <a:sym typeface="Cambria Math"/>
                                  </a:rPr>
                                  <m:t xml:space="preserve">2</m:t>
                                </m:r>
                              </m:sup>
                            </m:sSup>
                          </m:den>
                        </m:f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 </m:t>
                        </m:r>
                      </m:e>
                    </m: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(V-b) = RT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( P + a/(V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) )(V-b) = RT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, where letters have their usual meaning. [05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74822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71914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73899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93087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14261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35434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95393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16066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5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3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5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3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37419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M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0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7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4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0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7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4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27. If G be the gravitational constant and u be the energy then which of the following quantity have the dimension as that the </a:t>
            </a: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rad>
                      <m:radPr>
                        <m:degHide m:val="1"/>
                      </m:radPr>
                      <m:deg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uG</m:t>
                        </m:r>
                      </m:e>
                    </m:rad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</a:t>
                </a:r>
                <a:r>
                  <a:rPr lang="en-IN" sz="6000" b="1" dirty="0">
                    <a:solidFill>
                      <a:schemeClr val="lt1"/>
                    </a:solidFill>
                    <a:latin typeface="Arial"/>
                    <a:ea typeface="Arial"/>
                    <a:sym typeface="Arial"/>
                  </a:rPr>
                  <a:t>√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uG </a:t>
                </a:r>
              </mc:Fallback>
            </mc:AlternateContent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 : [05 April, 2024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65678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Pressure gradient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62770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64755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83943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05117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26290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86249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Force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06922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Gravitational potential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28275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Energy per unit mass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28. The dimensional formula of angular impulse is: [1 Feb, 2024 (Shift-I)]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56534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53626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55611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74799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95973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17146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77105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97778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L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19131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mc:AlternateContent xmlns:mc="http://schemas.openxmlformats.org/markup-compatibility/2006">
              <mc:Choice xmlns:a14="http://schemas.microsoft.com/office/drawing/2010/main" Requires="a14">
                <a14:m xmlns:m="http://schemas.openxmlformats.org/officeDocument/2006/math">
                  <m:oMath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[M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L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2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 </m:t>
                    </m:r>
                    <m:sSup>
                      <m:sSupPr/>
                      <m:e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T</m:t>
                        </m:r>
                      </m:e>
                      <m:sup>
                        <m:r>
                          <a:rPr lang="en-IN" sz="6000" b="1" dirty="0">
                            <a:solidFill>
                              <a:schemeClr val="lt1"/>
                            </a:solidFill>
                            <a:latin typeface="Cambria Math"/>
                            <a:ea typeface="Cambria Math"/>
                            <a:sym typeface="Cambria Math"/>
                          </a:rPr>
                          <m:t xml:space="preserve">-1</m:t>
                        </m:r>
                      </m:sup>
                    </m:sSup>
                    <m:r>
                      <a:rPr lang="en-IN" sz="6000" b="1" dirty="0">
                        <a:solidFill>
                          <a:schemeClr val="lt1"/>
                        </a:solidFill>
                        <a:latin typeface="Cambria Math"/>
                        <a:ea typeface="Cambria Math"/>
                        <a:sym typeface="Cambria Math"/>
                      </a:rPr>
                      <m:t xml:space="preserve">] </m:t>
                    </m:r>
                  </m:oMath>
                </a14:m>
              </mc:Choice>
              <mc:Fallback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[M L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2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 T</a:t>
                </a:r>
                <a:r>
                  <a:rPr baseline="52000" lang="en-IN" sz="432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-1</a:t>
                </a:r>
                <a:r>
                  <a:rPr lang="en-IN" sz="6000" b="1" dirty="0">
                    <a:solidFill>
                      <a:schemeClr val="lt1"/>
                    </a:solidFill>
                    <a:latin typeface="Cambria"/>
                    <a:ea typeface="Cambria"/>
                    <a:sym typeface="Cambria"/>
                  </a:rPr>
                  <a:t>] </a:t>
                </a:r>
              </mc:Fallback>
            </mc:AlternateContent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29. Given below are two statements: [27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Statement-I: Planck's constant and angular momentum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Statement-II: Linear momentum and moment of force have same dimensions.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In the light of the above statements, 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8396618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 is true but Statement-II is false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8105829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8304334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0223169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2340509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4457849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0453760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Statement-I and Statement-II are false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252107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Both Statement-I and Statement-II are true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4656354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Statement-I is false but Statement-II is true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</p:spTree>
  </p:cSld>
  <p:clrMapOvr>
    <a:masterClrMapping/>
  </p:clrMapOvr>
  <p:transition spd="slow">
    <p:push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30. Match List-I with List-II. [30 Jan, 2024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B-I, C-IV,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B-II, C-III,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B-IV,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B-III, C-II,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Coefficient of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Rotational kinetic energy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31. Match List-I with List-II.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 [25 Jan, 2023 (Shift-II)]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C-IV,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B-II, C-III,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Young's Modulus (Y)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Coefficient of Viscosity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η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η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Planck's Constant (h)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Work Function (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φ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Arial"/>
                              <a:ea typeface="Arial"/>
                              <a:cs typeface="Arial"/>
                              <a:sym typeface="Arial"/>
                            </a:rPr>
                            <a:t>φ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32. Match List-I with List-II: [29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 (Physical Quantity)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 (Dimensional Formula)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0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0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Energy density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Electric Field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Latent heat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-3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A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-3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A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33. Match List-I with List-II [25 Jan,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A-(IV), B-(III), C-(II), D-(I)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A-(IV), B-(III), C-(I), D-(II)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A-(III), B-(IV), C-(I), D-(II)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A-(II), B-(I), C-(III), D-(IV)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 - 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Surface tension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Pressure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Viscosity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m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Kgm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Impulse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Kg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s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Kgs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34. Match List-I with List-II [12 April, 2023 (Shift-I)]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B-I, C-IV,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B-I, C-III,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B-III, C-II, D-IV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Spring constant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Angular 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Moment of Inertia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(M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)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(ML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)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p29"/>
          <p:cNvSpPr txBox="1"/>
          <p:nvPr/>
        </p:nvSpPr>
        <p:spPr>
          <a:xfrm>
            <a:off x="1104806" y="2396709"/>
            <a:ext cx="34747200" cy="256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35. Match List-I with List-II. [31 Jan, 2023 (Shift-II)]</a:t>
            </a:r>
          </a:p>
          <a:p>
            <a:pPr algn="l" marL="0" lvl="0" indent="0">
              <a:buSzPts val="8400"/>
              <a:buFont typeface="Arial"/>
              <a:buNone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Choose the correct answer from the options given below:</a:t>
            </a:r>
          </a:p>
        </p:txBody>
      </p:sp>
      <p:sp>
        <p:nvSpPr>
          <p:cNvPr id="3" name="Google Shape;130;p29"/>
          <p:cNvSpPr txBox="1"/>
          <p:nvPr/>
        </p:nvSpPr>
        <p:spPr>
          <a:xfrm>
            <a:off x="3107605" y="11663909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A-I, B-IV, C-III,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4" name="Google Shape;131;p29"/>
          <p:cNvSpPr/>
          <p:nvPr/>
        </p:nvSpPr>
        <p:spPr>
          <a:xfrm>
            <a:off x="-1864528" y="681774"/>
            <a:ext cx="7081988" cy="156966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400" b="1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Google Shape;132;p29"/>
          <p:cNvSpPr txBox="1"/>
          <p:nvPr/>
        </p:nvSpPr>
        <p:spPr>
          <a:xfrm>
            <a:off x="1039500" y="827049"/>
            <a:ext cx="4562190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Question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6" name="Google Shape;133;p29"/>
          <p:cNvSpPr/>
          <p:nvPr/>
        </p:nvSpPr>
        <p:spPr>
          <a:xfrm>
            <a:off x="1039499" y="11373120"/>
            <a:ext cx="1597200" cy="1597200"/>
          </a:xfrm>
          <a:prstGeom prst="ellipse">
            <a:avLst/>
          </a:prstGeom>
          <a:gradFill>
            <a:gsLst>
              <a:gs pos="0">
                <a:srgbClr val="07213C"/>
              </a:gs>
              <a:gs pos="50000">
                <a:srgbClr val="0A3258"/>
              </a:gs>
              <a:gs pos="100000">
                <a:srgbClr val="0E3B69"/>
              </a:gs>
            </a:gsLst>
            <a:lin ang="16200000" scaled="0"/>
          </a:gradFill>
          <a:ln w="571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10800000" algn="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34;p29"/>
          <p:cNvSpPr txBox="1"/>
          <p:nvPr/>
        </p:nvSpPr>
        <p:spPr>
          <a:xfrm>
            <a:off x="1104807" y="11571625"/>
            <a:ext cx="1466700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>
              <a:buSzPts val="8400"/>
              <a:buFont typeface="Arial"/>
              <a:buNone/>
            </a:pPr>
            <a:r>
              <a:rPr lang="en-IN" sz="7000" b="1" dirty="0">
                <a:solidFill>
                  <a:schemeClr val="lt1"/>
                </a:solidFill>
                <a:latin typeface="Cambria"/>
                <a:ea typeface="Cambria"/>
                <a:sym typeface="Poppins"/>
              </a:rPr>
              <a:t>A</a:t>
            </a:r>
            <a:endParaRPr sz="7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pSp>
        <p:nvGrpSpPr>
          <p:cNvPr id="8" name="Group 3">
            <a:extLst>
              <a:ext uri="{FF2B5EF4-FFF2-40B4-BE49-F238E27FC236}">
                <a16:creationId xmlns:a16="http://schemas.microsoft.com/office/drawing/2014/main" id="{E7A8D3A8-3CB4-6749-CCFA-38CA3F055B3C}"/>
              </a:ext>
            </a:extLst>
          </p:cNvPr>
          <p:cNvGrpSpPr/>
          <p:nvPr/>
        </p:nvGrpSpPr>
        <p:grpSpPr>
          <a:xfrm>
            <a:off x="1039499" y="13490460"/>
            <a:ext cx="1597200" cy="1597200"/>
            <a:chOff x="1039499" y="8887793"/>
            <a:chExt cx="1597200" cy="1597200"/>
          </a:xfrm>
        </p:grpSpPr>
        <p:sp>
          <p:nvSpPr>
            <p:cNvPr id="9" name="Google Shape;135;p29"/>
            <p:cNvSpPr/>
            <p:nvPr/>
          </p:nvSpPr>
          <p:spPr>
            <a:xfrm>
              <a:off x="1039499" y="8887793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" name="Google Shape;136;p29"/>
            <p:cNvSpPr txBox="1"/>
            <p:nvPr/>
          </p:nvSpPr>
          <p:spPr>
            <a:xfrm>
              <a:off x="1104806" y="9086298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B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1" name="Group 2">
            <a:extLst>
              <a:ext uri="{FF2B5EF4-FFF2-40B4-BE49-F238E27FC236}">
                <a16:creationId xmlns:a16="http://schemas.microsoft.com/office/drawing/2014/main" id="{1929EFE0-7899-C986-6D22-F9305746025F}"/>
              </a:ext>
            </a:extLst>
          </p:cNvPr>
          <p:cNvGrpSpPr/>
          <p:nvPr/>
        </p:nvGrpSpPr>
        <p:grpSpPr>
          <a:xfrm>
            <a:off x="1039499" y="15607800"/>
            <a:ext cx="1597200" cy="1597200"/>
            <a:chOff x="1039499" y="11392904"/>
            <a:chExt cx="1597200" cy="1597200"/>
          </a:xfrm>
        </p:grpSpPr>
        <p:sp>
          <p:nvSpPr>
            <p:cNvPr id="12" name="Google Shape;137;p29"/>
            <p:cNvSpPr/>
            <p:nvPr/>
          </p:nvSpPr>
          <p:spPr>
            <a:xfrm>
              <a:off x="1039499" y="11392904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8;p29"/>
            <p:cNvSpPr txBox="1"/>
            <p:nvPr/>
          </p:nvSpPr>
          <p:spPr>
            <a:xfrm>
              <a:off x="1104806" y="11591409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C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grpSp>
        <p:nvGrpSpPr>
          <p:cNvPr id="14" name="Group 1">
            <a:extLst>
              <a:ext uri="{FF2B5EF4-FFF2-40B4-BE49-F238E27FC236}">
                <a16:creationId xmlns:a16="http://schemas.microsoft.com/office/drawing/2014/main" id="{2EFF441D-B1EA-669C-64B0-91C1D604A467}"/>
              </a:ext>
            </a:extLst>
          </p:cNvPr>
          <p:cNvGrpSpPr/>
          <p:nvPr/>
        </p:nvGrpSpPr>
        <p:grpSpPr>
          <a:xfrm>
            <a:off x="1039499" y="17725140"/>
            <a:ext cx="1597200" cy="1597200"/>
            <a:chOff x="1039499" y="13898015"/>
            <a:chExt cx="1597200" cy="1597200"/>
          </a:xfrm>
        </p:grpSpPr>
        <p:sp>
          <p:nvSpPr>
            <p:cNvPr id="15" name="Google Shape;139;p29"/>
            <p:cNvSpPr/>
            <p:nvPr/>
          </p:nvSpPr>
          <p:spPr>
            <a:xfrm>
              <a:off x="1039499" y="13898015"/>
              <a:ext cx="1597200" cy="1597200"/>
            </a:xfrm>
            <a:prstGeom prst="ellipse">
              <a:avLst/>
            </a:prstGeom>
            <a:gradFill>
              <a:gsLst>
                <a:gs pos="0">
                  <a:srgbClr val="07213C"/>
                </a:gs>
                <a:gs pos="50000">
                  <a:srgbClr val="0A3258"/>
                </a:gs>
                <a:gs pos="100000">
                  <a:srgbClr val="0E3B69"/>
                </a:gs>
              </a:gsLst>
              <a:lin ang="16200000" scaled="0"/>
            </a:gradFill>
            <a:ln w="571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0800" dist="38100" dir="10800000" algn="r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l" marL="0" marR="0" lvl="0" indent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40;p29"/>
            <p:cNvSpPr txBox="1"/>
            <p:nvPr/>
          </p:nvSpPr>
          <p:spPr>
            <a:xfrm>
              <a:off x="1104806" y="14096520"/>
              <a:ext cx="1466700" cy="1200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algn="ctr">
                <a:buSzPts val="8400"/>
              </a:pPr>
              <a:r>
                <a:rPr lang="en-IN" sz="7000" b="1" dirty="0">
                  <a:solidFill>
                    <a:schemeClr val="lt1"/>
                  </a:solidFill>
                  <a:latin typeface="Cambria"/>
                  <a:ea typeface="Cambria"/>
                  <a:sym typeface="Poppins"/>
                </a:rPr>
                <a:t>D</a:t>
              </a:r>
              <a:endParaRPr sz="7000" b="1" dirty="0">
                <a:solidFill>
                  <a:schemeClr val="lt1"/>
                </a:solidFill>
                <a:latin typeface="Cambria"/>
                <a:ea typeface="Cambria"/>
              </a:endParaRPr>
            </a:p>
          </p:txBody>
        </p:sp>
      </p:grpSp>
      <p:sp>
        <p:nvSpPr>
          <p:cNvPr id="17" name="Google Shape;130;p29">
            <a:extLst>
              <a:ext uri="{FF2B5EF4-FFF2-40B4-BE49-F238E27FC236}">
                <a16:creationId xmlns:a16="http://schemas.microsoft.com/office/drawing/2014/main" id="{359EC1B9-8B0A-CB48-A9AA-6F6EAF44500B}"/>
              </a:ext>
            </a:extLst>
          </p:cNvPr>
          <p:cNvSpPr txBox="1"/>
          <p:nvPr/>
        </p:nvSpPr>
        <p:spPr>
          <a:xfrm>
            <a:off x="3107605" y="13721051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A-III, B-I, C-IV, D-II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8" name="Google Shape;130;p29">
            <a:extLst>
              <a:ext uri="{FF2B5EF4-FFF2-40B4-BE49-F238E27FC236}">
                <a16:creationId xmlns:a16="http://schemas.microsoft.com/office/drawing/2014/main" id="{7A900CAF-02A4-EA2C-D5AE-61E805D388DB}"/>
              </a:ext>
            </a:extLst>
          </p:cNvPr>
          <p:cNvSpPr txBox="1"/>
          <p:nvPr/>
        </p:nvSpPr>
        <p:spPr>
          <a:xfrm>
            <a:off x="3107605" y="15788366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A-II, B-III, C-IV, D-I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sp>
        <p:nvSpPr>
          <p:cNvPr id="19" name="Google Shape;130;p29">
            <a:extLst>
              <a:ext uri="{FF2B5EF4-FFF2-40B4-BE49-F238E27FC236}">
                <a16:creationId xmlns:a16="http://schemas.microsoft.com/office/drawing/2014/main" id="{14CC97B5-99F4-9A71-2E1A-0ED3B3F0A5F1}"/>
              </a:ext>
            </a:extLst>
          </p:cNvPr>
          <p:cNvSpPr txBox="1"/>
          <p:nvPr/>
        </p:nvSpPr>
        <p:spPr>
          <a:xfrm>
            <a:off x="3107605" y="17923645"/>
            <a:ext cx="32744401" cy="159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l" marL="0" indent="0">
              <a:buSzPts val="8400"/>
            </a:pPr>
            <a:r>
              <a:rPr lang="en-IN" sz="6000" b="1" dirty="0">
                <a:solidFill>
                  <a:schemeClr val="lt1"/>
                </a:solidFill>
                <a:latin typeface="Cambria"/>
                <a:ea typeface="Cambria"/>
                <a:sym typeface="Cambria"/>
              </a:rPr>
              <a:t>A-IV, B-II, C-I, D-III</a:t>
            </a:r>
            <a:endParaRPr sz="6000" b="1" dirty="0">
              <a:solidFill>
                <a:schemeClr val="lt1"/>
              </a:solidFill>
              <a:latin typeface="Cambria"/>
              <a:ea typeface="Cambria"/>
            </a:endParaRPr>
          </a:p>
        </p:txBody>
      </p:sp>
      <p:graphicFrame>
        <p:nvGraphicFramePr>
          <p:cNvPr id="20" name="ContentTable"/>
          <p:cNvGraphicFramePr>
            <a:graphicFrameLocks noGrp="1"/>
          </p:cNvGraphicFramePr>
          <p:nvPr/>
        </p:nvGraphicFramePr>
        <p:xfrm>
          <a:off x="1104806" y="5477029"/>
          <a:ext cx="34747200" cy="4576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0"/>
                <a:gridCol w="17373600"/>
              </a:tblGrid>
              <a:tr h="915219"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rtl="0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IN" sz="4000" b="1" i="0" u="none" strike="noStrike" cap="none" dirty="0">
                          <a:solidFill>
                            <a:schemeClr val="tx1"/>
                          </a:solidFill>
                          <a:latin typeface="Cambria"/>
                          <a:ea typeface="Cambria"/>
                          <a:sym typeface="Arial"/>
                        </a:rPr>
                        <a:t>List-II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A. Angular momentum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B. Torque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C. Stress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III.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5218"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D. Pressure gradient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marL="0" marR="0" lvl="0" indent="0" defTabSz="914400" rtl="0" eaLnBrk="1" fontAlgn="auto" latinLnBrk="0" hangingPunct="1">
                        <a:lnSpc>
                          <a:spcPct val="11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IN" sz="4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"/>
                          <a:ea typeface="Cambria"/>
                          <a:cs typeface="+mn-cs"/>
                          <a:sym typeface="Arial"/>
                        </a:rPr>
                        <a:t>IV. </a:t>
                      </a:r>
                      <mc:AlternateContent xmlns:mc="http://schemas.openxmlformats.org/markup-compatibility/2006">
                        <mc:Choice xmlns:a14="http://schemas.microsoft.com/office/drawing/2010/main" Requires="a14">
                          <a14:m xmlns:m="http://schemas.openxmlformats.org/officeDocument/2006/math">
                            <m:oMath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[M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L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-1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 </m:t>
                              </m:r>
                              <m:sSup>
                                <m:sSupPr/>
                                <m:e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T</m:t>
                                  </m:r>
                                </m:e>
                                <m:sup>
                                  <m:r>
                                    <a:rPr kumimoji="0" lang="en-IN" sz="4000" b="0" i="0" u="none" strike="noStrike" kern="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/>
                                      <a:ea typeface="Cambria Math"/>
                                      <a:cs typeface="Cambria Math"/>
                                      <a:sym typeface="Cambria Math"/>
                                    </a:rPr>
                                    <m:t xml:space="preserve">-2</m:t>
                                  </m:r>
                                </m:sup>
                              </m:sSup>
                              <m:r>
                                <a:rPr kumimoji="0" lang="en-IN" sz="4000" b="0" i="0" u="none" strike="noStrike" kern="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 Math"/>
                                  <a:cs typeface="Cambria Math"/>
                                  <a:sym typeface="Cambria Math"/>
                                </a:rPr>
                                <m:t xml:space="preserve">] </m:t>
                              </m:r>
                            </m:oMath>
                          </a14:m>
                        </mc:Choice>
                        <mc:Fallback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[ML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-1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 T</a:t>
                          </a:r>
                          <a:r>
                            <a:rPr kumimoji="0" lang="en-IN" sz="2880" b="0" i="0" u="none" strike="noStrike" kern="0" cap="none" spc="0" normalizeH="0" baseline="52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-2</a:t>
                          </a:r>
                          <a:r>
                            <a:rPr kumimoji="0" lang="en-IN" sz="4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"/>
                              <a:ea typeface="Cambria"/>
                              <a:cs typeface="+mn-cs"/>
                              <a:sym typeface="Arial"/>
                            </a:rPr>
                            <a:t>] </a:t>
                          </a:r>
                        </mc:Fallback>
                      </mc:AlternateContent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364</Words>
  <Application>Microsoft Office PowerPoint</Application>
  <PresentationFormat>Custom</PresentationFormat>
  <Paragraphs>125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Cambria</vt:lpstr>
      <vt:lpstr>Calibri</vt:lpstr>
      <vt:lpstr>Arial</vt:lpstr>
      <vt:lpstr>Wingdings</vt:lpstr>
      <vt:lpstr>Poppins</vt:lpstr>
      <vt:lpstr>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PW MSO 530</dc:creator>
  <cp:lastModifiedBy>e.wilson4890@gmail.com</cp:lastModifiedBy>
  <cp:revision>5</cp:revision>
  <dcterms:created xsi:type="dcterms:W3CDTF">2025-02-10T10:24:55Z</dcterms:created>
  <dcterms:modified xsi:type="dcterms:W3CDTF">2026-07-31T10:45:07Z</dcterms:modified>
</cp:coreProperties>
</file>