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9"/>
  </p:notesMasterIdLst>
  <p:sldIdLst>
    <p:sldId id="264" r:id="rId32"/>
    <p:sldId id="265" r:id="rId33"/>
    <p:sldId id="266" r:id="rId34"/>
    <p:sldId id="267" r:id="rId35"/>
    <p:sldId id="268" r:id="rId36"/>
    <p:sldId id="269" r:id="rId37"/>
    <p:sldId id="270" r:id="rId38"/>
    <p:sldId id="271" r:id="rId39"/>
    <p:sldId id="272" r:id="rId40"/>
    <p:sldId id="273" r:id="rId41"/>
    <p:sldId id="274" r:id="rId42"/>
    <p:sldId id="275" r:id="rId43"/>
    <p:sldId id="276" r:id="rId44"/>
    <p:sldId id="277" r:id="rId45"/>
    <p:sldId id="278" r:id="rId46"/>
    <p:sldId id="279" r:id="rId47"/>
    <p:sldId id="280" r:id="rId48"/>
    <p:sldId id="281" r:id="rId49"/>
    <p:sldId id="282" r:id="rId50"/>
    <p:sldId id="283" r:id="rId51"/>
    <p:sldId id="284" r:id="rId52"/>
    <p:sldId id="285" r:id="rId53"/>
    <p:sldId id="286" r:id="rId54"/>
    <p:sldId id="287" r:id="rId55"/>
  </p:sldIdLst>
  <p:sldSz cx="36576000" cy="20574000"/>
  <p:notesSz cx="6858000" cy="9144000"/>
  <p:embeddedFontLst>
    <p:embeddedFont>
      <p:font typeface="Cambria" panose="02040503050406030204" pitchFamily="18" charset="0"/>
      <p:regular r:id="rId10"/>
      <p:bold r:id="rId11"/>
      <p:italic r:id="rId12"/>
      <p:boldItalic r:id="rId13"/>
    </p:embeddedFont>
    <p:embeddedFont>
      <p:font typeface="Play" panose="020B0604020202020204" charset="0"/>
      <p:regular r:id="rId14"/>
      <p:bold r:id="rId15"/>
    </p:embeddedFont>
    <p:embeddedFont>
      <p:font typeface="Poppins" panose="00000500000000000000" pitchFamily="2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2264">
          <p15:clr>
            <a:srgbClr val="A4A3A4"/>
          </p15:clr>
        </p15:guide>
        <p15:guide id="2" pos="552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7" roundtripDataSignature="AMtx7mhTXF3oIDNHmtEeAXsM8Of30ZXpM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29" d="100"/>
          <a:sy n="29" d="100"/>
        </p:scale>
        <p:origin x="490" y="101"/>
      </p:cViewPr>
      <p:guideLst>
        <p:guide orient="horz" pos="12264"/>
        <p:guide pos="55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0" Type="http://schemas.openxmlformats.org/officeDocument/2006/relationships/font" Target="fonts/font1.fntdata"/><Relationship Id="rId11" Type="http://schemas.openxmlformats.org/officeDocument/2006/relationships/font" Target="fonts/font2.fntdata"/><Relationship Id="rId12" Type="http://schemas.openxmlformats.org/officeDocument/2006/relationships/font" Target="fonts/font3.fntdata"/><Relationship Id="rId13" Type="http://schemas.openxmlformats.org/officeDocument/2006/relationships/font" Target="fonts/font4.fntdata"/><Relationship Id="rId14" Type="http://schemas.openxmlformats.org/officeDocument/2006/relationships/font" Target="fonts/font5.fntdata"/><Relationship Id="rId15" Type="http://schemas.openxmlformats.org/officeDocument/2006/relationships/font" Target="fonts/font6.fntdata"/><Relationship Id="rId16" Type="http://schemas.openxmlformats.org/officeDocument/2006/relationships/font" Target="fonts/font7.fntdata"/><Relationship Id="rId17" Type="http://schemas.openxmlformats.org/officeDocument/2006/relationships/font" Target="fonts/font8.fntdata"/><Relationship Id="rId18" Type="http://schemas.openxmlformats.org/officeDocument/2006/relationships/font" Target="fonts/font9.fntdata"/><Relationship Id="rId19" Type="http://schemas.openxmlformats.org/officeDocument/2006/relationships/font" Target="fonts/font10.fntdata"/><Relationship Id="rId27" Type="http://customschemas.google.com/relationships/presentationmetadata" Target="metadata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32" Type="http://schemas.openxmlformats.org/officeDocument/2006/relationships/slide" Target="slides/slide1.xml"/><Relationship Id="rId33" Type="http://schemas.openxmlformats.org/officeDocument/2006/relationships/slide" Target="slides/slide2.xml"/><Relationship Id="rId34" Type="http://schemas.openxmlformats.org/officeDocument/2006/relationships/slide" Target="slides/slide3.xml"/><Relationship Id="rId35" Type="http://schemas.openxmlformats.org/officeDocument/2006/relationships/slide" Target="slides/slide4.xml"/><Relationship Id="rId36" Type="http://schemas.openxmlformats.org/officeDocument/2006/relationships/slide" Target="slides/slide5.xml"/><Relationship Id="rId37" Type="http://schemas.openxmlformats.org/officeDocument/2006/relationships/slide" Target="slides/slide6.xml"/><Relationship Id="rId38" Type="http://schemas.openxmlformats.org/officeDocument/2006/relationships/slide" Target="slides/slide7.xml"/><Relationship Id="rId39" Type="http://schemas.openxmlformats.org/officeDocument/2006/relationships/slide" Target="slides/slide8.xml"/><Relationship Id="rId40" Type="http://schemas.openxmlformats.org/officeDocument/2006/relationships/slide" Target="slides/slide9.xml"/><Relationship Id="rId41" Type="http://schemas.openxmlformats.org/officeDocument/2006/relationships/slide" Target="slides/slide10.xml"/><Relationship Id="rId42" Type="http://schemas.openxmlformats.org/officeDocument/2006/relationships/slide" Target="slides/slide11.xml"/><Relationship Id="rId43" Type="http://schemas.openxmlformats.org/officeDocument/2006/relationships/slide" Target="slides/slide12.xml"/><Relationship Id="rId44" Type="http://schemas.openxmlformats.org/officeDocument/2006/relationships/slide" Target="slides/slide13.xml"/><Relationship Id="rId45" Type="http://schemas.openxmlformats.org/officeDocument/2006/relationships/slide" Target="slides/slide14.xml"/><Relationship Id="rId46" Type="http://schemas.openxmlformats.org/officeDocument/2006/relationships/slide" Target="slides/slide15.xml"/><Relationship Id="rId47" Type="http://schemas.openxmlformats.org/officeDocument/2006/relationships/slide" Target="slides/slide16.xml"/><Relationship Id="rId48" Type="http://schemas.openxmlformats.org/officeDocument/2006/relationships/slide" Target="slides/slide17.xml"/><Relationship Id="rId49" Type="http://schemas.openxmlformats.org/officeDocument/2006/relationships/slide" Target="slides/slide18.xml"/><Relationship Id="rId50" Type="http://schemas.openxmlformats.org/officeDocument/2006/relationships/slide" Target="slides/slide19.xml"/><Relationship Id="rId51" Type="http://schemas.openxmlformats.org/officeDocument/2006/relationships/slide" Target="slides/slide20.xml"/><Relationship Id="rId52" Type="http://schemas.openxmlformats.org/officeDocument/2006/relationships/slide" Target="slides/slide21.xml"/><Relationship Id="rId53" Type="http://schemas.openxmlformats.org/officeDocument/2006/relationships/slide" Target="slides/slide22.xml"/><Relationship Id="rId54" Type="http://schemas.openxmlformats.org/officeDocument/2006/relationships/slide" Target="slides/slide23.xml"/><Relationship Id="rId55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7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7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7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8"/>
          <p:cNvSpPr txBox="1">
            <a:spLocks noGrp="1"/>
          </p:cNvSpPr>
          <p:nvPr>
            <p:ph type="ctrTitle"/>
          </p:nvPr>
        </p:nvSpPr>
        <p:spPr>
          <a:xfrm>
            <a:off x="4572000" y="3367089"/>
            <a:ext cx="27432000" cy="71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0"/>
              <a:buFont typeface="Play"/>
              <a:buNone/>
              <a:defRPr sz="18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8"/>
          <p:cNvSpPr txBox="1">
            <a:spLocks noGrp="1"/>
          </p:cNvSpPr>
          <p:nvPr>
            <p:ph type="subTitle" idx="1"/>
          </p:nvPr>
        </p:nvSpPr>
        <p:spPr>
          <a:xfrm>
            <a:off x="4572000" y="10806114"/>
            <a:ext cx="27432000" cy="4967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/>
            </a:lvl1pPr>
            <a:lvl2pPr lvl="1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/>
            </a:lvl2pPr>
            <a:lvl3pPr lvl="2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/>
            </a:lvl3pPr>
            <a:lvl4pPr lvl="3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4pPr>
            <a:lvl5pPr lvl="4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5pPr>
            <a:lvl6pPr lvl="5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6pPr>
            <a:lvl7pPr lvl="6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7pPr>
            <a:lvl8pPr lvl="7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8pPr>
            <a:lvl9pPr lvl="8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25" name="Google Shape;25;p18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8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8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9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9"/>
          <p:cNvSpPr txBox="1">
            <a:spLocks noGrp="1"/>
          </p:cNvSpPr>
          <p:nvPr>
            <p:ph type="body" idx="1"/>
          </p:nvPr>
        </p:nvSpPr>
        <p:spPr>
          <a:xfrm>
            <a:off x="2514600" y="5476875"/>
            <a:ext cx="31546800" cy="13054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19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9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9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0"/>
          <p:cNvSpPr txBox="1">
            <a:spLocks noGrp="1"/>
          </p:cNvSpPr>
          <p:nvPr>
            <p:ph type="title"/>
          </p:nvPr>
        </p:nvSpPr>
        <p:spPr>
          <a:xfrm>
            <a:off x="2495550" y="5129216"/>
            <a:ext cx="31546800" cy="85582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0"/>
              <a:buFont typeface="Play"/>
              <a:buNone/>
              <a:defRPr sz="18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0"/>
          <p:cNvSpPr txBox="1">
            <a:spLocks noGrp="1"/>
          </p:cNvSpPr>
          <p:nvPr>
            <p:ph type="body" idx="1"/>
          </p:nvPr>
        </p:nvSpPr>
        <p:spPr>
          <a:xfrm>
            <a:off x="2495550" y="13768391"/>
            <a:ext cx="31546800" cy="4500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rgbClr val="757575"/>
              </a:buClr>
              <a:buSzPts val="7200"/>
              <a:buNone/>
              <a:defRPr sz="72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6000"/>
              <a:buNone/>
              <a:defRPr sz="6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5400"/>
              <a:buNone/>
              <a:defRPr sz="54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7" name="Google Shape;37;p20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0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0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1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1"/>
          <p:cNvSpPr txBox="1">
            <a:spLocks noGrp="1"/>
          </p:cNvSpPr>
          <p:nvPr>
            <p:ph type="body" idx="1"/>
          </p:nvPr>
        </p:nvSpPr>
        <p:spPr>
          <a:xfrm>
            <a:off x="2514600" y="5476875"/>
            <a:ext cx="15544800" cy="13054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21"/>
          <p:cNvSpPr txBox="1">
            <a:spLocks noGrp="1"/>
          </p:cNvSpPr>
          <p:nvPr>
            <p:ph type="body" idx="2"/>
          </p:nvPr>
        </p:nvSpPr>
        <p:spPr>
          <a:xfrm>
            <a:off x="18516600" y="5476875"/>
            <a:ext cx="15544800" cy="13054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21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21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1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2"/>
          <p:cNvSpPr txBox="1">
            <a:spLocks noGrp="1"/>
          </p:cNvSpPr>
          <p:nvPr>
            <p:ph type="title"/>
          </p:nvPr>
        </p:nvSpPr>
        <p:spPr>
          <a:xfrm>
            <a:off x="2519364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2"/>
          <p:cNvSpPr txBox="1">
            <a:spLocks noGrp="1"/>
          </p:cNvSpPr>
          <p:nvPr>
            <p:ph type="body" idx="1"/>
          </p:nvPr>
        </p:nvSpPr>
        <p:spPr>
          <a:xfrm>
            <a:off x="2519366" y="5043489"/>
            <a:ext cx="15473361" cy="2471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 b="1"/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 b="1"/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 b="1"/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9pPr>
          </a:lstStyle>
          <a:p>
            <a:endParaRPr/>
          </a:p>
        </p:txBody>
      </p:sp>
      <p:sp>
        <p:nvSpPr>
          <p:cNvPr id="50" name="Google Shape;50;p22"/>
          <p:cNvSpPr txBox="1">
            <a:spLocks noGrp="1"/>
          </p:cNvSpPr>
          <p:nvPr>
            <p:ph type="body" idx="2"/>
          </p:nvPr>
        </p:nvSpPr>
        <p:spPr>
          <a:xfrm>
            <a:off x="2519366" y="7515225"/>
            <a:ext cx="15473361" cy="11053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22"/>
          <p:cNvSpPr txBox="1">
            <a:spLocks noGrp="1"/>
          </p:cNvSpPr>
          <p:nvPr>
            <p:ph type="body" idx="3"/>
          </p:nvPr>
        </p:nvSpPr>
        <p:spPr>
          <a:xfrm>
            <a:off x="18516600" y="5043489"/>
            <a:ext cx="15549564" cy="2471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 b="1"/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 b="1"/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 b="1"/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9pPr>
          </a:lstStyle>
          <a:p>
            <a:endParaRPr/>
          </a:p>
        </p:txBody>
      </p:sp>
      <p:sp>
        <p:nvSpPr>
          <p:cNvPr id="52" name="Google Shape;52;p22"/>
          <p:cNvSpPr txBox="1">
            <a:spLocks noGrp="1"/>
          </p:cNvSpPr>
          <p:nvPr>
            <p:ph type="body" idx="4"/>
          </p:nvPr>
        </p:nvSpPr>
        <p:spPr>
          <a:xfrm>
            <a:off x="18516600" y="7515225"/>
            <a:ext cx="15549564" cy="11053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22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2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2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3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3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3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3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>
            <a:spLocks noGrp="1"/>
          </p:cNvSpPr>
          <p:nvPr>
            <p:ph type="title"/>
          </p:nvPr>
        </p:nvSpPr>
        <p:spPr>
          <a:xfrm>
            <a:off x="2519366" y="1371600"/>
            <a:ext cx="11796711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lay"/>
              <a:buNone/>
              <a:defRPr sz="9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4"/>
          <p:cNvSpPr txBox="1">
            <a:spLocks noGrp="1"/>
          </p:cNvSpPr>
          <p:nvPr>
            <p:ph type="body" idx="1"/>
          </p:nvPr>
        </p:nvSpPr>
        <p:spPr>
          <a:xfrm>
            <a:off x="15549564" y="2962277"/>
            <a:ext cx="18516600" cy="14620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8382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/>
            </a:lvl1pPr>
            <a:lvl2pPr marL="914400" lvl="1" indent="-7620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8400"/>
              <a:buChar char="•"/>
              <a:defRPr sz="8400"/>
            </a:lvl2pPr>
            <a:lvl3pPr marL="1371600" lvl="2" indent="-6858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7200"/>
              <a:buChar char="•"/>
              <a:defRPr sz="7200"/>
            </a:lvl3pPr>
            <a:lvl4pPr marL="1828800" lvl="3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4pPr>
            <a:lvl5pPr marL="2286000" lvl="4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5pPr>
            <a:lvl6pPr marL="2743200" lvl="5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6pPr>
            <a:lvl7pPr marL="3200400" lvl="6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7pPr>
            <a:lvl8pPr marL="3657600" lvl="7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8pPr>
            <a:lvl9pPr marL="4114800" lvl="8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9pPr>
          </a:lstStyle>
          <a:p>
            <a:endParaRPr/>
          </a:p>
        </p:txBody>
      </p:sp>
      <p:sp>
        <p:nvSpPr>
          <p:cNvPr id="64" name="Google Shape;64;p24"/>
          <p:cNvSpPr txBox="1">
            <a:spLocks noGrp="1"/>
          </p:cNvSpPr>
          <p:nvPr>
            <p:ph type="body" idx="2"/>
          </p:nvPr>
        </p:nvSpPr>
        <p:spPr>
          <a:xfrm>
            <a:off x="2519366" y="6172200"/>
            <a:ext cx="11796711" cy="11434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/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65" name="Google Shape;65;p24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4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4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>
            <a:spLocks noGrp="1"/>
          </p:cNvSpPr>
          <p:nvPr>
            <p:ph type="title"/>
          </p:nvPr>
        </p:nvSpPr>
        <p:spPr>
          <a:xfrm>
            <a:off x="2519366" y="1371600"/>
            <a:ext cx="11796711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lay"/>
              <a:buNone/>
              <a:defRPr sz="9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5"/>
          <p:cNvSpPr>
            <a:spLocks noGrp="1"/>
          </p:cNvSpPr>
          <p:nvPr>
            <p:ph type="pic" idx="2"/>
          </p:nvPr>
        </p:nvSpPr>
        <p:spPr>
          <a:xfrm>
            <a:off x="15549564" y="2962277"/>
            <a:ext cx="18516600" cy="14620875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25"/>
          <p:cNvSpPr txBox="1">
            <a:spLocks noGrp="1"/>
          </p:cNvSpPr>
          <p:nvPr>
            <p:ph type="body" idx="1"/>
          </p:nvPr>
        </p:nvSpPr>
        <p:spPr>
          <a:xfrm>
            <a:off x="2519366" y="6172200"/>
            <a:ext cx="11796711" cy="11434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/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72" name="Google Shape;72;p25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5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5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6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6"/>
          <p:cNvSpPr txBox="1">
            <a:spLocks noGrp="1"/>
          </p:cNvSpPr>
          <p:nvPr>
            <p:ph type="body" idx="1"/>
          </p:nvPr>
        </p:nvSpPr>
        <p:spPr>
          <a:xfrm rot="5400000">
            <a:off x="11760993" y="-3769518"/>
            <a:ext cx="13054014" cy="315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26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6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6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7"/>
          <p:cNvSpPr txBox="1">
            <a:spLocks noGrp="1"/>
          </p:cNvSpPr>
          <p:nvPr>
            <p:ph type="title"/>
          </p:nvPr>
        </p:nvSpPr>
        <p:spPr>
          <a:xfrm rot="5400000">
            <a:off x="21400293" y="5869782"/>
            <a:ext cx="1743551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7"/>
          <p:cNvSpPr txBox="1">
            <a:spLocks noGrp="1"/>
          </p:cNvSpPr>
          <p:nvPr>
            <p:ph type="body" idx="1"/>
          </p:nvPr>
        </p:nvSpPr>
        <p:spPr>
          <a:xfrm rot="5400000">
            <a:off x="5398293" y="-1788318"/>
            <a:ext cx="17435514" cy="232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27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7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7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200"/>
              <a:buFont typeface="Play"/>
              <a:buNone/>
              <a:defRPr sz="13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6"/>
          <p:cNvSpPr txBox="1">
            <a:spLocks noGrp="1"/>
          </p:cNvSpPr>
          <p:nvPr>
            <p:ph type="body" idx="1"/>
          </p:nvPr>
        </p:nvSpPr>
        <p:spPr>
          <a:xfrm>
            <a:off x="2514600" y="5476875"/>
            <a:ext cx="31546800" cy="13054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762000" algn="l" rtl="0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8400"/>
              <a:buFont typeface="Arial"/>
              <a:buChar char="•"/>
              <a:defRPr sz="8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6858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609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Char char="•"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6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6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6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grpSp>
        <p:nvGrpSpPr>
          <p:cNvPr id="15" name="Google Shape;15;p16"/>
          <p:cNvGrpSpPr/>
          <p:nvPr/>
        </p:nvGrpSpPr>
        <p:grpSpPr>
          <a:xfrm>
            <a:off x="33712347" y="-2"/>
            <a:ext cx="2057358" cy="2669535"/>
            <a:chOff x="11306724" y="96065"/>
            <a:chExt cx="685786" cy="889845"/>
          </a:xfrm>
        </p:grpSpPr>
        <p:sp>
          <p:nvSpPr>
            <p:cNvPr id="16" name="Google Shape;16;p16"/>
            <p:cNvSpPr/>
            <p:nvPr/>
          </p:nvSpPr>
          <p:spPr>
            <a:xfrm rot="10800000" flipH="1">
              <a:off x="11306724" y="96065"/>
              <a:ext cx="685786" cy="889845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lt1"/>
            </a:solidFill>
            <a:ln>
              <a:noFill/>
            </a:ln>
            <a:effectLst>
              <a:outerShdw blurRad="50800" dist="38100" dir="5400000" algn="t" rotWithShape="0">
                <a:srgbClr val="000000">
                  <a:alpha val="6941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200"/>
                <a:buFont typeface="Arial"/>
                <a:buNone/>
              </a:pPr>
              <a:endParaRPr sz="16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7" name="Google Shape;17;p16"/>
            <p:cNvPicPr preferRelativeResize="0"/>
            <p:nvPr/>
          </p:nvPicPr>
          <p:blipFill rotWithShape="1">
            <a:blip r:embed="rId14">
              <a:alphaModFix/>
            </a:blip>
            <a:srcRect l="8081" t="7836" r="10621" b="9836"/>
            <a:stretch/>
          </p:blipFill>
          <p:spPr>
            <a:xfrm>
              <a:off x="11373763" y="365125"/>
              <a:ext cx="551707" cy="546550"/>
            </a:xfrm>
            <a:prstGeom prst="ellipse">
              <a:avLst/>
            </a:prstGeom>
            <a:noFill/>
            <a:ln>
              <a:noFill/>
            </a:ln>
          </p:spPr>
        </p:pic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4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4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4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4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4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4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DEBAFB25-DD5B-F566-A866-26C1351F6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>
            <a:extLst>
              <a:ext uri="{FF2B5EF4-FFF2-40B4-BE49-F238E27FC236}">
                <a16:creationId xmlns:a16="http://schemas.microsoft.com/office/drawing/2014/main" id="{85CA81A3-3D37-1665-DB9A-D7056E0817FB}"/>
              </a:ext>
            </a:extLst>
          </p:cNvPr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Let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A = </m:t>
                    </m:r>
                    <m:d>
                      <m:dPr>
                        <m:begChr m:val="("/>
                        <m:endChr m:val=")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3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3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5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6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4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</m:mr>
                        </m:m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A = (1, 2, 3; 2, 3, 5; 6, 4, 1)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. Find the following cofactors of A.</a:t>
            </a:r>
          </a:p>
          <a:p>
            <a:pPr algn="l" marL="0" lvl="0" indent="0">
              <a:buSzPts val="8400"/>
              <a:buFont typeface="Arial"/>
              <a:buNone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11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	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12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</a:p>
          <a:p>
            <a:pPr algn="l" marL="0" lvl="0" indent="0">
              <a:buSzPts val="8400"/>
              <a:buFont typeface="Arial"/>
              <a:buNone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13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	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21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</a:p>
          <a:p>
            <a:pPr algn="l" marL="0" lvl="0" indent="0">
              <a:buSzPts val="8400"/>
              <a:buFont typeface="Arial"/>
              <a:buNone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22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	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32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</a:p>
        </p:txBody>
      </p:sp>
      <p:sp>
        <p:nvSpPr>
          <p:cNvPr id="3" name="Google Shape;131;p29">
            <a:extLst>
              <a:ext uri="{FF2B5EF4-FFF2-40B4-BE49-F238E27FC236}">
                <a16:creationId xmlns:a16="http://schemas.microsoft.com/office/drawing/2014/main" id="{9946FC45-E036-803C-1844-E619C8A31E32}"/>
              </a:ext>
            </a:extLst>
          </p:cNvPr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" name="Google Shape;132;p29">
            <a:extLst>
              <a:ext uri="{FF2B5EF4-FFF2-40B4-BE49-F238E27FC236}">
                <a16:creationId xmlns:a16="http://schemas.microsoft.com/office/drawing/2014/main" id="{B860A868-BB48-C17E-EDC8-5065AECEE0FB}"/>
              </a:ext>
            </a:extLst>
          </p:cNvPr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1506325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The value of the determinant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a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b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0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0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a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b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b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0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a </m:t>
                              </m:r>
                            </m:e>
                          </m:mr>
                        </m:m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|a, b, 0; 0, a, b; b, 0, a|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is equal to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-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b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a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- b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b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a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b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0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None of these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DEBAFB25-DD5B-F566-A866-26C1351F6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31;p29">
            <a:extLst>
              <a:ext uri="{FF2B5EF4-FFF2-40B4-BE49-F238E27FC236}">
                <a16:creationId xmlns:a16="http://schemas.microsoft.com/office/drawing/2014/main" id="{9946FC45-E036-803C-1844-E619C8A31E32}"/>
              </a:ext>
            </a:extLst>
          </p:cNvPr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" name="Google Shape;132;p29">
            <a:extLst>
              <a:ext uri="{FF2B5EF4-FFF2-40B4-BE49-F238E27FC236}">
                <a16:creationId xmlns:a16="http://schemas.microsoft.com/office/drawing/2014/main" id="{B860A868-BB48-C17E-EDC8-5065AECEE0FB}"/>
              </a:ext>
            </a:extLst>
          </p:cNvPr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2" name="Google Shape;129;p29">
            <a:extLst>
              <a:ext uri="{FF2B5EF4-FFF2-40B4-BE49-F238E27FC236}">
                <a16:creationId xmlns:a16="http://schemas.microsoft.com/office/drawing/2014/main" id="{85CA81A3-3D37-1665-DB9A-D7056E0817FB}"/>
              </a:ext>
            </a:extLst>
          </p:cNvPr>
          <p:cNvSpPr txBox="1"/>
          <p:nvPr/>
        </p:nvSpPr>
        <p:spPr>
          <a:xfrm>
            <a:off x="1104806" y="2396709"/>
            <a:ext cx="34747200" cy="1234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 rtlCol="0">
            <a:norm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Find the value of 'k', if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0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3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3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k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</m:mr>
                        </m:m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4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|1, 2, 0; 2, 3, 1; 3, k, 2| = 4 </a:t>
                </a:r>
              </mc:Fallback>
            </mc:AlternateContent>
          </a:p>
        </p:txBody>
      </p:sp>
    </p:spTree>
    <p:extLst>
      <p:ext uri="{BB962C8B-B14F-4D97-AF65-F5344CB8AC3E}">
        <p14:creationId xmlns:p14="http://schemas.microsoft.com/office/powerpoint/2010/main" val="31506325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DEBAFB25-DD5B-F566-A866-26C1351F6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>
            <a:extLst>
              <a:ext uri="{FF2B5EF4-FFF2-40B4-BE49-F238E27FC236}">
                <a16:creationId xmlns:a16="http://schemas.microsoft.com/office/drawing/2014/main" id="{85CA81A3-3D37-1665-DB9A-D7056E0817FB}"/>
              </a:ext>
            </a:extLst>
          </p:cNvPr>
          <p:cNvSpPr txBox="1"/>
          <p:nvPr/>
        </p:nvSpPr>
        <p:spPr>
          <a:xfrm>
            <a:off x="1104806" y="2396709"/>
            <a:ext cx="3474720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z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-y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x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-x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</m:mr>
                        </m:m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1 +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x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y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z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|z, -y; 1, x; -x, 1| = 1 + x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y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z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</a:p>
        </p:txBody>
      </p:sp>
      <p:sp>
        <p:nvSpPr>
          <p:cNvPr id="3" name="Google Shape;131;p29">
            <a:extLst>
              <a:ext uri="{FF2B5EF4-FFF2-40B4-BE49-F238E27FC236}">
                <a16:creationId xmlns:a16="http://schemas.microsoft.com/office/drawing/2014/main" id="{9946FC45-E036-803C-1844-E619C8A31E32}"/>
              </a:ext>
            </a:extLst>
          </p:cNvPr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" name="Google Shape;132;p29">
            <a:extLst>
              <a:ext uri="{FF2B5EF4-FFF2-40B4-BE49-F238E27FC236}">
                <a16:creationId xmlns:a16="http://schemas.microsoft.com/office/drawing/2014/main" id="{B860A868-BB48-C17E-EDC8-5065AECEE0FB}"/>
              </a:ext>
            </a:extLst>
          </p:cNvPr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1506325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(I) If we interchange rows and columns, then value of determinant remains unchanged.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5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?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?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?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3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8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11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?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?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?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0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8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?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?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?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|1, 2, 5; ?, ?, ?; 3, 8, 11| = |?, ?, ?; 2, 0, 8; ?, ?, ?| </a:t>
                </a:r>
              </mc:Fallback>
            </mc:AlternateContent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Important Properties of Determinants</a:t>
            </a:r>
          </a:p>
        </p:txBody>
      </p:sp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(II) If all entries of a row or column are 0 then value of determinant will be zero.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(III) If we multiply a determinant with a number k, then it can be taken inside a row or column.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k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k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k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k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k|a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= |ka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kb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kc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</a:t>
                </a:r>
              </mc:Fallback>
            </mc:AlternateContent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Important Properties of Determinants (Continued)</a:t>
            </a:r>
          </a:p>
        </p:txBody>
      </p:sp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(IV) If all entries of a row/column are sum of two numbers than determinant can be broken into two determinants (while all remaining rows must remain same in two obtained determinants).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+x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+y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+z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x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y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z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+x,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+y,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+z,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= |a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+ |x,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y,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z,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</a:t>
                </a:r>
              </mc:Fallback>
            </mc:AlternateContent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Important Properties of Determinants (Continued)</a:t>
            </a:r>
          </a:p>
        </p:txBody>
      </p:sp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(V) If two rows or column are identical or one is multiple of other than value of determinant will be zero.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3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-4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7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4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8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12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0   </m:t>
                    </m:r>
                    <m:r>
                      <m:rPr>
                        <m:sty m:val="p"/>
                      </m:rP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as </m:t>
                    </m:r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R</m:t>
                        </m:r>
                      </m:e>
                      <m:sub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b>
                    </m:sSub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4</m:t>
                    </m:r>
                    <m:sSub>
                      <m:sSubPr/>
                      <m:e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R</m:t>
                        </m:r>
                      </m:e>
                      <m:sub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b>
                    </m:sSub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|1, 2, 3; -4, 7, 1; 4, 8, 12| = 0   as  R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4R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(VI) If we interchange any two rows than value of new determinant is (−ve) of value of old determinant.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-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= -|a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</a:t>
                </a:r>
              </mc:Fallback>
            </mc:AlternateContent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Important Properties of Determinants (Continued)</a:t>
            </a:r>
          </a:p>
        </p:txBody>
      </p:sp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(II) If all entries of a row or column are 0 then value of determinant will be zero.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(III) If we multiply a determinant with a number k then it can be taken inside a row or column.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k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k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k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k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k|a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= |ka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kb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kc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</a:t>
                </a:r>
              </mc:Fallback>
            </mc:AlternateContent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Properties of Determinants (Property II &amp; III)</a:t>
            </a:r>
          </a:p>
        </p:txBody>
      </p:sp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If all entries of a row/column are sum of two numbers then determinant can be broken into two determinants (while all remaining rows must remain same in two obtained determinants).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+z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+z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z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+z,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+z,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= |a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+ |z,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</a:t>
                </a:r>
              </mc:Fallback>
            </mc:AlternateContent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Property IV — Sum Splitting of Rows/Columns</a:t>
            </a:r>
          </a:p>
        </p:txBody>
      </p:sp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If two rows or column are identical or one is multiple of other than value of determinant will be zero.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3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4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8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12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0   </m:t>
                    </m:r>
                    <m:r>
                      <m:rPr>
                        <m:sty m:val="p"/>
                      </m:rP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as </m:t>
                    </m:r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R</m:t>
                        </m:r>
                      </m:e>
                      <m:sub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b>
                    </m:sSub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4</m:t>
                    </m:r>
                    <m:sSub>
                      <m:sSubPr/>
                      <m:e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R</m:t>
                        </m:r>
                      </m:e>
                      <m:sub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b>
                    </m:sSub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|1, 2, 3; 4, 8, 12| = 0   as  R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4R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Property V — Identical or Proportional Rows/Columns</a:t>
            </a:r>
          </a:p>
        </p:txBody>
      </p:sp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If we interchange any two rows than value of new determinant is negative of value of old determinant.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-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= -|a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b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</a:t>
                </a:r>
              </mc:Fallback>
            </mc:AlternateContent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Property VI — Interchanging Two Rows</a:t>
            </a:r>
          </a:p>
        </p:txBody>
      </p:sp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If a row is rolled over k rows then value of new determinant will be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(-1</m:t>
                    </m:r>
                    <m:sSup>
                      <m:sSupPr/>
                      <m:e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)</m:t>
                        </m:r>
                      </m:e>
                      <m:sup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k</m:t>
                        </m:r>
                      </m:sup>
                    </m:sSup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(-1)</a:t>
                </a:r>
                <a:r>
                  <a:rPr baseline="52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k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times the value of old determinant.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-1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4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3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5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7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0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0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-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-1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4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5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7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0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0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|2, -1, 4; 3, 2, 1, 5; 7, 1, 0, 0; 2, 1, 1, 1| = -|1, 2, -1, 4; 2, 2, 1, 5; 7, 1, 0, 0; 2, 1, 1, 1| </a:t>
                </a:r>
              </mc:Fallback>
            </mc:AlternateContent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Rolled over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R</m:t>
                        </m:r>
                      </m:e>
                      <m:sub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b>
                    </m:sSub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R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: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(-1</m:t>
                    </m:r>
                    <m:sSup>
                      <m:sSupPr/>
                      <m:e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)</m:t>
                        </m:r>
                      </m:e>
                      <m:sup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3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5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7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0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0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-4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(-1)</a:t>
                </a:r>
                <a:r>
                  <a:rPr baseline="52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|3, 2, 5; 7, 0, 0; 2, 1, 1; 1, 2, -4| </a:t>
                </a:r>
              </mc:Fallback>
            </mc:AlternateContent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Property VII — Rolling Over K Rows</a:t>
            </a:r>
          </a:p>
        </p:txBody>
      </p:sp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26AB51B5-2502-7150-23A4-376CD7B06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0;p29">
            <a:extLst>
              <a:ext uri="{FF2B5EF4-FFF2-40B4-BE49-F238E27FC236}">
                <a16:creationId xmlns:a16="http://schemas.microsoft.com/office/drawing/2014/main" id="{6E2F0282-8CC5-6C2A-5189-7BE17E2E9129}"/>
              </a:ext>
            </a:extLst>
          </p:cNvPr>
          <p:cNvSpPr txBox="1"/>
          <p:nvPr/>
        </p:nvSpPr>
        <p:spPr>
          <a:xfrm>
            <a:off x="914400" y="2448805"/>
            <a:ext cx="34747200" cy="1739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a:r>
              <a:rPr lang="en-IN" sz="5000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In a row we can add any multiple of any other row, the value of determinant will remain the same.</a:t>
            </a:r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R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R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R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R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+ 3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R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R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R</m:t>
                                  </m:r>
                                </m:e>
                                <m:sub>
                                  <m:r>
                                    <a:rPr lang="en-IN" sz="5000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5000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|R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R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R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= |R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+ 3R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R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R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</a:t>
                </a:r>
              </mc:Fallback>
            </mc:AlternateContent>
          </a:p>
          <a:p>
            <a:pPr algn="l" marL="1062038" indent="-1062038">
              <a:lnSpc>
                <a:spcPct val="150000"/>
              </a:lnSpc>
              <a:buClr>
                <a:schemeClr val="bg1"/>
              </a:buClr>
              <a:buSzPct val="80000"/>
              <a:buFont typeface="Wingdings" panose="05000000000000000000" pitchFamily="2" charset="2"/>
              <a:buChar char="Ø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R</m:t>
                        </m:r>
                      </m:e>
                      <m:sub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b>
                    </m:sSub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→ </m:t>
                    </m:r>
                    <m:sSub>
                      <m:sSubPr/>
                      <m:e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R</m:t>
                        </m:r>
                      </m:e>
                      <m:sub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b>
                    </m:sSub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+ 3</m:t>
                    </m:r>
                    <m:sSub>
                      <m:sSubPr/>
                      <m:e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R</m:t>
                        </m:r>
                      </m:e>
                      <m:sub>
                        <m:r>
                          <a:rPr lang="en-IN" sz="5000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b>
                    </m:sSub>
                    <m:r>
                      <a:rPr lang="en-IN" sz="5000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R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5000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→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R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+ 3R</a:t>
                </a:r>
                <a:r>
                  <a:rPr baseline="-25000" lang="en-IN" sz="36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5000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</a:p>
        </p:txBody>
      </p:sp>
      <p:sp>
        <p:nvSpPr>
          <p:cNvPr id="3" name="GeneratedHeading"/>
          <p:cNvSpPr txBox="1"/>
          <p:nvPr/>
        </p:nvSpPr>
        <p:spPr>
          <a:xfrm>
            <a:off x="914400" y="725406"/>
            <a:ext cx="32301280" cy="1323399"/>
          </a:xfrm>
          <a:prstGeom prst="rect">
            <a:avLst/>
          </a:prstGeom>
          <a:noFill/>
          <a:ln>
            <a:noFill/>
          </a:ln>
        </p:spPr>
        <p:txBody>
          <a:bodyPr wrap="square" lIns="182880" rIns="182880" tIns="0" bIns="0" anchor="ctr">
            <a:normAutofit/>
          </a:bodyPr>
          <a:lstStyle/>
          <a:p>
            <a:pPr algn="l" marL="0" indent="0"/>
            <a:r>
              <a:rPr lang="en-US" sz="8000" b="1" dirty="0">
                <a:solidFill>
                  <a:schemeClr val="lt1"/>
                </a:solidFill>
                <a:latin typeface="Cambria"/>
                <a:cs typeface="Noto Sans Devanagari"/>
                <a:ea typeface="Noto Sans Devanagari"/>
              </a:rPr>
              <a:t>Property VIII — Row Operations</a:t>
            </a:r>
          </a:p>
        </p:txBody>
      </p:sp>
    </p:spTree>
    <p:extLst>
      <p:ext uri="{BB962C8B-B14F-4D97-AF65-F5344CB8AC3E}">
        <p14:creationId xmlns:p14="http://schemas.microsoft.com/office/powerpoint/2010/main" val="2791379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DEBAFB25-DD5B-F566-A866-26C1351F6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>
            <a:extLst>
              <a:ext uri="{FF2B5EF4-FFF2-40B4-BE49-F238E27FC236}">
                <a16:creationId xmlns:a16="http://schemas.microsoft.com/office/drawing/2014/main" id="{85CA81A3-3D37-1665-DB9A-D7056E0817FB}"/>
              </a:ext>
            </a:extLst>
          </p:cNvPr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Evaluate: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Δ =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3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7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8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-9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11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18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42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48 </m:t>
                              </m:r>
                            </m:e>
                          </m:mr>
                        </m:m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Δ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|3, 7, 8; -9, 2, 11; 18, 42, 48|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[NCERT]</a:t>
            </a:r>
          </a:p>
        </p:txBody>
      </p:sp>
      <p:sp>
        <p:nvSpPr>
          <p:cNvPr id="3" name="Google Shape;131;p29">
            <a:extLst>
              <a:ext uri="{FF2B5EF4-FFF2-40B4-BE49-F238E27FC236}">
                <a16:creationId xmlns:a16="http://schemas.microsoft.com/office/drawing/2014/main" id="{9946FC45-E036-803C-1844-E619C8A31E32}"/>
              </a:ext>
            </a:extLst>
          </p:cNvPr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" name="Google Shape;132;p29">
            <a:extLst>
              <a:ext uri="{FF2B5EF4-FFF2-40B4-BE49-F238E27FC236}">
                <a16:creationId xmlns:a16="http://schemas.microsoft.com/office/drawing/2014/main" id="{B860A868-BB48-C17E-EDC8-5065AECEE0FB}"/>
              </a:ext>
            </a:extLst>
          </p:cNvPr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1506325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Let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Δ =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Ax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x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By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y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Cz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z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</m:mr>
                        </m:m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Δ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|Ax, x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1; By, y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1; Cz, z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1|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and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Δ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A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B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C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x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y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z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zy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zx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xy </m:t>
                              </m:r>
                            </m:e>
                          </m:mr>
                        </m:m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Δ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|A, B, C; x, y, z; zy, zx, xy|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, then [NCERT]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74822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Δ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-Δ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Δ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-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Δ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71914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73899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93087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14261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35434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95393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Δ ≠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Δ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Δ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≠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Δ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16066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Δ -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Δ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0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Δ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-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Δ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0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37419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None of these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DEBAFB25-DD5B-F566-A866-26C1351F6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>
            <a:extLst>
              <a:ext uri="{FF2B5EF4-FFF2-40B4-BE49-F238E27FC236}">
                <a16:creationId xmlns:a16="http://schemas.microsoft.com/office/drawing/2014/main" id="{85CA81A3-3D37-1665-DB9A-D7056E0817FB}"/>
              </a:ext>
            </a:extLst>
          </p:cNvPr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The value of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5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5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5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4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5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5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4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5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5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5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4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5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5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5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6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|5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5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5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4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5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5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4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5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5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5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4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5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5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5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6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, is [NCERT]</a:t>
            </a:r>
          </a:p>
        </p:txBody>
      </p:sp>
      <p:sp>
        <p:nvSpPr>
          <p:cNvPr id="3" name="Google Shape;131;p29">
            <a:extLst>
              <a:ext uri="{FF2B5EF4-FFF2-40B4-BE49-F238E27FC236}">
                <a16:creationId xmlns:a16="http://schemas.microsoft.com/office/drawing/2014/main" id="{9946FC45-E036-803C-1844-E619C8A31E32}"/>
              </a:ext>
            </a:extLst>
          </p:cNvPr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" name="Google Shape;132;p29">
            <a:extLst>
              <a:ext uri="{FF2B5EF4-FFF2-40B4-BE49-F238E27FC236}">
                <a16:creationId xmlns:a16="http://schemas.microsoft.com/office/drawing/2014/main" id="{B860A868-BB48-C17E-EDC8-5065AECEE0FB}"/>
              </a:ext>
            </a:extLst>
          </p:cNvPr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1506325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Find the value of 'k', if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0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3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3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k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2 </m:t>
                              </m:r>
                            </m:e>
                          </m:mr>
                        </m:m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4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|1, 2, 0; 2, 3, 1; 3, k, 2| = 4 </a:t>
                </a:r>
              </mc:Fallback>
            </mc:AlternateContent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AB = BA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|A - I| = 0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|A - I| = 0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|B - I| ≠ 0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|B - I|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≠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0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|A - B| = 0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|A - B| = 0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If the elements of a matrix A are real positive and distinct such that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func>
                      <m:funcPr/>
                      <m:fName>
                        <m:r>
                          <m:rPr>
                            <m:sty m:val="p"/>
                          </m:rP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det</m:t>
                        </m:r>
                      </m:fName>
                      <m:e/>
                    </m:func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(A +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sup>
                    </m:sSup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)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0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det(A + A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T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T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0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then: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func>
                      <m:funcPr/>
                      <m:fName>
                        <m:r>
                          <m:rPr>
                            <m:sty m:val="p"/>
                          </m:rP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det</m:t>
                        </m:r>
                      </m:fName>
                      <m:e/>
                    </m:func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A &gt; 0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det A &gt; 0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func>
                      <m:funcPr/>
                      <m:fName>
                        <m:r>
                          <m:rPr>
                            <m:sty m:val="p"/>
                          </m:rP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det</m:t>
                        </m:r>
                      </m:fName>
                      <m:e/>
                    </m:func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A ≥ 0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det A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≥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0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func>
                      <m:funcPr/>
                      <m:fName>
                        <m:r>
                          <m:rPr>
                            <m:sty m:val="p"/>
                          </m:rP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det</m:t>
                        </m:r>
                      </m:fName>
                      <m:e/>
                    </m:func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(A -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) &gt; 0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det (A - A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T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 &gt; 0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func>
                      <m:funcPr/>
                      <m:fName>
                        <m:r>
                          <m:rPr>
                            <m:sty m:val="p"/>
                          </m:rP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det</m:t>
                        </m:r>
                      </m:fName>
                      <m:e/>
                    </m:func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(A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) &gt; 0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det (AA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T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 &gt; 0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4389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If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(1 + ax + b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x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)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4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x +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b>
                    </m:sSub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x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… +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8</m:t>
                        </m:r>
                      </m:sub>
                    </m:sSub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x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8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(1 + ax + bx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4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x +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x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…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8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x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8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, where a, b,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,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, …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8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∈ R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…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8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∈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R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such that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≠ 0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≠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0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and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0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0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0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0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= 0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, then the value of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5</m:t>
                    </m:r>
                    <m:f>
                      <m:fPr/>
                      <m:num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num>
                      <m:den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b</m:t>
                        </m:r>
                      </m:den>
                    </m:f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5a/b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is</a:t>
            </a:r>
          </a:p>
        </p:txBody>
      </p:sp>
      <p:sp>
        <p:nvSpPr>
          <p:cNvPr id="3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5" name="Google Shape;133;p29"/>
          <p:cNvSpPr/>
          <p:nvPr/>
        </p:nvSpPr>
        <p:spPr>
          <a:xfrm>
            <a:off x="1039499" y="6382682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DEBAFB25-DD5B-F566-A866-26C1351F6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>
            <a:extLst>
              <a:ext uri="{FF2B5EF4-FFF2-40B4-BE49-F238E27FC236}">
                <a16:creationId xmlns:a16="http://schemas.microsoft.com/office/drawing/2014/main" id="{85CA81A3-3D37-1665-DB9A-D7056E0817FB}"/>
              </a:ext>
            </a:extLst>
          </p:cNvPr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If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x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n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x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n+2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x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n+4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y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n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y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n+2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y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n+4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z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n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z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n+2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z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n+4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</m:t>
                    </m:r>
                    <m:d>
                      <m:dPr>
                        <m:ctrlPr/>
                      </m:dPr>
                      <m:e>
                        <m:f>
                          <m:fPr/>
                          <m:num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1</m:t>
                            </m:r>
                          </m:num>
                          <m:den>
                            <m:sSup>
                              <m:sSup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y</m:t>
                                </m:r>
                              </m:e>
                              <m:sup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2</m:t>
                                </m:r>
                              </m:sup>
                            </m:sSup>
                          </m:den>
                        </m:f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</m:t>
                        </m:r>
                        <m:f>
                          <m:fPr/>
                          <m:num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1</m:t>
                            </m:r>
                          </m:num>
                          <m:den>
                            <m:sSup>
                              <m:sSup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x</m:t>
                                </m:r>
                              </m:e>
                              <m:sup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2</m:t>
                                </m:r>
                              </m:sup>
                            </m:sSup>
                          </m:den>
                        </m:f>
                      </m:e>
                    </m:d>
                    <m:d>
                      <m:dPr>
                        <m:ctrlPr/>
                      </m:dPr>
                      <m:e>
                        <m:f>
                          <m:fPr/>
                          <m:num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1</m:t>
                            </m:r>
                          </m:num>
                          <m:den>
                            <m:sSup>
                              <m:sSup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z</m:t>
                                </m:r>
                              </m:e>
                              <m:sup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2</m:t>
                                </m:r>
                              </m:sup>
                            </m:sSup>
                          </m:den>
                        </m:f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</m:t>
                        </m:r>
                        <m:f>
                          <m:fPr/>
                          <m:num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1</m:t>
                            </m:r>
                          </m:num>
                          <m:den>
                            <m:sSup>
                              <m:sSup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y</m:t>
                                </m:r>
                              </m:e>
                              <m:sup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2</m:t>
                                </m:r>
                              </m:sup>
                            </m:sSup>
                          </m:den>
                        </m:f>
                      </m:e>
                    </m:d>
                    <m:d>
                      <m:dPr>
                        <m:ctrlPr/>
                      </m:dPr>
                      <m:e>
                        <m:f>
                          <m:fPr/>
                          <m:num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1</m:t>
                            </m:r>
                          </m:num>
                          <m:den>
                            <m:sSup>
                              <m:sSup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x</m:t>
                                </m:r>
                              </m:e>
                              <m:sup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2</m:t>
                                </m:r>
                              </m:sup>
                            </m:sSup>
                          </m:den>
                        </m:f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</m:t>
                        </m:r>
                        <m:f>
                          <m:fPr/>
                          <m:num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1</m:t>
                            </m:r>
                          </m:num>
                          <m:den>
                            <m:sSup>
                              <m:sSup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z</m:t>
                                </m:r>
                              </m:e>
                              <m:sup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|x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n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x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n+2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x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n+4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y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n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y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n+2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y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n+4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z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n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z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n+2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z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n+4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= (1/(y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)-1/(x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))(1/(z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)-1/(y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))(1/(x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)-1/(z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))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then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-n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-n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is</a:t>
            </a:r>
          </a:p>
        </p:txBody>
      </p:sp>
      <p:sp>
        <p:nvSpPr>
          <p:cNvPr id="3" name="Google Shape;131;p29">
            <a:extLst>
              <a:ext uri="{FF2B5EF4-FFF2-40B4-BE49-F238E27FC236}">
                <a16:creationId xmlns:a16="http://schemas.microsoft.com/office/drawing/2014/main" id="{9946FC45-E036-803C-1844-E619C8A31E32}"/>
              </a:ext>
            </a:extLst>
          </p:cNvPr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" name="Google Shape;132;p29">
            <a:extLst>
              <a:ext uri="{FF2B5EF4-FFF2-40B4-BE49-F238E27FC236}">
                <a16:creationId xmlns:a16="http://schemas.microsoft.com/office/drawing/2014/main" id="{B860A868-BB48-C17E-EDC8-5065AECEE0FB}"/>
              </a:ext>
            </a:extLst>
          </p:cNvPr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1506325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DEBAFB25-DD5B-F566-A866-26C1351F6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>
            <a:extLst>
              <a:ext uri="{FF2B5EF4-FFF2-40B4-BE49-F238E27FC236}">
                <a16:creationId xmlns:a16="http://schemas.microsoft.com/office/drawing/2014/main" id="{85CA81A3-3D37-1665-DB9A-D7056E0817FB}"/>
              </a:ext>
            </a:extLst>
          </p:cNvPr>
          <p:cNvSpPr txBox="1"/>
          <p:nvPr/>
        </p:nvSpPr>
        <p:spPr>
          <a:xfrm>
            <a:off x="1104806" y="2396709"/>
            <a:ext cx="34747200" cy="4389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If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,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,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, …,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r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…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r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are in G.P., then prove that the determinant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|B| = -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b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-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c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|B| = -a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|b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b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+ b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- c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c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is independent of r. [NCERT]</a:t>
            </a:r>
          </a:p>
        </p:txBody>
      </p:sp>
      <p:sp>
        <p:nvSpPr>
          <p:cNvPr id="3" name="Google Shape;131;p29">
            <a:extLst>
              <a:ext uri="{FF2B5EF4-FFF2-40B4-BE49-F238E27FC236}">
                <a16:creationId xmlns:a16="http://schemas.microsoft.com/office/drawing/2014/main" id="{9946FC45-E036-803C-1844-E619C8A31E32}"/>
              </a:ext>
            </a:extLst>
          </p:cNvPr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" name="Google Shape;132;p29">
            <a:extLst>
              <a:ext uri="{FF2B5EF4-FFF2-40B4-BE49-F238E27FC236}">
                <a16:creationId xmlns:a16="http://schemas.microsoft.com/office/drawing/2014/main" id="{B860A868-BB48-C17E-EDC8-5065AECEE0FB}"/>
              </a:ext>
            </a:extLst>
          </p:cNvPr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1506325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DEBAFB25-DD5B-F566-A866-26C1351F6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>
            <a:extLst>
              <a:ext uri="{FF2B5EF4-FFF2-40B4-BE49-F238E27FC236}">
                <a16:creationId xmlns:a16="http://schemas.microsoft.com/office/drawing/2014/main" id="{85CA81A3-3D37-1665-DB9A-D7056E0817FB}"/>
              </a:ext>
            </a:extLst>
          </p:cNvPr>
          <p:cNvSpPr txBox="1"/>
          <p:nvPr/>
        </p:nvSpPr>
        <p:spPr>
          <a:xfrm>
            <a:off x="1104806" y="2396709"/>
            <a:ext cx="34747200" cy="4389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If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,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,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, …,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12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…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are in A.P. and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Δ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5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6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7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4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;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Δ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10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11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4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b>
                              </m:sSub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12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4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b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5</m:t>
                                  </m:r>
                                </m:sub>
                              </m:sSub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</m:m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Δ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|a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5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6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7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4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;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Δ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|a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4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4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a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5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then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Δ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: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Δ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Δ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: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Δ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</a:t>
                </a:r>
              </mc:Fallback>
            </mc:AlternateContent>
          </a:p>
        </p:txBody>
      </p:sp>
      <p:sp>
        <p:nvSpPr>
          <p:cNvPr id="3" name="Google Shape;131;p29">
            <a:extLst>
              <a:ext uri="{FF2B5EF4-FFF2-40B4-BE49-F238E27FC236}">
                <a16:creationId xmlns:a16="http://schemas.microsoft.com/office/drawing/2014/main" id="{9946FC45-E036-803C-1844-E619C8A31E32}"/>
              </a:ext>
            </a:extLst>
          </p:cNvPr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" name="Google Shape;132;p29">
            <a:extLst>
              <a:ext uri="{FF2B5EF4-FFF2-40B4-BE49-F238E27FC236}">
                <a16:creationId xmlns:a16="http://schemas.microsoft.com/office/drawing/2014/main" id="{B860A868-BB48-C17E-EDC8-5065AECEE0FB}"/>
              </a:ext>
            </a:extLst>
          </p:cNvPr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1506325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DEBAFB25-DD5B-F566-A866-26C1351F6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>
            <a:extLst>
              <a:ext uri="{FF2B5EF4-FFF2-40B4-BE49-F238E27FC236}">
                <a16:creationId xmlns:a16="http://schemas.microsoft.com/office/drawing/2014/main" id="{85CA81A3-3D37-1665-DB9A-D7056E0817FB}"/>
              </a:ext>
            </a:extLst>
          </p:cNvPr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Let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ω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ω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be the complex number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func>
                      <m:funcPr/>
                      <m:fName>
                        <m:r>
                          <m:rPr>
                            <m:sty m:val="p"/>
                          </m:rP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cos</m:t>
                        </m:r>
                      </m:fName>
                      <m:e/>
                    </m:func>
                    <m:f>
                      <m:fPr/>
                      <m:num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2π</m:t>
                        </m:r>
                      </m:num>
                      <m:den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den>
                    </m:f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i</m:t>
                    </m:r>
                    <m:func>
                      <m:funcPr/>
                      <m:fName>
                        <m:r>
                          <m:rPr>
                            <m:sty m:val="p"/>
                          </m:rP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sin</m:t>
                        </m:r>
                      </m:fName>
                      <m:e/>
                    </m:func>
                    <m:f>
                      <m:fPr/>
                      <m:num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2π</m:t>
                        </m:r>
                      </m:num>
                      <m:den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den>
                    </m:f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cos2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π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/3 + isin2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π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/3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. Then the number of distinct complex numbers z satisfying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begChr m:val="|"/>
                        <m:endChr m:val="|"/>
                        <m:ctrlPr/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/>
                          </m:mP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z+1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ω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ω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ω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z+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ω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</m:mr>
                          <m:mr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ω</m:t>
                                  </m:r>
                                </m:e>
                                <m:sup>
                                  <m:r>
                                    <a:rPr lang="en-IN" sz="6000" b="1" dirty="0">
                                      <a:solidFill>
                                        <a:schemeClr val="lt1"/>
                                      </a:solidFill>
                                      <a:latin typeface="Cambria Math"/>
                                      <a:ea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1 </m:t>
                              </m:r>
                            </m:e>
                            <m:e>
                              <m:r>
                                <a:rPr lang="en-IN" sz="6000" b="1" dirty="0">
                                  <a:solidFill>
                                    <a:schemeClr val="lt1"/>
                                  </a:solidFill>
                                  <a:latin typeface="Cambria Math"/>
                                  <a:ea typeface="Cambria Math"/>
                                  <a:sym typeface="Cambria Math"/>
                                </a:rPr>
                                <m:t xml:space="preserve"> z+ω </m:t>
                              </m:r>
                            </m:e>
                          </m:mr>
                        </m:m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0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|z+1,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ω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ω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ω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z+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ω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1;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ω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, 1, z+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ω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| = 0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is equal to</a:t>
            </a:r>
          </a:p>
        </p:txBody>
      </p:sp>
      <p:sp>
        <p:nvSpPr>
          <p:cNvPr id="3" name="Google Shape;131;p29">
            <a:extLst>
              <a:ext uri="{FF2B5EF4-FFF2-40B4-BE49-F238E27FC236}">
                <a16:creationId xmlns:a16="http://schemas.microsoft.com/office/drawing/2014/main" id="{9946FC45-E036-803C-1844-E619C8A31E32}"/>
              </a:ext>
            </a:extLst>
          </p:cNvPr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" name="Google Shape;132;p29">
            <a:extLst>
              <a:ext uri="{FF2B5EF4-FFF2-40B4-BE49-F238E27FC236}">
                <a16:creationId xmlns:a16="http://schemas.microsoft.com/office/drawing/2014/main" id="{B860A868-BB48-C17E-EDC8-5065AECEE0FB}"/>
              </a:ext>
            </a:extLst>
          </p:cNvPr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1506325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364</Words>
  <Application>Microsoft Office PowerPoint</Application>
  <PresentationFormat>Custom</PresentationFormat>
  <Paragraphs>125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Cambria</vt:lpstr>
      <vt:lpstr>Calibri</vt:lpstr>
      <vt:lpstr>Arial</vt:lpstr>
      <vt:lpstr>Wingdings</vt:lpstr>
      <vt:lpstr>Poppins</vt:lpstr>
      <vt:lpstr>Play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PW MSO 530</dc:creator>
  <cp:lastModifiedBy>e.wilson4890@gmail.com</cp:lastModifiedBy>
  <cp:revision>5</cp:revision>
  <dcterms:created xsi:type="dcterms:W3CDTF">2025-02-10T10:24:55Z</dcterms:created>
  <dcterms:modified xsi:type="dcterms:W3CDTF">2026-07-31T10:45:07Z</dcterms:modified>
</cp:coreProperties>
</file>