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1_1_enhanced.png"/><Relationship Id="rId4" Type="http://schemas.openxmlformats.org/officeDocument/2006/relationships/image" Target="../media/slide_001_2_enhanced.png"/><Relationship Id="rId5" Type="http://schemas.openxmlformats.org/officeDocument/2006/relationships/image" Target="../media/slide_001_3_enhanced.png"/><Relationship Id="rId6" Type="http://schemas.openxmlformats.org/officeDocument/2006/relationships/image" Target="../media/slide_001_4_enhance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2_1_enhanced.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6_1_enhance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9_1_enhanced.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0_1_enhanced.png"/><Relationship Id="rId4" Type="http://schemas.openxmlformats.org/officeDocument/2006/relationships/image" Target="../media/slide_010_2_enhance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5_1_enhanced.png"/><Relationship Id="rId4" Type="http://schemas.openxmlformats.org/officeDocument/2006/relationships/image" Target="../media/slide_015_2_enhanc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6_1_enhanc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8_1_enhanced.png"/><Relationship Id="rId4" Type="http://schemas.openxmlformats.org/officeDocument/2006/relationships/image" Target="../media/slide_018_2_enhanced.png"/><Relationship Id="rId5" Type="http://schemas.openxmlformats.org/officeDocument/2006/relationships/image" Target="../media/slide_018_3_enhanced.png"/><Relationship Id="rId6" Type="http://schemas.openxmlformats.org/officeDocument/2006/relationships/image" Target="../media/slide_018_4_enhanced.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9_1_enhanced.png"/><Relationship Id="rId4" Type="http://schemas.openxmlformats.org/officeDocument/2006/relationships/image" Target="../media/slide_019_2_enhanced.png"/><Relationship Id="rId5" Type="http://schemas.openxmlformats.org/officeDocument/2006/relationships/image" Target="../media/slide_019_3_enhanced.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21_1_enhanced.png"/><Relationship Id="rId4" Type="http://schemas.openxmlformats.org/officeDocument/2006/relationships/image" Target="../media/slide_021_2_enhance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नाइट्रोजन पर एकाकी इलेक्ट्रॉन युग्म होता है तथा तीन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N-H </m:t>
                    </m:r>
                  </m:oMath>
                </a14:m>
              </mc:Choice>
              <mc:Fallback>
                <a:r>
                  <a:rPr lang="en-IN" sz="5000" dirty="0">
                    <a:solidFill>
                      <a:schemeClr val="lt1"/>
                    </a:solidFill>
                    <a:latin typeface="Cambria"/>
                    <a:ea typeface="Cambria"/>
                    <a:sym typeface="Cambria"/>
                  </a:rPr>
                  <a:t> N-H </a:t>
                </a:r>
              </mc:Fallback>
            </mc:AlternateContent>
            <a:r>
              <a:rPr lang="hi-IN" altLang="en-US" sz="5000" dirty="0">
                <a:cs typeface="Noto Sans Devanagari"/>
                <a:solidFill>
                  <a:schemeClr val="lt1"/>
                </a:solidFill>
                <a:latin typeface="Cambria"/>
                <a:ea typeface="Noto Sans Devanagari"/>
                <a:sym typeface="Cambria"/>
              </a:rPr>
              <a:t> बंधीय युग्म होते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बोरॉन के पास केवल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6</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6e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होते हैं (अपूर्ण अष्टक)।</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एकाकी इलेक्ट्रॉन युग्म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दान करके उपसहसंयोजी बंध बनाता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N →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N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 - क्षार सिद्धांत</a:t>
            </a:r>
          </a:p>
        </p:txBody>
      </p:sp>
      <p:pic>
        <p:nvPicPr>
          <p:cNvPr id="4" name="slide_001_1_enhanced.png"/>
          <p:cNvPicPr preferRelativeResize="0"/>
          <p:nvPr/>
        </p:nvPicPr>
        <p:blipFill rotWithShape="1">
          <a:blip r:embed="rId3"/>
          <a:srcRect/>
          <a:stretch>
            <a:fillRect/>
          </a:stretch>
        </p:blipFill>
        <p:spPr>
          <a:xfrm>
            <a:off x="27718953" y="3995695"/>
            <a:ext cx="2552753" cy="3143639"/>
          </a:xfrm>
          <a:prstGeom prst="rect">
            <a:avLst/>
          </a:prstGeom>
          <a:noFill/>
          <a:ln>
            <a:noFill/>
          </a:ln>
        </p:spPr>
      </p:pic>
      <p:pic>
        <p:nvPicPr>
          <p:cNvPr id="5" name="slide_001_2_enhanced.png"/>
          <p:cNvPicPr preferRelativeResize="0"/>
          <p:nvPr/>
        </p:nvPicPr>
        <p:blipFill rotWithShape="1">
          <a:blip r:embed="rId4"/>
          <a:srcRect/>
          <a:stretch>
            <a:fillRect/>
          </a:stretch>
        </p:blipFill>
        <p:spPr>
          <a:xfrm>
            <a:off x="26922254" y="7299334"/>
            <a:ext cx="4146151" cy="3143639"/>
          </a:xfrm>
          <a:prstGeom prst="rect">
            <a:avLst/>
          </a:prstGeom>
          <a:noFill/>
          <a:ln>
            <a:noFill/>
          </a:ln>
        </p:spPr>
      </p:pic>
      <p:pic>
        <p:nvPicPr>
          <p:cNvPr id="6" name="slide_001_3_enhanced.png"/>
          <p:cNvPicPr preferRelativeResize="0"/>
          <p:nvPr/>
        </p:nvPicPr>
        <p:blipFill rotWithShape="1">
          <a:blip r:embed="rId5"/>
          <a:srcRect/>
          <a:stretch>
            <a:fillRect/>
          </a:stretch>
        </p:blipFill>
        <p:spPr>
          <a:xfrm>
            <a:off x="25729738" y="10602973"/>
            <a:ext cx="6531182" cy="3143639"/>
          </a:xfrm>
          <a:prstGeom prst="rect">
            <a:avLst/>
          </a:prstGeom>
          <a:noFill/>
          <a:ln>
            <a:noFill/>
          </a:ln>
        </p:spPr>
      </p:pic>
      <p:pic>
        <p:nvPicPr>
          <p:cNvPr id="7" name="slide_001_4_enhanced.png"/>
          <p:cNvPicPr preferRelativeResize="0"/>
          <p:nvPr/>
        </p:nvPicPr>
        <p:blipFill rotWithShape="1">
          <a:blip r:embed="rId6"/>
          <a:srcRect/>
          <a:stretch>
            <a:fillRect/>
          </a:stretch>
        </p:blipFill>
        <p:spPr>
          <a:xfrm>
            <a:off x="27336090" y="13906612"/>
            <a:ext cx="3318479"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8348964"/>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क्षार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दाता)</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अम्ल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ग्राही)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नाइट्रोजन का एकाकी इलेक्ट्रॉन युग्म बोरॉन की ओर दान होकर उपसहसंयोजी बंध बनाता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उपसहसंयोजी बंध का निर्माण</a:t>
            </a:r>
          </a:p>
        </p:txBody>
      </p:sp>
      <p:pic>
        <p:nvPicPr>
          <p:cNvPr id="4" name="slide_002_1_enhanced.png"/>
          <p:cNvPicPr preferRelativeResize="0"/>
          <p:nvPr/>
        </p:nvPicPr>
        <p:blipFill rotWithShape="1">
          <a:blip r:embed="rId3"/>
          <a:srcRect/>
          <a:stretch>
            <a:fillRect/>
          </a:stretch>
        </p:blipFill>
        <p:spPr>
          <a:xfrm>
            <a:off x="15490585" y="10957769"/>
            <a:ext cx="5594829" cy="8724711"/>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जिनके केन्द्रीय परमाणु को अष्टक पूर्ण करने के लिये एकाकी इलेक्ट्रॉन युग्म की आवश्यकता होती है लुईस अम्ल कहलाते हैं अर्थात इलेक्ट्रॉन युग्म ग्राही लुईस अम्ल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(बोरॉन ट्राइ क्लोराइड),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AlC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AlCl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(एल्युमीनियम ट्राइ क्लोराइड)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या धातु जिनके केन्द्रीय परमाणु का अष्टक पूर्ण होता है तथा इनके पास एकाकी इलेक्ट्रॉन युग्म होते हैं जिसे ये रासायनिक अभिक्रिया में दान करके उपसहसंयोजी बंध बना सकते हैं, लुईस क्षार कहलाते हैं अर्थात इलेक्ट्रॉन युग्म दाता लुईस क्षार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(अमोनिया)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क्षार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पैरामीटर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लंबाई</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कोण</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संरचना</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 ध्रुवता</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पैरामीटर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एक अणु में दो बंधित परमाणुओं के नाभिक के बीच संतुलन दूरी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स्पेक्ट्रोस्कोपिक, एक्स–रे विवर्तन और इलेक्ट्रॉन विवर्तन तकनीकों द्वारा मापा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लंबाई</a:t>
            </a:r>
          </a:p>
        </p:txBody>
      </p:sp>
      <p:pic>
        <p:nvPicPr>
          <p:cNvPr id="4" name="slide_006_1_enhanced.png"/>
          <p:cNvPicPr preferRelativeResize="0"/>
          <p:nvPr/>
        </p:nvPicPr>
        <p:blipFill rotWithShape="1">
          <a:blip r:embed="rId3"/>
          <a:srcRect/>
          <a:stretch>
            <a:fillRect/>
          </a:stretch>
        </p:blipFill>
        <p:spPr>
          <a:xfrm>
            <a:off x="23055193" y="6783665"/>
            <a:ext cx="11880273" cy="7478618"/>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 कुछ सामान्य अणुओं में बंध लंबाई</a:t>
            </a:r>
          </a:p>
        </p:txBody>
      </p:sp>
      <p:graphicFrame>
        <p:nvGraphicFramePr>
          <p:cNvPr id="3" name="ContentTable"/>
          <p:cNvGraphicFramePr>
            <a:graphicFrameLocks noGrp="1"/>
          </p:cNvGraphicFramePr>
          <p:nvPr/>
        </p:nvGraphicFramePr>
        <p:xfrm>
          <a:off x="6096000" y="2773368"/>
          <a:ext cx="24384000" cy="9240000"/>
        </p:xfrm>
        <a:graphic>
          <a:graphicData uri="http://schemas.openxmlformats.org/drawingml/2006/table">
            <a:tbl>
              <a:tblPr firstRow="1" bandRow="1">
                <a:tableStyleId>{5C22544A-7EE6-4342-B048-85BDC9FD1C3A}</a:tableStyleId>
              </a:tblPr>
              <a:tblGrid>
                <a:gridCol w="12192000"/>
                <a:gridCol w="12192000"/>
              </a:tblGrid>
              <a:tr h="1320000">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अणु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बंध लंबाई(pm)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H</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H</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F</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F</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C</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l</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Cl</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B</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r</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Br</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I</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I</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N</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N</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एकल बंध &gt; द्विबंध &gt; त्रिबंध</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F-F &gt; O=O &gt; N≡ N </m:t>
                    </m:r>
                  </m:oMath>
                </a14:m>
              </mc:Choice>
              <mc:Fallback>
                <a:r>
                  <a:rPr lang="en-IN" sz="5000" dirty="0">
                    <a:solidFill>
                      <a:schemeClr val="lt1"/>
                    </a:solidFill>
                    <a:latin typeface="Cambria"/>
                    <a:ea typeface="Cambria"/>
                    <a:sym typeface="Cambria"/>
                  </a:rPr>
                  <a:t> F-F &gt; O=O &gt; N</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N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9566521"/>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R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 =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R बंध लंबाई है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क्रमशः परमाणु A और B की सहसंयोजक त्रिज्याएँ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pic>
        <p:nvPicPr>
          <p:cNvPr id="4" name="slide_009_1_enhanced.png"/>
          <p:cNvPicPr preferRelativeResize="0"/>
          <p:nvPr/>
        </p:nvPicPr>
        <p:blipFill rotWithShape="1">
          <a:blip r:embed="rId3"/>
          <a:srcRect/>
          <a:stretch>
            <a:fillRect/>
          </a:stretch>
        </p:blipFill>
        <p:spPr>
          <a:xfrm>
            <a:off x="14348457" y="12175326"/>
            <a:ext cx="7879086" cy="7507154"/>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एक अणु/जटिल आयन में केंद्रीय परमाणु के चारों ओर बंधन इलेक्ट्रॉन युग्मों वाले कक्षकों के बीच के कोण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बंधन कोण को डिग्री में व्यक्त किया जाता है जिसे स्पेक्ट्रोस्कोपिक विधियों द्वारा प्रयोगात्मक रूप से निर्धारित किया जा सकता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यह अणु के आकार को निर्धारित करने में मदद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कोण</a:t>
            </a:r>
          </a:p>
        </p:txBody>
      </p:sp>
      <p:pic>
        <p:nvPicPr>
          <p:cNvPr id="4" name="slide_010_1_enhanced.png"/>
          <p:cNvPicPr preferRelativeResize="0"/>
          <p:nvPr/>
        </p:nvPicPr>
        <p:blipFill rotWithShape="1">
          <a:blip r:embed="rId3"/>
          <a:srcRect/>
          <a:stretch>
            <a:fillRect/>
          </a:stretch>
        </p:blipFill>
        <p:spPr>
          <a:xfrm>
            <a:off x="25955898" y="3995695"/>
            <a:ext cx="6078863" cy="6447279"/>
          </a:xfrm>
          <a:prstGeom prst="rect">
            <a:avLst/>
          </a:prstGeom>
          <a:noFill/>
          <a:ln>
            <a:noFill/>
          </a:ln>
        </p:spPr>
      </p:pic>
      <p:pic>
        <p:nvPicPr>
          <p:cNvPr id="5" name="slide_010_2_enhanced.png"/>
          <p:cNvPicPr preferRelativeResize="0"/>
          <p:nvPr/>
        </p:nvPicPr>
        <p:blipFill rotWithShape="1">
          <a:blip r:embed="rId4"/>
          <a:srcRect/>
          <a:stretch>
            <a:fillRect/>
          </a:stretch>
        </p:blipFill>
        <p:spPr>
          <a:xfrm>
            <a:off x="24127714" y="10602974"/>
            <a:ext cx="973523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H</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O </m:t>
                    </m:r>
                  </m:oMath>
                </a14:m>
              </mc:Choice>
              <mc:Fallback>
                <a:r>
                  <a:rPr lang="en-IN" sz="6000" b="1" dirty="0">
                    <a:solidFill>
                      <a:schemeClr val="lt1"/>
                    </a:solidFill>
                    <a:latin typeface="Cambria"/>
                    <a:ea typeface="Cambria"/>
                    <a:sym typeface="Cambria"/>
                  </a:rPr>
                  <a:t> H</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O </a:t>
                </a:r>
              </mc:Fallback>
            </mc:AlternateContent>
            <a:r>
              <a:rPr lang="hi-IN" altLang="en-US" sz="6000" b="1" dirty="0">
                <a:cs typeface="Noto Sans Devanagari"/>
                <a:solidFill>
                  <a:schemeClr val="lt1"/>
                </a:solidFill>
                <a:latin typeface="Cambria"/>
                <a:ea typeface="Noto Sans Devanagari"/>
                <a:sym typeface="Cambria"/>
              </a:rPr>
              <a:t> में बंध कोण है...</a:t>
            </a:r>
          </a:p>
        </p:txBody>
      </p:sp>
      <p:sp>
        <p:nvSpPr>
          <p:cNvPr id="3" name="Google Shape;130;p29"/>
          <p:cNvSpPr txBox="1"/>
          <p:nvPr/>
        </p:nvSpPr>
        <p:spPr>
          <a:xfrm>
            <a:off x="3107605" y="5653418"/>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109°</m:t>
                    </m:r>
                    <m:sSup>
                      <m:sSupPr/>
                      <m:e>
                        <m:r>
                          <a:rPr lang="en-IN" sz="6000" b="1" dirty="0">
                            <a:solidFill>
                              <a:schemeClr val="lt1"/>
                            </a:solidFill>
                            <a:latin typeface="Cambria Math"/>
                            <a:ea typeface="Cambria Math"/>
                            <a:sym typeface="Cambria Math"/>
                          </a:rPr>
                          <m:t xml:space="preserve">2</m:t>
                        </m:r>
                      </m:e>
                      <m:sup>
                        <m:r>
                          <a:rPr lang="en-IN" sz="6000" b="1" dirty="0">
                            <a:solidFill>
                              <a:schemeClr val="lt1"/>
                            </a:solidFill>
                            <a:latin typeface="Cambria Math"/>
                            <a:ea typeface="Cambria Math"/>
                            <a:sym typeface="Cambria Math"/>
                          </a:rPr>
                          <m:t xml:space="preserve">1</m:t>
                        </m:r>
                      </m:sup>
                    </m:sSup>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109</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2</a:t>
                </a:r>
                <a:r>
                  <a:rPr baseline="52000" lang="en-IN" sz="4320" b="1" dirty="0">
                    <a:solidFill>
                      <a:schemeClr val="lt1"/>
                    </a:solidFill>
                    <a:latin typeface="Cambria"/>
                    <a:ea typeface="Cambria"/>
                    <a:sym typeface="Cambria"/>
                  </a:rPr>
                  <a:t>1</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107° </m:t>
                    </m:r>
                  </m:oMath>
                </a14:m>
              </mc:Choice>
              <mc:Fallback>
                <a:r>
                  <a:rPr lang="en-IN" sz="6000" b="1" dirty="0">
                    <a:solidFill>
                      <a:schemeClr val="lt1"/>
                    </a:solidFill>
                    <a:latin typeface="Cambria"/>
                    <a:ea typeface="Cambria"/>
                    <a:sym typeface="Cambria"/>
                  </a:rPr>
                  <a:t> 107</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120° </m:t>
                    </m:r>
                  </m:oMath>
                </a14:m>
              </mc:Choice>
              <mc:Fallback>
                <a:r>
                  <a:rPr lang="en-IN" sz="6000" b="1" dirty="0">
                    <a:solidFill>
                      <a:schemeClr val="lt1"/>
                    </a:solidFill>
                    <a:latin typeface="Cambria"/>
                    <a:ea typeface="Cambria"/>
                    <a:sym typeface="Cambria"/>
                  </a:rPr>
                  <a:t> 120</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104.5° </m:t>
                    </m:r>
                  </m:oMath>
                </a14:m>
              </mc:Choice>
              <mc:Fallback>
                <a:r>
                  <a:rPr lang="en-IN" sz="6000" b="1" dirty="0">
                    <a:solidFill>
                      <a:schemeClr val="lt1"/>
                    </a:solidFill>
                    <a:latin typeface="Cambria"/>
                    <a:ea typeface="Cambria"/>
                    <a:sym typeface="Cambria"/>
                  </a:rPr>
                  <a:t> 104.5</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Answer: (D)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104.5° </m:t>
                    </m:r>
                  </m:oMath>
                </a14:m>
              </mc:Choice>
              <mc:Fallback>
                <a:r>
                  <a:rPr lang="en-IN" sz="5000" dirty="0">
                    <a:solidFill>
                      <a:schemeClr val="lt1"/>
                    </a:solidFill>
                    <a:latin typeface="Cambria"/>
                    <a:ea typeface="Cambria"/>
                    <a:sym typeface="Cambria"/>
                  </a:rPr>
                  <a:t> 104.5</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en-US" sz="8000" b="1" dirty="0">
                <a:solidFill>
                  <a:schemeClr val="lt1"/>
                </a:solidFill>
                <a:latin typeface="Cambria"/>
                <a:cs typeface="Noto Sans Devanagari"/>
                <a:ea typeface="Noto Sans Devanagari"/>
              </a:rPr>
              <a:t>Solution</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गैसीय अवस्था में दो परमाणुओं के बीच एक मोल बंधन को तोड़ने के लिए आवश्यक ऊर्जा की मात्रा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एन्थैल्पी की इकाई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 उदाहरण के लिए, हाइड्रोजन अणु में H – H बंध एन्थैल्पी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435.8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435.8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Δ H = 435.8 kJ/mol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2(g)</a:t>
                </a:r>
                <a:r>
                  <a:rPr lang="en-IN" sz="5000" dirty="0">
                    <a:solidFill>
                      <a:schemeClr val="lt1"/>
                    </a:solidFill>
                    <a:latin typeface="Cambria"/>
                    <a:ea typeface="Cambria"/>
                    <a:sym typeface="Cambria"/>
                  </a:rPr>
                  <a:t>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a:t>
                </a:r>
                <a:r>
                  <a:rPr lang="en-IN" sz="5000" dirty="0">
                    <a:solidFill>
                      <a:schemeClr val="lt1"/>
                    </a:solidFill>
                    <a:latin typeface="Arial"/>
                    <a:ea typeface="Arial"/>
                    <a:sym typeface="Arial"/>
                  </a:rPr>
                  <a:t>Δ</a:t>
                </a:r>
                <a:r>
                  <a:rPr lang="en-IN" sz="5000" dirty="0">
                    <a:solidFill>
                      <a:schemeClr val="lt1"/>
                    </a:solidFill>
                    <a:latin typeface="Cambria"/>
                    <a:ea typeface="Cambria"/>
                    <a:sym typeface="Cambria"/>
                  </a:rPr>
                  <a:t> H = 435.8 kJ/mol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अणुओं के मामले में, बंधन शक्ति का मापन अधिक जटिल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के लिए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O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O </a:t>
                </a:r>
              </mc:Fallback>
            </mc:AlternateContent>
            <a:r>
              <a:rPr lang="hi-IN" altLang="en-US" sz="5000" dirty="0">
                <a:cs typeface="Noto Sans Devanagari"/>
                <a:solidFill>
                  <a:schemeClr val="lt1"/>
                </a:solidFill>
                <a:latin typeface="Cambria"/>
                <a:ea typeface="Noto Sans Devanagari"/>
                <a:sym typeface="Cambria"/>
              </a:rPr>
              <a:t> अणु के मामले में, दो O–H बंधों को तोड़ने के लिए आवश्यक एन्थैल्पी समान नहीं होती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इसलिए बहुपरमाणुक अणुओं में औसत बंध एन्थैल्पी शब्द का प्रयोग किया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सहसंयोजक बंधन के लुईस विवरण में, बंधन क्रम एक अणु में दो परमाणुओं के बीच बंधनों की संख्या द्वारा दिया जाता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1)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1</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2)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2</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3)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N</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3</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समइलेक्ट्रॉनिक अणुओं और आयनों में समान बंध क्रम होते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F</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F</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en-IN" sz="5000" dirty="0">
                <a:solidFill>
                  <a:schemeClr val="lt1"/>
                </a:solidFill>
                <a:latin typeface="Cambria"/>
                <a:ea typeface="Cambria"/>
                <a:sym typeface="Cambria"/>
              </a:rPr>
              <a:t> and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Sup>
                      <m:sSubSup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up>
                        <m:r>
                          <a:rPr lang="en-IN" sz="5000" dirty="0">
                            <a:solidFill>
                              <a:schemeClr val="lt1"/>
                            </a:solidFill>
                            <a:latin typeface="Cambria Math"/>
                            <a:ea typeface="Cambria Math"/>
                            <a:sym typeface="Cambria Math"/>
                          </a:rPr>
                          <m:t xml:space="preserve">-2</m:t>
                        </m:r>
                      </m:sup>
                    </m:sSub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baseline="52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आर्डर</a:t>
            </a:r>
          </a:p>
        </p:txBody>
      </p:sp>
      <p:pic>
        <p:nvPicPr>
          <p:cNvPr id="4" name="slide_015_1_enhanced.png"/>
          <p:cNvPicPr preferRelativeResize="0"/>
          <p:nvPr/>
        </p:nvPicPr>
        <p:blipFill rotWithShape="1">
          <a:blip r:embed="rId3"/>
          <a:srcRect/>
          <a:stretch>
            <a:fillRect/>
          </a:stretch>
        </p:blipFill>
        <p:spPr>
          <a:xfrm>
            <a:off x="25605084" y="3995695"/>
            <a:ext cx="6780490" cy="6447279"/>
          </a:xfrm>
          <a:prstGeom prst="rect">
            <a:avLst/>
          </a:prstGeom>
          <a:noFill/>
          <a:ln>
            <a:noFill/>
          </a:ln>
        </p:spPr>
      </p:pic>
      <p:pic>
        <p:nvPicPr>
          <p:cNvPr id="5" name="slide_015_2_enhanced.png"/>
          <p:cNvPicPr preferRelativeResize="0"/>
          <p:nvPr/>
        </p:nvPicPr>
        <p:blipFill rotWithShape="1">
          <a:blip r:embed="rId4"/>
          <a:srcRect/>
          <a:stretch>
            <a:fillRect/>
          </a:stretch>
        </p:blipFill>
        <p:spPr>
          <a:xfrm>
            <a:off x="26004724" y="10602974"/>
            <a:ext cx="598121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N</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N</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 </a:t>
                </a:r>
              </mc:Fallback>
            </mc:AlternateContent>
            <a:r>
              <a:rPr lang="hi-IN" altLang="en-US" sz="6000" b="1" dirty="0">
                <a:cs typeface="Noto Sans Devanagari"/>
                <a:solidFill>
                  <a:schemeClr val="lt1"/>
                </a:solidFill>
                <a:latin typeface="Cambria"/>
                <a:ea typeface="Noto Sans Devanagari"/>
                <a:sym typeface="Cambria"/>
              </a:rPr>
              <a:t> अणु में बंध क्रम है...</a:t>
            </a:r>
          </a:p>
        </p:txBody>
      </p:sp>
      <p:sp>
        <p:nvSpPr>
          <p:cNvPr id="3" name="Google Shape;130;p29"/>
          <p:cNvSpPr txBox="1"/>
          <p:nvPr/>
        </p:nvSpPr>
        <p:spPr>
          <a:xfrm>
            <a:off x="3107605" y="5653418"/>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1</a:t>
            </a:r>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2</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3</a:t>
            </a:r>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4</a:t>
            </a:r>
            <a:endParaRPr sz="6000" b="1" dirty="0">
              <a:solidFill>
                <a:schemeClr val="lt1"/>
              </a:solidFill>
              <a:latin typeface="Cambria"/>
              <a:ea typeface="Cambria"/>
            </a:endParaRPr>
          </a:p>
        </p:txBody>
      </p:sp>
      <p:pic>
        <p:nvPicPr>
          <p:cNvPr id="20" name="slide_016_1_enhanced.png"/>
          <p:cNvPicPr preferRelativeResize="0"/>
          <p:nvPr/>
        </p:nvPicPr>
        <p:blipFill rotWithShape="1">
          <a:blip r:embed="rId3"/>
          <a:srcRect/>
          <a:stretch>
            <a:fillRect/>
          </a:stretch>
        </p:blipFill>
        <p:spPr>
          <a:xfrm>
            <a:off x="20372832" y="4562629"/>
            <a:ext cx="15288768" cy="3741442"/>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अनुनाद संरचनाएं</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की अवधारणा के अनुसार, जब भी एक लुईस संरचना किसी अणु का सटीक वर्णन नहीं कर पाती है, तो समान ऊर्जा, नाभिक की स्थिति, इलेक्ट्रॉनों के बंधन और गैर–बंधन युग्मों वाली कई संरचनाओं को संकर की प्रामाणिक संरचना के रूप में लिया जाता है, जो अणु का सटीक वर्णन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अनुनाद संरचनाएं</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अणु कि संरचना</a:t>
            </a:r>
          </a:p>
        </p:txBody>
      </p:sp>
      <p:pic>
        <p:nvPicPr>
          <p:cNvPr id="3" name="slide_018_1_enhanced.png"/>
          <p:cNvPicPr preferRelativeResize="0"/>
          <p:nvPr/>
        </p:nvPicPr>
        <p:blipFill rotWithShape="1">
          <a:blip r:embed="rId3"/>
          <a:srcRect/>
          <a:stretch>
            <a:fillRect/>
          </a:stretch>
        </p:blipFill>
        <p:spPr>
          <a:xfrm>
            <a:off x="27099997" y="3995695"/>
            <a:ext cx="3790665" cy="3143639"/>
          </a:xfrm>
          <a:prstGeom prst="rect">
            <a:avLst/>
          </a:prstGeom>
          <a:noFill/>
          <a:ln>
            <a:noFill/>
          </a:ln>
        </p:spPr>
      </p:pic>
      <p:pic>
        <p:nvPicPr>
          <p:cNvPr id="4" name="slide_018_2_enhanced.png"/>
          <p:cNvPicPr preferRelativeResize="0"/>
          <p:nvPr/>
        </p:nvPicPr>
        <p:blipFill rotWithShape="1">
          <a:blip r:embed="rId4"/>
          <a:srcRect/>
          <a:stretch>
            <a:fillRect/>
          </a:stretch>
        </p:blipFill>
        <p:spPr>
          <a:xfrm>
            <a:off x="26446776" y="7299334"/>
            <a:ext cx="5097107" cy="3143639"/>
          </a:xfrm>
          <a:prstGeom prst="rect">
            <a:avLst/>
          </a:prstGeom>
          <a:noFill/>
          <a:ln>
            <a:noFill/>
          </a:ln>
        </p:spPr>
      </p:pic>
      <p:pic>
        <p:nvPicPr>
          <p:cNvPr id="5" name="slide_018_3_enhanced.png"/>
          <p:cNvPicPr preferRelativeResize="0"/>
          <p:nvPr/>
        </p:nvPicPr>
        <p:blipFill rotWithShape="1">
          <a:blip r:embed="rId5"/>
          <a:srcRect/>
          <a:stretch>
            <a:fillRect/>
          </a:stretch>
        </p:blipFill>
        <p:spPr>
          <a:xfrm>
            <a:off x="26347526" y="10602973"/>
            <a:ext cx="5295607" cy="3143639"/>
          </a:xfrm>
          <a:prstGeom prst="rect">
            <a:avLst/>
          </a:prstGeom>
          <a:noFill/>
          <a:ln>
            <a:noFill/>
          </a:ln>
        </p:spPr>
      </p:pic>
      <p:pic>
        <p:nvPicPr>
          <p:cNvPr id="6" name="slide_018_4_enhanced.png"/>
          <p:cNvPicPr preferRelativeResize="0"/>
          <p:nvPr/>
        </p:nvPicPr>
        <p:blipFill rotWithShape="1">
          <a:blip r:embed="rId6"/>
          <a:srcRect/>
          <a:stretch>
            <a:fillRect/>
          </a:stretch>
        </p:blipFill>
        <p:spPr>
          <a:xfrm>
            <a:off x="26327526" y="13906612"/>
            <a:ext cx="5335606"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en-US" sz="8000" b="1" dirty="0">
                        <a:solidFill>
                          <a:schemeClr val="lt1"/>
                        </a:solidFill>
                        <a:latin typeface="Cambria Math"/>
                        <a:cs typeface="Cambria Math"/>
                        <a:ea typeface="Cambria Math"/>
                      </a:rPr>
                      <m:t xml:space="preserve"> C</m:t>
                    </m:r>
                    <m:sSubSup>
                      <m:sSubSupPr/>
                      <m:e>
                        <m:r>
                          <a:rPr lang="en-US" sz="8000" b="1" dirty="0">
                            <a:solidFill>
                              <a:schemeClr val="lt1"/>
                            </a:solidFill>
                            <a:latin typeface="Cambria Math"/>
                            <a:cs typeface="Cambria Math"/>
                            <a:ea typeface="Cambria Math"/>
                          </a:rPr>
                          <m:t xml:space="preserve">O</m:t>
                        </m:r>
                      </m:e>
                      <m:sub>
                        <m:r>
                          <a:rPr lang="en-US" sz="8000" b="1" dirty="0">
                            <a:solidFill>
                              <a:schemeClr val="lt1"/>
                            </a:solidFill>
                            <a:latin typeface="Cambria Math"/>
                            <a:cs typeface="Cambria Math"/>
                            <a:ea typeface="Cambria Math"/>
                          </a:rPr>
                          <m:t xml:space="preserve">3</m:t>
                        </m:r>
                      </m:sub>
                      <m:sup>
                        <m:r>
                          <a:rPr lang="en-US" sz="8000" b="1" dirty="0">
                            <a:solidFill>
                              <a:schemeClr val="lt1"/>
                            </a:solidFill>
                            <a:latin typeface="Cambria Math"/>
                            <a:cs typeface="Cambria Math"/>
                            <a:ea typeface="Cambria Math"/>
                          </a:rPr>
                          <m:t xml:space="preserve">2-</m:t>
                        </m:r>
                      </m:sup>
                    </m:sSubSup>
                    <m:r>
                      <a:rPr lang="en-US" sz="8000" b="1" dirty="0">
                        <a:solidFill>
                          <a:schemeClr val="lt1"/>
                        </a:solidFill>
                        <a:latin typeface="Cambria Math"/>
                        <a:cs typeface="Cambria Math"/>
                        <a:ea typeface="Cambria Math"/>
                      </a:rPr>
                      <m:t xml:space="preserve"> </m:t>
                    </m:r>
                  </m:oMath>
                </a14:m>
              </mc:Choice>
              <mc:Fallback>
                <a:r>
                  <a:rPr lang="en-US" sz="8000" b="1" dirty="0">
                    <a:solidFill>
                      <a:schemeClr val="lt1"/>
                    </a:solidFill>
                    <a:latin typeface="Cambria"/>
                    <a:cs typeface="Noto Sans Devanagari"/>
                    <a:ea typeface="Noto Sans Devanagari"/>
                  </a:rPr>
                  <a:t> CO</a:t>
                </a:r>
                <a:r>
                  <a:rPr baseline="-25000" lang="en-US" sz="5760" b="1" dirty="0">
                    <a:solidFill>
                      <a:schemeClr val="lt1"/>
                    </a:solidFill>
                    <a:latin typeface="Cambria"/>
                    <a:cs typeface="Noto Sans Devanagari"/>
                    <a:ea typeface="Noto Sans Devanagari"/>
                  </a:rPr>
                  <a:t>3</a:t>
                </a:r>
                <a:r>
                  <a:rPr baseline="52000" lang="en-US" sz="5760" b="1" dirty="0">
                    <a:solidFill>
                      <a:schemeClr val="lt1"/>
                    </a:solidFill>
                    <a:latin typeface="Cambria"/>
                    <a:cs typeface="Noto Sans Devanagari"/>
                    <a:ea typeface="Noto Sans Devanagari"/>
                  </a:rPr>
                  <a:t>2-</a:t>
                </a:r>
                <a:r>
                  <a:rPr lang="en-US" sz="8000" b="1" dirty="0">
                    <a:solidFill>
                      <a:schemeClr val="lt1"/>
                    </a:solidFill>
                    <a:latin typeface="Cambria"/>
                    <a:cs typeface="Noto Sans Devanagari"/>
                    <a:ea typeface="Noto Sans Devanagari"/>
                  </a:rPr>
                  <a:t> </a:t>
                </a:r>
              </mc:Fallback>
            </mc:AlternateContent>
          </a:p>
        </p:txBody>
      </p:sp>
      <p:pic>
        <p:nvPicPr>
          <p:cNvPr id="3" name="slide_019_1_enhanced.png"/>
          <p:cNvPicPr preferRelativeResize="0"/>
          <p:nvPr/>
        </p:nvPicPr>
        <p:blipFill rotWithShape="1">
          <a:blip r:embed="rId3"/>
          <a:srcRect/>
          <a:stretch>
            <a:fillRect/>
          </a:stretch>
        </p:blipFill>
        <p:spPr>
          <a:xfrm>
            <a:off x="5800140" y="3063240.0"/>
            <a:ext cx="8287920" cy="5760720"/>
          </a:xfrm>
          <a:prstGeom prst="rect">
            <a:avLst/>
          </a:prstGeom>
          <a:noFill/>
          <a:ln>
            <a:noFill/>
          </a:ln>
        </p:spPr>
      </p:pic>
      <p:pic>
        <p:nvPicPr>
          <p:cNvPr id="4" name="slide_019_2_enhanced.png"/>
          <p:cNvPicPr preferRelativeResize="0"/>
          <p:nvPr/>
        </p:nvPicPr>
        <p:blipFill rotWithShape="1">
          <a:blip r:embed="rId4"/>
          <a:srcRect/>
          <a:stretch>
            <a:fillRect/>
          </a:stretch>
        </p:blipFill>
        <p:spPr>
          <a:xfrm>
            <a:off x="23973608" y="3063240.0"/>
            <a:ext cx="5316583" cy="5760720"/>
          </a:xfrm>
          <a:prstGeom prst="rect">
            <a:avLst/>
          </a:prstGeom>
          <a:noFill/>
          <a:ln>
            <a:noFill/>
          </a:ln>
        </p:spPr>
      </p:pic>
      <p:pic>
        <p:nvPicPr>
          <p:cNvPr id="5" name="slide_019_3_enhanced.png"/>
          <p:cNvPicPr preferRelativeResize="0"/>
          <p:nvPr/>
        </p:nvPicPr>
        <p:blipFill rotWithShape="1">
          <a:blip r:embed="rId5"/>
          <a:srcRect/>
          <a:stretch>
            <a:fillRect/>
          </a:stretch>
        </p:blipFill>
        <p:spPr>
          <a:xfrm>
            <a:off x="15303530" y="11750040.0"/>
            <a:ext cx="5968939" cy="5760720"/>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 या आयन में किसी परमाणु के औपचारिक आवेश को पृथक या मुक्त अवस्था में उस परमाणु के संयोजकता इलेक्ट्रॉनों की संख्या और लुईस संरचना में उस परमाणु को सौंपे गए इलेक्ट्रॉनों की संख्या के बीच के अंतर के रूप में परिभाषित किया जा सकता है।</a:t>
            </a:r>
          </a:p>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फार्मल आवेश (Formal charge) = संयोजी इलेक्ट्रॉन (V) − वे संयोजी जो बंध निर्माण में भाग नहीं लिए (N)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 </m:t>
                    </m:r>
                  </m:oMath>
                </a14:m>
              </mc:Choice>
              <mc:Fallback>
                <a:r>
                  <a:rPr b="1" lang="en-IN" sz="5000" dirty="0">
                    <a:solidFill>
                      <a:schemeClr val="lt1"/>
                    </a:solidFill>
                    <a:latin typeface="Cambria"/>
                    <a:ea typeface="Cambria"/>
                    <a:sym typeface="Cambria"/>
                  </a:rPr>
                  <a:t> ½ </a:t>
                </a:r>
              </mc:Fallback>
            </mc:AlternateContent>
            <a:r>
              <a:rPr b="1" lang="en-IN" sz="5000" dirty="0">
                <a:solidFill>
                  <a:schemeClr val="lt1"/>
                </a:solidFill>
                <a:latin typeface="Cambria"/>
                <a:ea typeface="Cambria"/>
                <a:sym typeface="Cambria"/>
              </a:rPr>
              <a:t> </a:t>
            </a:r>
            <a:r>
              <a:rPr b="1" lang="en-IN" sz="5000" dirty="0">
                <a:solidFill>
                  <a:schemeClr val="lt1"/>
                </a:solidFill>
                <a:latin typeface="Arial"/>
                <a:ea typeface="Arial"/>
                <a:sym typeface="Arial"/>
              </a:rPr>
              <a:t>×</a:t>
            </a:r>
            <a:r>
              <a:rPr b="1" lang="hi-IN" altLang="en-US" sz="5000" dirty="0">
                <a:cs typeface="Noto Sans Devanagari"/>
                <a:solidFill>
                  <a:schemeClr val="lt1"/>
                </a:solidFill>
                <a:latin typeface="Cambria"/>
                <a:ea typeface="Noto Sans Devanagari"/>
                <a:sym typeface="Cambria"/>
              </a:rPr>
              <a:t> बंधीय इलेक्ट्रॉन (B)</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फार्मल आवेश (FC)</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सूत्र:</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F.C = V - N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B </m:t>
                    </m:r>
                  </m:oMath>
                </a14:m>
              </mc:Choice>
              <mc:Fallback>
                <a:r>
                  <a:rPr lang="en-IN" sz="5000" dirty="0">
                    <a:solidFill>
                      <a:schemeClr val="lt1"/>
                    </a:solidFill>
                    <a:latin typeface="Cambria"/>
                    <a:ea typeface="Cambria"/>
                    <a:sym typeface="Cambria"/>
                  </a:rPr>
                  <a:t> F.C = V - N - ½B </a:t>
                </a:r>
              </mc:Fallback>
            </mc:AlternateContent>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ओज़ोन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तीनों ऑक्सीजन परमाणुओं के लिए:</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1</m:t>
                        </m:r>
                      </m:sub>
                    </m:sSub>
                    <m:r>
                      <a:rPr lang="en-IN" sz="5000" dirty="0">
                        <a:solidFill>
                          <a:schemeClr val="lt1"/>
                        </a:solidFill>
                        <a:latin typeface="Cambria Math"/>
                        <a:ea typeface="Cambria Math"/>
                        <a:sym typeface="Cambria Math"/>
                      </a:rPr>
                      <m:t xml:space="preserve"> = 6 - 4 -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(4) = 0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 6 - 4 - ½(4) = 0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 6 - 2 -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(6)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 6 - 2 - ½(6) = +1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 6 - 6 -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(2)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 6 - 6 - ½(2) = -1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में फार्मल आवेश की गणना</a:t>
            </a:r>
          </a:p>
        </p:txBody>
      </p:sp>
      <p:pic>
        <p:nvPicPr>
          <p:cNvPr id="4" name="slide_021_1_enhanced.png"/>
          <p:cNvPicPr preferRelativeResize="0"/>
          <p:nvPr/>
        </p:nvPicPr>
        <p:blipFill rotWithShape="1">
          <a:blip r:embed="rId3"/>
          <a:srcRect/>
          <a:stretch>
            <a:fillRect/>
          </a:stretch>
        </p:blipFill>
        <p:spPr>
          <a:xfrm>
            <a:off x="24445132" y="3995695"/>
            <a:ext cx="9100395" cy="6447279"/>
          </a:xfrm>
          <a:prstGeom prst="rect">
            <a:avLst/>
          </a:prstGeom>
          <a:noFill/>
          <a:ln>
            <a:noFill/>
          </a:ln>
        </p:spPr>
      </p:pic>
      <p:pic>
        <p:nvPicPr>
          <p:cNvPr id="5" name="slide_021_2_enhanced.png"/>
          <p:cNvPicPr preferRelativeResize="0"/>
          <p:nvPr/>
        </p:nvPicPr>
        <p:blipFill rotWithShape="1">
          <a:blip r:embed="rId4"/>
          <a:srcRect/>
          <a:stretch>
            <a:fillRect/>
          </a:stretch>
        </p:blipFill>
        <p:spPr>
          <a:xfrm>
            <a:off x="23106555" y="10602974"/>
            <a:ext cx="11777549"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5</cp:revision>
  <dcterms:created xsi:type="dcterms:W3CDTF">2025-02-10T10:24:55Z</dcterms:created>
  <dcterms:modified xsi:type="dcterms:W3CDTF">2026-07-31T10:45:07Z</dcterms:modified>
</cp:coreProperties>
</file>