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</p:sldIdLst>
  <p:sldSz cy="20574000" cx="36576000"/>
  <p:notesSz cx="27432000" cy="36576000"/>
  <p:embeddedFontLst>
    <p:embeddedFont>
      <p:font typeface="Play"/>
      <p:regular r:id="rId12"/>
      <p:bold r:id="rId13"/>
    </p:embeddedFont>
    <p:embeddedFont>
      <p:font typeface="Poppins"/>
      <p:regular r:id="rId14"/>
      <p:bold r:id="rId15"/>
      <p:italic r:id="rId16"/>
      <p:boldItalic r:id="rId17"/>
    </p:embeddedFont>
    <p:embeddedFont>
      <p:font typeface="Poppins ExtraBold"/>
      <p:bold r:id="rId18"/>
      <p:boldItalic r:id="rId19"/>
    </p:embeddedFont>
    <p:embeddedFont>
      <p:font typeface="Cambria Math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20" Type="http://schemas.openxmlformats.org/officeDocument/2006/relationships/font" Target="fonts/CambriaMath-regular.fntdata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PoppinsExtraBold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ExtraBold-bold.fntdata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5200" y="2743200"/>
            <a:ext cx="24384300" cy="1371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743200" y="17373600"/>
            <a:ext cx="21945600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00" lIns="365700" spcFirstLastPara="1" rIns="365700" wrap="square" tIns="36570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4400"/>
              <a:buChar char="●"/>
              <a:defRPr sz="4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4400"/>
              <a:buChar char="○"/>
              <a:defRPr sz="44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4400"/>
              <a:buChar char="■"/>
              <a:defRPr sz="44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4400"/>
              <a:buChar char="●"/>
              <a:defRPr sz="44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4400"/>
              <a:buChar char="○"/>
              <a:defRPr sz="44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4400"/>
              <a:buChar char="■"/>
              <a:defRPr sz="44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4400"/>
              <a:buChar char="●"/>
              <a:defRPr sz="44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4400"/>
              <a:buChar char="○"/>
              <a:defRPr sz="44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4400"/>
              <a:buChar char="■"/>
              <a:defRPr sz="44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56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56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56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56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56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56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56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56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56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246832" y="2978300"/>
            <a:ext cx="34082400" cy="8210400"/>
          </a:xfrm>
          <a:prstGeom prst="rect">
            <a:avLst/>
          </a:prstGeom>
        </p:spPr>
        <p:txBody>
          <a:bodyPr anchorCtr="0" anchor="b" bIns="365700" lIns="365700" spcFirstLastPara="1" rIns="365700" wrap="square" tIns="36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800"/>
              <a:buNone/>
              <a:defRPr sz="20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800"/>
              <a:buNone/>
              <a:defRPr sz="20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800"/>
              <a:buNone/>
              <a:defRPr sz="20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800"/>
              <a:buNone/>
              <a:defRPr sz="20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800"/>
              <a:buNone/>
              <a:defRPr sz="20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800"/>
              <a:buNone/>
              <a:defRPr sz="20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800"/>
              <a:buNone/>
              <a:defRPr sz="20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800"/>
              <a:buNone/>
              <a:defRPr sz="20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800"/>
              <a:buNone/>
              <a:defRPr sz="20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246800" y="11336500"/>
            <a:ext cx="34082400" cy="3170400"/>
          </a:xfrm>
          <a:prstGeom prst="rect">
            <a:avLst/>
          </a:prstGeom>
        </p:spPr>
        <p:txBody>
          <a:bodyPr anchorCtr="0" anchor="t" bIns="365700" lIns="365700" spcFirstLastPara="1" rIns="365700" wrap="square" tIns="36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3889832" y="18652868"/>
            <a:ext cx="2194800" cy="1574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246800" y="8603400"/>
            <a:ext cx="34082400" cy="33672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3889832" y="18652868"/>
            <a:ext cx="2194800" cy="1574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246800" y="1780100"/>
            <a:ext cx="34082400" cy="2290800"/>
          </a:xfrm>
          <a:prstGeom prst="rect">
            <a:avLst/>
          </a:prstGeom>
        </p:spPr>
        <p:txBody>
          <a:bodyPr anchorCtr="0" anchor="t" bIns="365700" lIns="365700" spcFirstLastPara="1" rIns="365700" wrap="square" tIns="36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246800" y="4609900"/>
            <a:ext cx="34082400" cy="13665600"/>
          </a:xfrm>
          <a:prstGeom prst="rect">
            <a:avLst/>
          </a:prstGeom>
        </p:spPr>
        <p:txBody>
          <a:bodyPr anchorCtr="0" anchor="t" bIns="365700" lIns="365700" spcFirstLastPara="1" rIns="365700" wrap="square" tIns="36570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72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56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56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56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56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56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56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56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56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3889832" y="18652868"/>
            <a:ext cx="2194800" cy="1574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246800" y="1780100"/>
            <a:ext cx="34082400" cy="2290800"/>
          </a:xfrm>
          <a:prstGeom prst="rect">
            <a:avLst/>
          </a:prstGeom>
        </p:spPr>
        <p:txBody>
          <a:bodyPr anchorCtr="0" anchor="t" bIns="365700" lIns="365700" spcFirstLastPara="1" rIns="365700" wrap="square" tIns="36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246800" y="4609900"/>
            <a:ext cx="15999600" cy="13665600"/>
          </a:xfrm>
          <a:prstGeom prst="rect">
            <a:avLst/>
          </a:prstGeom>
        </p:spPr>
        <p:txBody>
          <a:bodyPr anchorCtr="0" anchor="t" bIns="365700" lIns="365700" spcFirstLastPara="1" rIns="365700" wrap="square" tIns="3657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5600"/>
              <a:buChar char="●"/>
              <a:defRPr sz="56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9329600" y="4609900"/>
            <a:ext cx="15999600" cy="13665600"/>
          </a:xfrm>
          <a:prstGeom prst="rect">
            <a:avLst/>
          </a:prstGeom>
        </p:spPr>
        <p:txBody>
          <a:bodyPr anchorCtr="0" anchor="t" bIns="365700" lIns="365700" spcFirstLastPara="1" rIns="365700" wrap="square" tIns="3657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5600"/>
              <a:buChar char="●"/>
              <a:defRPr sz="56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3889832" y="18652868"/>
            <a:ext cx="2194800" cy="1574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246800" y="1780100"/>
            <a:ext cx="34082400" cy="2290800"/>
          </a:xfrm>
          <a:prstGeom prst="rect">
            <a:avLst/>
          </a:prstGeom>
        </p:spPr>
        <p:txBody>
          <a:bodyPr anchorCtr="0" anchor="t" bIns="365700" lIns="365700" spcFirstLastPara="1" rIns="365700" wrap="square" tIns="36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3889832" y="18652868"/>
            <a:ext cx="2194800" cy="1574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246800" y="2222400"/>
            <a:ext cx="11232000" cy="3022800"/>
          </a:xfrm>
          <a:prstGeom prst="rect">
            <a:avLst/>
          </a:prstGeom>
        </p:spPr>
        <p:txBody>
          <a:bodyPr anchorCtr="0" anchor="b" bIns="365700" lIns="365700" spcFirstLastPara="1" rIns="365700" wrap="square" tIns="36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246800" y="5558400"/>
            <a:ext cx="11232000" cy="12717600"/>
          </a:xfrm>
          <a:prstGeom prst="rect">
            <a:avLst/>
          </a:prstGeom>
        </p:spPr>
        <p:txBody>
          <a:bodyPr anchorCtr="0" anchor="t" bIns="365700" lIns="365700" spcFirstLastPara="1" rIns="365700" wrap="square" tIns="3657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3889832" y="18652868"/>
            <a:ext cx="2194800" cy="1574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961000" y="1800600"/>
            <a:ext cx="25471200" cy="163632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3889832" y="18652868"/>
            <a:ext cx="2194800" cy="1574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8288000" y="-500"/>
            <a:ext cx="18288000" cy="2057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65700" lIns="365700" spcFirstLastPara="1" rIns="365700" wrap="square" tIns="3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062000" y="4932700"/>
            <a:ext cx="16180800" cy="5929200"/>
          </a:xfrm>
          <a:prstGeom prst="rect">
            <a:avLst/>
          </a:prstGeom>
        </p:spPr>
        <p:txBody>
          <a:bodyPr anchorCtr="0" anchor="b" bIns="365700" lIns="365700" spcFirstLastPara="1" rIns="365700" wrap="square" tIns="36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062000" y="11212300"/>
            <a:ext cx="16180800" cy="4940400"/>
          </a:xfrm>
          <a:prstGeom prst="rect">
            <a:avLst/>
          </a:prstGeom>
        </p:spPr>
        <p:txBody>
          <a:bodyPr anchorCtr="0" anchor="t" bIns="365700" lIns="365700" spcFirstLastPara="1" rIns="365700" wrap="square" tIns="36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9758000" y="2896300"/>
            <a:ext cx="15348000" cy="14780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72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56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56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56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56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56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56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56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56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3889832" y="18652868"/>
            <a:ext cx="2194800" cy="1574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246800" y="16922300"/>
            <a:ext cx="23995200" cy="2420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3889832" y="18652868"/>
            <a:ext cx="2194800" cy="1574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246800" y="4424500"/>
            <a:ext cx="34082400" cy="7854000"/>
          </a:xfrm>
          <a:prstGeom prst="rect">
            <a:avLst/>
          </a:prstGeom>
        </p:spPr>
        <p:txBody>
          <a:bodyPr anchorCtr="0" anchor="b" bIns="365700" lIns="365700" spcFirstLastPara="1" rIns="365700" wrap="square" tIns="36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0"/>
              <a:buNone/>
              <a:defRPr sz="4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0"/>
              <a:buNone/>
              <a:defRPr sz="4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0"/>
              <a:buNone/>
              <a:defRPr sz="4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0"/>
              <a:buNone/>
              <a:defRPr sz="4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0"/>
              <a:buNone/>
              <a:defRPr sz="4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0"/>
              <a:buNone/>
              <a:defRPr sz="4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0"/>
              <a:buNone/>
              <a:defRPr sz="4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0"/>
              <a:buNone/>
              <a:defRPr sz="4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0"/>
              <a:buNone/>
              <a:defRPr sz="48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246800" y="12608900"/>
            <a:ext cx="34082400" cy="5203200"/>
          </a:xfrm>
          <a:prstGeom prst="rect">
            <a:avLst/>
          </a:prstGeom>
        </p:spPr>
        <p:txBody>
          <a:bodyPr anchorCtr="0" anchor="t" bIns="365700" lIns="365700" spcFirstLastPara="1" rIns="365700" wrap="square" tIns="365700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72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56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56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56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56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56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56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56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56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3889832" y="18652868"/>
            <a:ext cx="2194800" cy="1574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3889832" y="18652868"/>
            <a:ext cx="2194800" cy="1574400"/>
          </a:xfrm>
          <a:prstGeom prst="rect">
            <a:avLst/>
          </a:prstGeom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5146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2115800" y="19069052"/>
            <a:ext cx="123444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258318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4572000" y="3367088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4572000" y="10806116"/>
            <a:ext cx="27432000" cy="496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5146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2115800" y="19069052"/>
            <a:ext cx="123444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258318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514600" y="1095376"/>
            <a:ext cx="31546800" cy="397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14600" y="5476876"/>
            <a:ext cx="31546800" cy="13054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26035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26035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26035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26035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26035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26035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26035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26035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26035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5146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2115800" y="19069052"/>
            <a:ext cx="123444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258318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2495552" y="5129216"/>
            <a:ext cx="31546800" cy="85582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2495552" y="13768392"/>
            <a:ext cx="31546800" cy="450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5600"/>
              <a:buNone/>
              <a:defRPr sz="56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5146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2115800" y="19069052"/>
            <a:ext cx="123444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258318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14600" y="1095376"/>
            <a:ext cx="31546800" cy="397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514600" y="5476876"/>
            <a:ext cx="15544800" cy="13054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26035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26035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26035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26035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26035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26035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26035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26035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26035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18516600" y="5476876"/>
            <a:ext cx="15544800" cy="13054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26035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26035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26035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26035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26035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26035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26035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26035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26035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5146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2115800" y="19069052"/>
            <a:ext cx="123444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258318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519364" y="1095376"/>
            <a:ext cx="31546800" cy="397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519368" y="5043488"/>
            <a:ext cx="15473360" cy="2471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200"/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1" sz="5600"/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519368" y="7515224"/>
            <a:ext cx="15473360" cy="11053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26035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26035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26035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26035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26035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26035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26035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26035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26035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18516600" y="5043488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200"/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1" sz="5600"/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18516600" y="7515224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26035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26035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26035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26035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26035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26035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26035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26035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26035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5146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2115800" y="19069052"/>
            <a:ext cx="123444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258318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514600" y="1095376"/>
            <a:ext cx="31546800" cy="397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5146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2115800" y="19069052"/>
            <a:ext cx="123444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258318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519368" y="1371600"/>
            <a:ext cx="1179671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5549564" y="2962276"/>
            <a:ext cx="18516600" cy="14620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indent="-36195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indent="-32385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indent="-32385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indent="-32385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indent="-32385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indent="-32385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indent="-32385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519368" y="6172200"/>
            <a:ext cx="11796712" cy="114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5146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2115800" y="19069052"/>
            <a:ext cx="123444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258318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519368" y="1371600"/>
            <a:ext cx="1179671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5549564" y="2962276"/>
            <a:ext cx="18516600" cy="14620876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2519368" y="6172200"/>
            <a:ext cx="11796712" cy="114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5146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2115800" y="19069052"/>
            <a:ext cx="123444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258318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14600" y="1095376"/>
            <a:ext cx="31546800" cy="397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760992" y="-3769516"/>
            <a:ext cx="13054016" cy="3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26035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26035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26035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26035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26035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26035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26035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26035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26035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5146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2115800" y="19069052"/>
            <a:ext cx="123444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258318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1400292" y="5869784"/>
            <a:ext cx="17435516" cy="78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5398292" y="-1788316"/>
            <a:ext cx="17435516" cy="232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26035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26035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26035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26035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26035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26035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26035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26035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26035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5146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2115800" y="19069052"/>
            <a:ext cx="123444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258318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46800" y="1780100"/>
            <a:ext cx="34082400" cy="22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00" lIns="365700" spcFirstLastPara="1" rIns="365700" wrap="square" tIns="36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0"/>
              <a:buNone/>
              <a:defRPr sz="1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0"/>
              <a:buNone/>
              <a:defRPr sz="1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0"/>
              <a:buNone/>
              <a:defRPr sz="1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0"/>
              <a:buNone/>
              <a:defRPr sz="1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0"/>
              <a:buNone/>
              <a:defRPr sz="1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0"/>
              <a:buNone/>
              <a:defRPr sz="1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0"/>
              <a:buNone/>
              <a:defRPr sz="1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0"/>
              <a:buNone/>
              <a:defRPr sz="1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0"/>
              <a:buNone/>
              <a:defRPr sz="1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46800" y="4609900"/>
            <a:ext cx="34082400" cy="136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00" lIns="365700" spcFirstLastPara="1" rIns="365700" wrap="square" tIns="365700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Char char="●"/>
              <a:defRPr sz="72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3889832" y="18652868"/>
            <a:ext cx="21948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00" lIns="365700" spcFirstLastPara="1" rIns="365700" wrap="square" tIns="365700">
            <a:normAutofit/>
          </a:bodyPr>
          <a:lstStyle>
            <a:lvl1pPr lvl="0" algn="r">
              <a:buNone/>
              <a:defRPr sz="4000">
                <a:solidFill>
                  <a:schemeClr val="dk2"/>
                </a:solidFill>
              </a:defRPr>
            </a:lvl1pPr>
            <a:lvl2pPr lvl="1" algn="r">
              <a:buNone/>
              <a:defRPr sz="4000">
                <a:solidFill>
                  <a:schemeClr val="dk2"/>
                </a:solidFill>
              </a:defRPr>
            </a:lvl2pPr>
            <a:lvl3pPr lvl="2" algn="r">
              <a:buNone/>
              <a:defRPr sz="4000">
                <a:solidFill>
                  <a:schemeClr val="dk2"/>
                </a:solidFill>
              </a:defRPr>
            </a:lvl3pPr>
            <a:lvl4pPr lvl="3" algn="r">
              <a:buNone/>
              <a:defRPr sz="4000">
                <a:solidFill>
                  <a:schemeClr val="dk2"/>
                </a:solidFill>
              </a:defRPr>
            </a:lvl4pPr>
            <a:lvl5pPr lvl="4" algn="r">
              <a:buNone/>
              <a:defRPr sz="4000">
                <a:solidFill>
                  <a:schemeClr val="dk2"/>
                </a:solidFill>
              </a:defRPr>
            </a:lvl5pPr>
            <a:lvl6pPr lvl="5" algn="r">
              <a:buNone/>
              <a:defRPr sz="4000">
                <a:solidFill>
                  <a:schemeClr val="dk2"/>
                </a:solidFill>
              </a:defRPr>
            </a:lvl6pPr>
            <a:lvl7pPr lvl="6" algn="r">
              <a:buNone/>
              <a:defRPr sz="4000">
                <a:solidFill>
                  <a:schemeClr val="dk2"/>
                </a:solidFill>
              </a:defRPr>
            </a:lvl7pPr>
            <a:lvl8pPr lvl="7" algn="r">
              <a:buNone/>
              <a:defRPr sz="4000">
                <a:solidFill>
                  <a:schemeClr val="dk2"/>
                </a:solidFill>
              </a:defRPr>
            </a:lvl8pPr>
            <a:lvl9pPr lvl="8" algn="r">
              <a:buNone/>
              <a:defRPr sz="4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14600" y="1095376"/>
            <a:ext cx="31546800" cy="397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b="0" i="0" sz="1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14600" y="5476876"/>
            <a:ext cx="31546800" cy="13054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b="0" i="0" sz="8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146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2115800" y="19069052"/>
            <a:ext cx="123444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25831800" y="19069052"/>
            <a:ext cx="8229600" cy="109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56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  <Relationship Id="rId5" Type="http://schemas.openxmlformats.org/officeDocument/2006/relationships/image" Target="../media/slide_020_1_enhanced.png"/>
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  <Relationship Id="rId5" Type="http://schemas.openxmlformats.org/officeDocument/2006/relationships/image" Target="../media/slide_022_1_enhanced.png"/>
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Refractive Index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61008816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ctr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This constant in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Snell's Law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is denoted by the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symbol </a:t>
            </a:r>
            <a:r>
              <a:rPr lang="en-US" sz="5000" b="1" dirty="0">
                <a:solidFill>
                  <a:srgbClr val="FFFFFF"/>
                </a:solidFill>
                <a:latin typeface="Arial"/>
                <a:cs typeface="Noto Sans Devanagari"/>
                <a:ea typeface="Noto Sans Devanagari"/>
              </a:rPr>
              <a:t>μ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(Read as *mew*).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It is known as the refractive index of the second medium with respect to the first medium.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It is given as</a:t>
            </a:r>
          </a:p>
          <a:p>
            <a:pPr algn="l" indent="0" marL="0">
              <a:lnSpc>
                <a:spcPct val="150000"/>
              </a:lnSpc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US" sz="5000" dirty="0">
                        <a:solidFill>
                          <a:srgbClr val="FFFFFF"/>
                        </a:solidFill>
                        <a:latin typeface="Cambria Math"/>
                        <a:cs typeface="Cambria Math"/>
                        <a:ea typeface="Cambria Math"/>
                      </a:rPr>
                      <m:t xml:space="preserve"> μ = </m:t>
                    </m:r>
                    <m:f>
                      <m:fPr/>
                      <m:num>
                        <m:r>
                          <m:rPr>
                            <m:sty m:val="p"/>
                          </m:rPr>
                          <a:rPr lang="en-US" sz="5000" dirty="0">
                            <a:solidFill>
                              <a:srgbClr val="FFFFFF"/>
                            </a:solidFill>
                            <a:latin typeface="Cambria Math"/>
                            <a:cs typeface="Cambria Math"/>
                            <a:ea typeface="Cambria Math"/>
                          </a:rPr>
                          <m:t xml:space="preserve">Speed of Light in first medium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5000" dirty="0">
                            <a:solidFill>
                              <a:srgbClr val="FFFFFF"/>
                            </a:solidFill>
                            <a:latin typeface="Cambria Math"/>
                            <a:cs typeface="Cambria Math"/>
                            <a:ea typeface="Cambria Math"/>
                          </a:rPr>
                          <m:t xml:space="preserve">Speed of Light in second medium</m:t>
                        </m:r>
                      </m:den>
                    </m:f>
                    <m:r>
                      <a:rPr lang="en-US" sz="5000" dirty="0">
                        <a:solidFill>
                          <a:srgbClr val="FFFFFF"/>
                        </a:solidFill>
                        <a:latin typeface="Cambria Math"/>
                        <a:cs typeface="Cambria Math"/>
                        <a:ea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US" sz="5000" dirty="0">
                    <a:solidFill>
                      <a:srgbClr val="FFFFFF"/>
                    </a:solidFill>
                    <a:latin typeface="Cambria"/>
                    <a:cs typeface="Noto Sans Devanagari"/>
                    <a:ea typeface="Noto Sans Devanagari"/>
                  </a:rPr>
                  <a:t> </a:t>
                </a:r>
                <a:r>
                  <a:rPr lang="en-US" sz="5000" dirty="0">
                    <a:solidFill>
                      <a:srgbClr val="FFFFFF"/>
                    </a:solidFill>
                    <a:latin typeface="Arial"/>
                    <a:cs typeface="Noto Sans Devanagari"/>
                    <a:ea typeface="Noto Sans Devanagari"/>
                  </a:rPr>
                  <a:t>μ</a:t>
                </a:r>
                <a:r>
                  <a:rPr lang="en-US" sz="5000" dirty="0">
                    <a:solidFill>
                      <a:srgbClr val="FFFFFF"/>
                    </a:solidFill>
                    <a:latin typeface="Cambria"/>
                    <a:cs typeface="Noto Sans Devanagari"/>
                    <a:ea typeface="Noto Sans Devanagari"/>
                  </a:rPr>
                  <a:t> = (Speed of Light in first medium)/(Speed of Light in second medium) </a:t>
                </a:r>
              </mc:Fallback>
            </mc:AlternateContent>
          </a:p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For Example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If a ray of light travels from air to water, then the constant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US" sz="5000" dirty="0">
                        <a:solidFill>
                          <a:srgbClr val="FFFFFF"/>
                        </a:solidFill>
                        <a:latin typeface="Cambria Math"/>
                        <a:cs typeface="Cambria Math"/>
                        <a:ea typeface="Cambria Math"/>
                      </a:rPr>
                      <m:t xml:space="preserve"> μ = </m:t>
                    </m:r>
                    <m:f>
                      <m:fPr/>
                      <m:num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US" sz="5000" dirty="0">
                                <a:solidFill>
                                  <a:srgbClr val="FFFFFF"/>
                                </a:solidFill>
                                <a:latin typeface="Cambria Math"/>
                                <a:cs typeface="Cambria Math"/>
                                <a:ea typeface="Cambria Math"/>
                              </a:rPr>
                              <m:t xml:space="preserve">sin</m:t>
                            </m:r>
                          </m:fName>
                          <m:e/>
                        </m:func>
                        <m:r>
                          <a:rPr lang="en-US" sz="5000" dirty="0">
                            <a:solidFill>
                              <a:srgbClr val="FFFFFF"/>
                            </a:solidFill>
                            <a:latin typeface="Cambria Math"/>
                            <a:cs typeface="Cambria Math"/>
                            <a:ea typeface="Cambria Math"/>
                          </a:rPr>
                          <m:t xml:space="preserve"> i</m:t>
                        </m:r>
                      </m:num>
                      <m:den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US" sz="5000" dirty="0">
                                <a:solidFill>
                                  <a:srgbClr val="FFFFFF"/>
                                </a:solidFill>
                                <a:latin typeface="Cambria Math"/>
                                <a:cs typeface="Cambria Math"/>
                                <a:ea typeface="Cambria Math"/>
                              </a:rPr>
                              <m:t xml:space="preserve">sin</m:t>
                            </m:r>
                          </m:fName>
                          <m:e/>
                        </m:func>
                        <m:r>
                          <a:rPr lang="en-US" sz="5000" dirty="0">
                            <a:solidFill>
                              <a:srgbClr val="FFFFFF"/>
                            </a:solidFill>
                            <a:latin typeface="Cambria Math"/>
                            <a:cs typeface="Cambria Math"/>
                            <a:ea typeface="Cambria Math"/>
                          </a:rPr>
                          <m:t xml:space="preserve"> r</m:t>
                        </m:r>
                      </m:den>
                    </m:f>
                    <m:r>
                      <a:rPr lang="en-US" sz="5000" dirty="0">
                        <a:solidFill>
                          <a:srgbClr val="FFFFFF"/>
                        </a:solidFill>
                        <a:latin typeface="Cambria Math"/>
                        <a:cs typeface="Cambria Math"/>
                        <a:ea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US" sz="5000" dirty="0">
                    <a:solidFill>
                      <a:srgbClr val="FFFFFF"/>
                    </a:solidFill>
                    <a:latin typeface="Cambria"/>
                    <a:cs typeface="Noto Sans Devanagari"/>
                    <a:ea typeface="Noto Sans Devanagari"/>
                  </a:rPr>
                  <a:t> </a:t>
                </a:r>
                <a:r>
                  <a:rPr lang="en-US" sz="5000" dirty="0">
                    <a:solidFill>
                      <a:srgbClr val="FFFFFF"/>
                    </a:solidFill>
                    <a:latin typeface="Arial"/>
                    <a:cs typeface="Noto Sans Devanagari"/>
                    <a:ea typeface="Noto Sans Devanagari"/>
                  </a:rPr>
                  <a:t>μ</a:t>
                </a:r>
                <a:r>
                  <a:rPr lang="en-US" sz="5000" dirty="0">
                    <a:solidFill>
                      <a:srgbClr val="FFFFFF"/>
                    </a:solidFill>
                    <a:latin typeface="Cambria"/>
                    <a:cs typeface="Noto Sans Devanagari"/>
                    <a:ea typeface="Noto Sans Devanagari"/>
                  </a:rPr>
                  <a:t> = (sin i)/(sin r) </a:t>
                </a:r>
              </mc:Fallback>
            </mc:AlternateContent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is the refractive index of water with respect to air.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It is given as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Similarly, if a ray of light travels from air to glass, then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Note: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The refractive index of air is 1. No medium can have refractive index less than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Apparent Depth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61008816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ctr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When a vessel (like a glass, bucket, or swimming pool) is filled with a transparent liquid (like water), the bottom of the vessel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appears to be raised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when viewed from above.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This is due to refraction of light – rays coming from the bottom bend away from the normal as they pass from denser medium (liquid) to rarer medium (air).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So, the bottom does not look at its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real depth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, but at an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apparent depth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Real Depth and Apparent Depth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61008816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ctr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The relationship between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Real Depth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and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Apparent Depth</a:t>
            </a:r>
          </a:p>
          <a:p>
            <a:pPr algn="l" indent="0" marL="0">
              <a:lnSpc>
                <a:spcPct val="150000"/>
              </a:lnSpc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US" sz="5000" dirty="0">
                        <a:solidFill>
                          <a:srgbClr val="FFFFFF"/>
                        </a:solidFill>
                        <a:latin typeface="Cambria Math"/>
                        <a:cs typeface="Cambria Math"/>
                        <a:ea typeface="Cambria Math"/>
                      </a:rPr>
                      <m:t xml:space="preserve"> </m:t>
                    </m:r>
                    <m:r>
                      <m:rPr>
                        <m:sty m:val="p"/>
                      </m:rPr>
                      <a:rPr lang="en-US" sz="5000" dirty="0">
                        <a:solidFill>
                          <a:srgbClr val="FFFFFF"/>
                        </a:solidFill>
                        <a:latin typeface="Cambria Math"/>
                        <a:cs typeface="Cambria Math"/>
                        <a:ea typeface="Cambria Math"/>
                      </a:rPr>
                      <m:t xml:space="preserve">Apparent Depth</m:t>
                    </m:r>
                    <m:r>
                      <a:rPr lang="en-US" sz="5000" dirty="0">
                        <a:solidFill>
                          <a:srgbClr val="FFFFFF"/>
                        </a:solidFill>
                        <a:latin typeface="Cambria Math"/>
                        <a:cs typeface="Cambria Math"/>
                        <a:ea typeface="Cambria Math"/>
                      </a:rPr>
                      <m:t xml:space="preserve"> = </m:t>
                    </m:r>
                    <m:f>
                      <m:fPr/>
                      <m:num>
                        <m:r>
                          <m:rPr>
                            <m:sty m:val="p"/>
                          </m:rPr>
                          <a:rPr lang="en-US" sz="5000" dirty="0">
                            <a:solidFill>
                              <a:srgbClr val="FFFFFF"/>
                            </a:solidFill>
                            <a:latin typeface="Cambria Math"/>
                            <a:cs typeface="Cambria Math"/>
                            <a:ea typeface="Cambria Math"/>
                          </a:rPr>
                          <m:t xml:space="preserve">Real Depth</m:t>
                        </m:r>
                      </m:num>
                      <m:den>
                        <m:r>
                          <a:rPr lang="en-US" sz="5000" dirty="0">
                            <a:solidFill>
                              <a:srgbClr val="FFFFFF"/>
                            </a:solidFill>
                            <a:latin typeface="Cambria Math"/>
                            <a:cs typeface="Cambria Math"/>
                            <a:ea typeface="Cambria Math"/>
                          </a:rPr>
                          <m:t xml:space="preserve">μ</m:t>
                        </m:r>
                      </m:den>
                    </m:f>
                    <m:r>
                      <a:rPr lang="en-US" sz="5000" dirty="0">
                        <a:solidFill>
                          <a:srgbClr val="FFFFFF"/>
                        </a:solidFill>
                        <a:latin typeface="Cambria Math"/>
                        <a:cs typeface="Cambria Math"/>
                        <a:ea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US" sz="5000" dirty="0">
                    <a:solidFill>
                      <a:srgbClr val="FFFFFF"/>
                    </a:solidFill>
                    <a:latin typeface="Cambria"/>
                    <a:cs typeface="Noto Sans Devanagari"/>
                    <a:ea typeface="Noto Sans Devanagari"/>
                  </a:rPr>
                  <a:t> Apparent Depth = (Real Depth)/</a:t>
                </a:r>
                <a:r>
                  <a:rPr lang="en-US" sz="5000" dirty="0">
                    <a:solidFill>
                      <a:srgbClr val="FFFFFF"/>
                    </a:solidFill>
                    <a:latin typeface="Arial"/>
                    <a:cs typeface="Noto Sans Devanagari"/>
                    <a:ea typeface="Noto Sans Devanagari"/>
                  </a:rPr>
                  <a:t>μ</a:t>
                </a:r>
                <a:r>
                  <a:rPr lang="en-US" sz="5000" dirty="0">
                    <a:solidFill>
                      <a:srgbClr val="FFFFFF"/>
                    </a:solidFill>
                    <a:latin typeface="Cambria"/>
                    <a:cs typeface="Noto Sans Devanagari"/>
                    <a:ea typeface="Noto Sans Devanagari"/>
                  </a:rPr>
                  <a:t> </a:t>
                </a:r>
              </mc:Fallback>
            </mc:AlternateContent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Where: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Arial"/>
                <a:cs typeface="Noto Sans Devanagari"/>
                <a:ea typeface="Noto Sans Devanagari"/>
              </a:rPr>
              <a:t>μ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= refractive index of the liquid (w.r.t. air.)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Real depth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= actual or true depth of the liquid.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Apparent depth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= depth as seen from above.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Applications / Observations in Daily Life: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1. A swimming pool looks shallower than it really is.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2. A coin at the bottom of a glass of water appears raised.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3. Stick dipped in water appears bent at the surface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The refractive index is the ratio of: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Speed of light in air to that in vacuum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Speed of light in denser medium to that in rarer medium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Speed of light in vacuum to that in the medium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None of these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If the speed of light in glass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GB" sz="6000">
                        <a:solidFill>
                          <a:srgbClr val="FFC000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2 × 1</m:t>
                    </m:r>
                    <m:sSup>
                      <m:sSupPr/>
                      <m:e>
                        <m:r>
                          <a:rPr lang="en-GB" sz="6000">
                            <a:solidFill>
                              <a:srgbClr val="FFC000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e>
                      <m:sup>
                        <m:r>
                          <a:rPr lang="en-GB" sz="6000">
                            <a:solidFill>
                              <a:srgbClr val="FFC000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GB" sz="6000">
                        <a:solidFill>
                          <a:srgbClr val="FFC000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GB" sz="6000">
                    <a:solidFill>
                      <a:srgbClr val="FFC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2 </a:t>
                </a:r>
                <a:r>
                  <a:rPr lang="en-GB" sz="6000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×</a:t>
                </a:r>
                <a:r>
                  <a:rPr lang="en-GB" sz="6000">
                    <a:solidFill>
                      <a:srgbClr val="FFC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10</a:t>
                </a:r>
                <a:r>
                  <a:rPr baseline="52000" lang="en-GB" sz="4320">
                    <a:solidFill>
                      <a:srgbClr val="FFC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8</a:t>
                </a:r>
                <a:r>
                  <a:rPr lang="en-GB" sz="6000">
                    <a:solidFill>
                      <a:srgbClr val="FFC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</mc:Fallback>
            </mc:AlternateContent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 m/s and in air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GB" sz="6000">
                        <a:solidFill>
                          <a:srgbClr val="FFC000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3 × 1</m:t>
                    </m:r>
                    <m:sSup>
                      <m:sSupPr/>
                      <m:e>
                        <m:r>
                          <a:rPr lang="en-GB" sz="6000">
                            <a:solidFill>
                              <a:srgbClr val="FFC000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e>
                      <m:sup>
                        <m:r>
                          <a:rPr lang="en-GB" sz="6000">
                            <a:solidFill>
                              <a:srgbClr val="FFC000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GB" sz="6000">
                        <a:solidFill>
                          <a:srgbClr val="FFC000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GB" sz="6000">
                    <a:solidFill>
                      <a:srgbClr val="FFC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3 </a:t>
                </a:r>
                <a:r>
                  <a:rPr lang="en-GB" sz="6000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×</a:t>
                </a:r>
                <a:r>
                  <a:rPr lang="en-GB" sz="6000">
                    <a:solidFill>
                      <a:srgbClr val="FFC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10</a:t>
                </a:r>
                <a:r>
                  <a:rPr baseline="52000" lang="en-GB" sz="4320">
                    <a:solidFill>
                      <a:srgbClr val="FFC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8</a:t>
                </a:r>
                <a:r>
                  <a:rPr lang="en-GB" sz="6000">
                    <a:solidFill>
                      <a:srgbClr val="FFC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</mc:Fallback>
            </mc:AlternateContent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 m/s, the refractive index of glass w.r.t air is: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1.33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1.5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0.66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If refractive index of diamond = 2.42, then the speed of light in diamond is approximately: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(Take speed of light in air =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GB" sz="6000">
                        <a:solidFill>
                          <a:srgbClr val="FFC000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3 × 1</m:t>
                    </m:r>
                    <m:sSup>
                      <m:sSupPr/>
                      <m:e>
                        <m:r>
                          <a:rPr lang="en-GB" sz="6000">
                            <a:solidFill>
                              <a:srgbClr val="FFC000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e>
                      <m:sup>
                        <m:r>
                          <a:rPr lang="en-GB" sz="6000">
                            <a:solidFill>
                              <a:srgbClr val="FFC000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GB" sz="6000">
                        <a:solidFill>
                          <a:srgbClr val="FFC000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GB" sz="6000">
                    <a:solidFill>
                      <a:srgbClr val="FFC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3 </a:t>
                </a:r>
                <a:r>
                  <a:rPr lang="en-GB" sz="6000">
                    <a:solidFill>
                      <a:srgbClr val="FFC000"/>
                    </a:solidFill>
                    <a:latin typeface="Arial"/>
                    <a:ea typeface="Arial"/>
                    <a:cs typeface="Arial"/>
                    <a:sym typeface="Arial"/>
                  </a:rPr>
                  <a:t>×</a:t>
                </a:r>
                <a:r>
                  <a:rPr lang="en-GB" sz="6000">
                    <a:solidFill>
                      <a:srgbClr val="FFC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10</a:t>
                </a:r>
                <a:r>
                  <a:rPr baseline="52000" lang="en-GB" sz="4320">
                    <a:solidFill>
                      <a:srgbClr val="FFC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8</a:t>
                </a:r>
                <a:r>
                  <a:rPr lang="en-GB" sz="6000">
                    <a:solidFill>
                      <a:srgbClr val="FFC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</mc:Fallback>
            </mc:AlternateContent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 m/s)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GB" sz="6000">
                        <a:solidFill>
                          <a:srgbClr val="FFFFF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1.24 × 1</m:t>
                    </m:r>
                    <m:sSup>
                      <m:sSupPr/>
                      <m:e>
                        <m:r>
                          <a:rPr lang="en-GB" sz="600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e>
                      <m:sup>
                        <m:r>
                          <a:rPr lang="en-GB" sz="600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GB" sz="6000">
                        <a:solidFill>
                          <a:srgbClr val="FFFFF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GB" sz="60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1.24 </a:t>
                </a:r>
                <a:r>
                  <a:rPr lang="en-GB" sz="60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×</a:t>
                </a:r>
                <a:r>
                  <a:rPr lang="en-GB" sz="60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10</a:t>
                </a:r>
                <a:r>
                  <a:rPr baseline="52000" lang="en-GB" sz="432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8</a:t>
                </a:r>
                <a:r>
                  <a:rPr lang="en-GB" sz="60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</mc:Fallback>
            </mc:AlternateContent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m/s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GB" sz="6000">
                        <a:solidFill>
                          <a:srgbClr val="FFFFF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2.42 × 1</m:t>
                    </m:r>
                    <m:sSup>
                      <m:sSupPr/>
                      <m:e>
                        <m:r>
                          <a:rPr lang="en-GB" sz="600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e>
                      <m:sup>
                        <m:r>
                          <a:rPr lang="en-GB" sz="600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GB" sz="6000">
                        <a:solidFill>
                          <a:srgbClr val="FFFFF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GB" sz="60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2.42 </a:t>
                </a:r>
                <a:r>
                  <a:rPr lang="en-GB" sz="60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×</a:t>
                </a:r>
                <a:r>
                  <a:rPr lang="en-GB" sz="60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10</a:t>
                </a:r>
                <a:r>
                  <a:rPr baseline="52000" lang="en-GB" sz="432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8</a:t>
                </a:r>
                <a:r>
                  <a:rPr lang="en-GB" sz="60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</mc:Fallback>
            </mc:AlternateContent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m/s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GB" sz="6000">
                        <a:solidFill>
                          <a:srgbClr val="FFFFF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3.42 × 1</m:t>
                    </m:r>
                    <m:sSup>
                      <m:sSupPr/>
                      <m:e>
                        <m:r>
                          <a:rPr lang="en-GB" sz="600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e>
                      <m:sup>
                        <m:r>
                          <a:rPr lang="en-GB" sz="600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GB" sz="6000">
                        <a:solidFill>
                          <a:srgbClr val="FFFFF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GB" sz="60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3.42 </a:t>
                </a:r>
                <a:r>
                  <a:rPr lang="en-GB" sz="60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×</a:t>
                </a:r>
                <a:r>
                  <a:rPr lang="en-GB" sz="60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10</a:t>
                </a:r>
                <a:r>
                  <a:rPr baseline="52000" lang="en-GB" sz="432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8</a:t>
                </a:r>
                <a:r>
                  <a:rPr lang="en-GB" sz="60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</mc:Fallback>
            </mc:AlternateContent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m/s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GB" sz="6000">
                        <a:solidFill>
                          <a:srgbClr val="FFFFF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7.26 × 1</m:t>
                    </m:r>
                    <m:sSup>
                      <m:sSupPr/>
                      <m:e>
                        <m:r>
                          <a:rPr lang="en-GB" sz="600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e>
                      <m:sup>
                        <m:r>
                          <a:rPr lang="en-GB" sz="600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GB" sz="6000">
                        <a:solidFill>
                          <a:srgbClr val="FFFFFF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GB" sz="60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7.26 </a:t>
                </a:r>
                <a:r>
                  <a:rPr lang="en-GB" sz="60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×</a:t>
                </a:r>
                <a:r>
                  <a:rPr lang="en-GB" sz="60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10</a:t>
                </a:r>
                <a:r>
                  <a:rPr baseline="52000" lang="en-GB" sz="432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8</a:t>
                </a:r>
                <a:r>
                  <a:rPr lang="en-GB" sz="60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</mc:Fallback>
            </mc:AlternateContent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m/s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A vessel contains water of depth 20 cm. If refractive index of water = 1.33, the apparent depth will be: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26.6 cm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15 cm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13.3 cm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 cm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Early Sunrise and Delayed Sunset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61008816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ctr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1. Before sunrise and after sunset, the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upper layers of the atmosphere are warmer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than the layers near the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Earth's surface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 Hence, the air near the Earth's surface is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denser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than the air above.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2. When the Sun is just below the horizon, light from it passes through the Earth's atmosphere.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3. As the light travels from a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rarer to a denser medium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, it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bends towards the normal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at each refraction.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4. Due to the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continuous bending of light rays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at different successive layers, the Sun appears to be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slightly higher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in the sky than its actual position.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5. As a result: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 In the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morning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, the Sun is seen a few minutes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before it actually rises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 In the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evening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, the Sun is seen for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3–4 minutes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even after it has actually set.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6. Therefore, the duration of the day appears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longer by about 4 minutes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Mirage in a Desert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61008816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ctr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1. Definition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In deserts, sometimes an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inverted image of a tree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is seen, which gives a false impression of water under the tree.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This phenomenon is called a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mirage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2. Cause of Mirage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It is caused due to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refraction of light.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During daytime, the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sand becomes very hot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and heats the air just above it.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Thus, the air near the ground is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hotter (rarer)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, while the air above is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cooler (denser).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3. Layered Air Effect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The air forms layers with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gradually increasing density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as we move upward.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Lower layers: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rarer (hot air).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Upper layers: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denser (cool air).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Mirage in a Desert (Continued)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61008816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ctr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4. Path of Light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Light ray from the top of a tree travels from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denser to rarer layers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and bends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away from the normal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at each refraction.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The bending continues until the angle of refraction becomes 90</a:t>
            </a:r>
            <a:r>
              <a:rPr lang="en-US" sz="5000" dirty="0">
                <a:solidFill>
                  <a:srgbClr val="FFFFFF"/>
                </a:solidFill>
                <a:latin typeface="Arial"/>
                <a:cs typeface="Noto Sans Devanagari"/>
                <a:ea typeface="Noto Sans Devanagari"/>
              </a:rPr>
              <a:t>°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(light travels parallel to the ground).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Beyond this stage, the ray suffers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total internal reflection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instead of refraction.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5. Formation of Mirage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The reflected ray now travels upward, bending towards the normal while passing from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rarer to denser layers.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When this ray reaches the observer's eye, it appears to come from the ground.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Thus, the observer sees an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inverted image of the tree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, giving the illusion of a pool of water.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Refraction of Light through a rectangular Glass Block/Slab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61008816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ctr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Phenomenon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A ray of light entering a rectangular glass slab undergoes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two refractions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– one on entering, one on leaving – and emerges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parallel to its original direction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but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laterally displaced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Steps of Refraction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The ray enters the glass from air </a:t>
            </a:r>
            <a:r>
              <a:rPr lang="en-US" sz="5000" dirty="0">
                <a:solidFill>
                  <a:srgbClr val="FFFFFF"/>
                </a:solidFill>
                <a:latin typeface="Arial"/>
                <a:cs typeface="Noto Sans Devanagari"/>
                <a:ea typeface="Noto Sans Devanagari"/>
              </a:rPr>
              <a:t>→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bends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towards the normal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(because glass is denser).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The ray travels straight inside the slab.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The ray emerges from glass to air </a:t>
            </a:r>
            <a:r>
              <a:rPr lang="en-US" sz="5000" dirty="0">
                <a:solidFill>
                  <a:srgbClr val="FFFFFF"/>
                </a:solidFill>
                <a:latin typeface="Arial"/>
                <a:cs typeface="Noto Sans Devanagari"/>
                <a:ea typeface="Noto Sans Devanagari"/>
              </a:rPr>
              <a:t>→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bends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away from the normal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The emergent ray is </a:t>
            </a: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parallel</a:t>
            </a: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 to the incident ray but shifted sideways (lateral displacement).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Key Observations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61008816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ctr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Incident ray and emergent ray are parallel.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Lateral shift depends on thickness of slab and angle of incidence.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b="1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Key Line for Students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In a rectangular glass slab, the emergent ray is parallel but laterally displaced from the incident ray.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The sun is seen about 2 minutes earlier at sunrise and about 2 minutes later at sunset due to: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Atmospheric scattering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Apparent shift of sun's position because of refraction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Rotation of Earth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Optical illusion only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During sunrise and sunset, light from the sun bends: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Towards the normal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Away from the normal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Along the tangent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 at all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In a desert, air near the ground is: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Cooler and denser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Hotter and rarer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Hotter and denser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Same as upper air layers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The inverted image of a tree in a mirage is seen because of: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Dispersion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Internal Reflection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Diffraction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Shadow formation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When a ray of light passes through a rectangular glass slab, it: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Deviates from its path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Emerges parallel to the incident ray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Emerges perpendicular to the incident ray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Shows dispersion of colours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In a glass slab, the angle of incidence is equal to the angle of: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Refraction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Emergence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Deviation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Prism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61008816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t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A prism is a transparent medium bounded by five plane surfaces with a triangular cross section.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Two opposite surfaces of prism are identical and parallel triangles, while the other three surfaces are rectangular and inclined on each other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Refraction of light through a prism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33554848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t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1. Entry of Light into Prism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When a ray of light enters a glass prism from air, it bends towards the normal because glass is denser than air.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This is the first refraction.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2. Inside the Prism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The light travels inside the prism in a straight line.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3. Emergence of Light from Prism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When the ray comes out of the prism (from glass to air), it bends away from the normal, because air is rarer than glass.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This is the second refraction.</a:t>
            </a:r>
          </a:p>
        </p:txBody>
      </p:sp>
      <p:pic>
        <p:nvPicPr>
          <p:cNvPr id="9" name="slide_020_1_enhanc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2584954" y="52075952"/>
            <a:ext cx="41134092" cy="27133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Refraction of light through a prism (Continued)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61008816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ctr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4. Deviation of Light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After both refractions, the emergent ray is in a different direction compared to the incident ray.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The angle between the incident ray and the emergent ray is called the Angle of Deviation (D).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Dispersion of White Light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33554848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t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Newton's Experiment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White light from the sun was allowed to enter a dark room through a small aperture in a window.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A glass prism was placed in the path of this light.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The light coming out of the prism was received on a white screen.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2. Observation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A coloured patch like a rainbow appeared on the screen.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This coloured band was called the spectrum.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3. Order of Colours in Spectrum (VIBGYOR)</a:t>
            </a:r>
          </a:p>
        </p:txBody>
      </p:sp>
      <p:pic>
        <p:nvPicPr>
          <p:cNvPr id="9" name="slide_022_1_enhanc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1498432" y="52075952"/>
            <a:ext cx="43307135" cy="27133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5"/>
          <p:cNvSpPr/>
          <p:nvPr/>
        </p:nvSpPr>
        <p:spPr>
          <a:xfrm>
            <a:off x="1839020" y="976840"/>
            <a:ext cx="126399760" cy="2748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30;p25"/>
          <p:cNvSpPr/>
          <p:nvPr/>
        </p:nvSpPr>
        <p:spPr>
          <a:xfrm>
            <a:off x="640768" y="512064"/>
            <a:ext cx="3678212" cy="3678212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1;p25"/>
          <p:cNvSpPr txBox="1"/>
          <p:nvPr/>
        </p:nvSpPr>
        <p:spPr>
          <a:xfrm>
            <a:off x="4973184" y="1566340"/>
            <a:ext cx="125833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6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Dispersion of White Light (Continued)</a:t>
            </a:r>
            <a:endParaRPr sz="1600"/>
          </a:p>
        </p:txBody>
      </p:sp>
      <p:sp>
        <p:nvSpPr>
          <p:cNvPr id="5" name="Google Shape;132;p25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6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92" y="860788"/>
            <a:ext cx="2980764" cy="29807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BodyText"/>
          <p:cNvSpPr txBox="1"/>
          <p:nvPr/>
        </p:nvSpPr>
        <p:spPr>
          <a:xfrm>
            <a:off x="3657600" y="18361104"/>
            <a:ext cx="138988800" cy="61008816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182880" bIns="182880" anchor="ctr">
            <a:normAutofit/>
          </a:bodyPr>
          <a:lstStyle/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4. Definition of Spectrum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Spectrum is the coloured band obtained on a screen when white light passes through a prism.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5. Conclusion by Newton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White light is a mixture of seven colours.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Prism does not produce colours; it only separates the colours already present in white light.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6. Dispersion of Light</a:t>
            </a:r>
          </a:p>
          <a:p>
            <a:pPr algn="l" indent="0" marL="0">
              <a:lnSpc>
                <a:spcPct val="150000"/>
              </a:lnSpc>
            </a:pPr>
            <a:r>
              <a:rPr lang="en-US" sz="5000" dirty="0">
                <a:solidFill>
                  <a:srgbClr val="FFFFFF"/>
                </a:solidFill>
                <a:latin typeface="Cambria"/>
                <a:cs typeface="Noto Sans Devanagari"/>
                <a:ea typeface="Noto Sans Devanagari"/>
              </a:rPr>
              <a:t>The splitting of white light into its seven constituent colours on passing through a prism is called dispersion of light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A prism is usually made of: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Wood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Glass or Plastic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Metal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Stone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When a ray of light enters a prism from air, it bends: 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Away from the normal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Towards the normal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Does not bend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Parallel to the normal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The angle between the incident ray and the emergent ray in a prism is called: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Angle of Prism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Angle of Reflection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Angle of Refraction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Angle of Deviation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The splitting of white light into seven colours by a prism is called: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Dispersion of Light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Reflection of Light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Reflection of Light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Diffraction of Light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p26"/>
          <p:cNvSpPr txBox="1"/>
          <p:nvPr/>
        </p:nvSpPr>
        <p:spPr>
          <a:xfrm>
            <a:off x="1004896" y="2685092"/>
            <a:ext cx="13898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The sequence of colours in the spectrum obtained from a prism is remembered by: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C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40;p26"/>
          <p:cNvSpPr txBox="1"/>
          <p:nvPr/>
        </p:nvSpPr>
        <p:spPr>
          <a:xfrm>
            <a:off x="3213676" y="589567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UV Rays</a:t>
            </a:r>
            <a:endParaRPr sz="1600"/>
          </a:p>
        </p:txBody>
      </p:sp>
      <p:sp>
        <p:nvSpPr>
          <p:cNvPr id="4" name="Google Shape;141;p26"/>
          <p:cNvSpPr/>
          <p:nvPr/>
        </p:nvSpPr>
        <p:spPr>
          <a:xfrm>
            <a:off x="1004896" y="565101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1070200" y="584951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sz="1600"/>
          </a:p>
        </p:txBody>
      </p:sp>
      <p:sp>
        <p:nvSpPr>
          <p:cNvPr id="6" name="Google Shape;143;p26"/>
          <p:cNvSpPr txBox="1"/>
          <p:nvPr/>
        </p:nvSpPr>
        <p:spPr>
          <a:xfrm>
            <a:off x="3213676" y="801302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CMYK</a:t>
            </a:r>
            <a:endParaRPr sz="1600"/>
          </a:p>
        </p:txBody>
      </p:sp>
      <p:sp>
        <p:nvSpPr>
          <p:cNvPr id="7" name="Google Shape;144;p26"/>
          <p:cNvSpPr/>
          <p:nvPr/>
        </p:nvSpPr>
        <p:spPr>
          <a:xfrm>
            <a:off x="1004896" y="776835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5;p26"/>
          <p:cNvSpPr txBox="1"/>
          <p:nvPr/>
        </p:nvSpPr>
        <p:spPr>
          <a:xfrm>
            <a:off x="1070200" y="796686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sz="1600"/>
          </a:p>
        </p:txBody>
      </p:sp>
      <p:sp>
        <p:nvSpPr>
          <p:cNvPr id="9" name="Google Shape;146;p26"/>
          <p:cNvSpPr txBox="1"/>
          <p:nvPr/>
        </p:nvSpPr>
        <p:spPr>
          <a:xfrm>
            <a:off x="3213676" y="10130360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RCB</a:t>
            </a:r>
            <a:endParaRPr sz="1600"/>
          </a:p>
        </p:txBody>
      </p:sp>
      <p:sp>
        <p:nvSpPr>
          <p:cNvPr id="10" name="Google Shape;147;p26"/>
          <p:cNvSpPr/>
          <p:nvPr/>
        </p:nvSpPr>
        <p:spPr>
          <a:xfrm>
            <a:off x="1004896" y="988569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8;p26"/>
          <p:cNvSpPr txBox="1"/>
          <p:nvPr/>
        </p:nvSpPr>
        <p:spPr>
          <a:xfrm>
            <a:off x="1070200" y="10084200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sz="1600"/>
          </a:p>
        </p:txBody>
      </p:sp>
      <p:sp>
        <p:nvSpPr>
          <p:cNvPr id="12" name="Google Shape;149;p26"/>
          <p:cNvSpPr txBox="1"/>
          <p:nvPr/>
        </p:nvSpPr>
        <p:spPr>
          <a:xfrm>
            <a:off x="3213676" y="12247696"/>
            <a:ext cx="136780020" cy="159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VIBGYOR</a:t>
            </a:r>
            <a:endParaRPr sz="1600"/>
          </a:p>
        </p:txBody>
      </p:sp>
      <p:sp>
        <p:nvSpPr>
          <p:cNvPr id="13" name="Google Shape;150;p26"/>
          <p:cNvSpPr/>
          <p:nvPr/>
        </p:nvSpPr>
        <p:spPr>
          <a:xfrm>
            <a:off x="1004896" y="12003032"/>
            <a:ext cx="1597340" cy="1597340"/>
          </a:xfrm>
          <a:prstGeom prst="ellipse">
            <a:avLst/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1;p26"/>
          <p:cNvSpPr txBox="1"/>
          <p:nvPr/>
        </p:nvSpPr>
        <p:spPr>
          <a:xfrm>
            <a:off x="1070200" y="12201536"/>
            <a:ext cx="1466724" cy="120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sz="1600"/>
          </a:p>
        </p:txBody>
      </p:sp>
      <p:sp>
        <p:nvSpPr>
          <p:cNvPr id="15" name="Google Shape;152;p26"/>
          <p:cNvSpPr/>
          <p:nvPr/>
        </p:nvSpPr>
        <p:spPr>
          <a:xfrm>
            <a:off x="-1899136" y="630268"/>
            <a:ext cx="7788952" cy="156966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2501B"/>
              </a:gs>
              <a:gs pos="40000">
                <a:srgbClr val="12501B"/>
              </a:gs>
              <a:gs pos="80000">
                <a:srgbClr val="0C3512"/>
              </a:gs>
              <a:gs pos="100000">
                <a:srgbClr val="0C3512"/>
              </a:gs>
            </a:gsLst>
            <a:lin ang="5400000" scaled="0"/>
          </a:gradFill>
          <a:ln cap="flat" cmpd="sng" w="203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3;p26"/>
          <p:cNvSpPr txBox="1"/>
          <p:nvPr/>
        </p:nvSpPr>
        <p:spPr>
          <a:xfrm>
            <a:off x="1004892" y="907264"/>
            <a:ext cx="4562192" cy="101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</a:t>
            </a:r>
            <a:endParaRPr sz="1600"/>
          </a:p>
        </p:txBody>
      </p:sp>
      <p:sp>
        <p:nvSpPr>
          <p:cNvPr id="17" name="Google Shape;154;p26"/>
          <p:cNvSpPr/>
          <p:nvPr/>
        </p:nvSpPr>
        <p:spPr>
          <a:xfrm rot="10800000">
            <a:off x="33588960" y="-120444"/>
            <a:ext cx="2346272" cy="3256444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 cap="flat" cmpd="sng" w="762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circle with a black letter in it&#10;&#10;AI-generated content may be incorrect." id="18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2708" y="872172"/>
            <a:ext cx="1878772" cy="18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