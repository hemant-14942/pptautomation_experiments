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  <p:sldId id="289" r:id="rId57"/>
    <p:sldId id="290" r:id="rId58"/>
    <p:sldId id="291" r:id="rId59"/>
    <p:sldId id="292" r:id="rId60"/>
    <p:sldId id="293" r:id="rId61"/>
    <p:sldId id="294" r:id="rId62"/>
    <p:sldId id="295" r:id="rId63"/>
    <p:sldId id="296" r:id="rId64"/>
    <p:sldId id="297" r:id="rId65"/>
    <p:sldId id="298" r:id="rId66"/>
  </p:sldIdLst>
  <p:sldSz cx="36576000" cy="20574000"/>
  <p:notesSz cx="6858000" cy="9144000"/>
  <p:embeddedFontLst>
    <p:embeddedFont>
      <p:font typeface="Cambria" panose="02040503050406030204" pitchFamily="18" charset="0"/>
      <p:regular r:id="rId10"/>
      <p:bold r:id="rId11"/>
      <p:italic r:id="rId12"/>
      <p:boldItalic r:id="rId13"/>
    </p:embeddedFont>
    <p:embeddedFont>
      <p:font typeface="Play" panose="020B0604020202020204" charset="0"/>
      <p:regular r:id="rId14"/>
      <p:bold r:id="rId15"/>
    </p:embeddedFont>
    <p:embeddedFont>
      <p:font typeface="Poppins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64">
          <p15:clr>
            <a:srgbClr val="A4A3A4"/>
          </p15:clr>
        </p15:guide>
        <p15:guide id="2" pos="552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TXF3oIDNHmtEeAXsM8Of30ZXp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490" y="101"/>
      </p:cViewPr>
      <p:guideLst>
        <p:guide orient="horz" pos="12264"/>
        <p:guide pos="5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16" Type="http://schemas.openxmlformats.org/officeDocument/2006/relationships/font" Target="fonts/font7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11" Type="http://schemas.openxmlformats.org/officeDocument/2006/relationships/font" Target="fonts/font2.fntdata"/><Relationship Id="rId15" Type="http://schemas.openxmlformats.org/officeDocument/2006/relationships/font" Target="fonts/font6.fntdata"/><Relationship Id="rId28" Type="http://schemas.openxmlformats.org/officeDocument/2006/relationships/presProps" Target="pres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31" Type="http://schemas.openxmlformats.org/officeDocument/2006/relationships/tableStyles" Target="tableStyles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7" Type="http://customschemas.google.com/relationships/presentationmetadata" Target="metadata"/><Relationship Id="rId30" Type="http://schemas.openxmlformats.org/officeDocument/2006/relationships/theme" Target="theme/theme1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Relationship Id="rId38" Type="http://schemas.openxmlformats.org/officeDocument/2006/relationships/slide" Target="slides/slide7.xml"/><Relationship Id="rId39" Type="http://schemas.openxmlformats.org/officeDocument/2006/relationships/slide" Target="slides/slide8.xml"/><Relationship Id="rId40" Type="http://schemas.openxmlformats.org/officeDocument/2006/relationships/slide" Target="slides/slide9.xml"/><Relationship Id="rId41" Type="http://schemas.openxmlformats.org/officeDocument/2006/relationships/slide" Target="slides/slide10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4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48" Type="http://schemas.openxmlformats.org/officeDocument/2006/relationships/slide" Target="slides/slide17.xml"/><Relationship Id="rId49" Type="http://schemas.openxmlformats.org/officeDocument/2006/relationships/slide" Target="slides/slide18.xml"/><Relationship Id="rId50" Type="http://schemas.openxmlformats.org/officeDocument/2006/relationships/slide" Target="slides/slide19.xml"/><Relationship Id="rId51" Type="http://schemas.openxmlformats.org/officeDocument/2006/relationships/slide" Target="slides/slide20.xml"/><Relationship Id="rId52" Type="http://schemas.openxmlformats.org/officeDocument/2006/relationships/slide" Target="slides/slide21.xml"/><Relationship Id="rId53" Type="http://schemas.openxmlformats.org/officeDocument/2006/relationships/slide" Target="slides/slide22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Relationship Id="rId58" Type="http://schemas.openxmlformats.org/officeDocument/2006/relationships/slide" Target="slides/slide27.xml"/><Relationship Id="rId59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>
            <a:spLocks noGrp="1"/>
          </p:cNvSpPr>
          <p:nvPr>
            <p:ph type="ctrTitle"/>
          </p:nvPr>
        </p:nvSpPr>
        <p:spPr>
          <a:xfrm>
            <a:off x="4572000" y="3367089"/>
            <a:ext cx="27432000" cy="7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ubTitle" idx="1"/>
          </p:nvPr>
        </p:nvSpPr>
        <p:spPr>
          <a:xfrm>
            <a:off x="4572000" y="10806114"/>
            <a:ext cx="27432000" cy="4967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/>
            </a:lvl1pPr>
            <a:lvl2pPr lvl="1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/>
            </a:lvl2pPr>
            <a:lvl3pPr lvl="2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/>
            </a:lvl3pPr>
            <a:lvl4pPr lvl="3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lvl="4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lvl="5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lvl="6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lvl="7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lvl="8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0"/>
          <p:cNvSpPr txBox="1">
            <a:spLocks noGrp="1"/>
          </p:cNvSpPr>
          <p:nvPr>
            <p:ph type="title"/>
          </p:nvPr>
        </p:nvSpPr>
        <p:spPr>
          <a:xfrm>
            <a:off x="2495550" y="5129216"/>
            <a:ext cx="31546800" cy="8558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1"/>
          </p:nvPr>
        </p:nvSpPr>
        <p:spPr>
          <a:xfrm>
            <a:off x="2495550" y="13768391"/>
            <a:ext cx="31546800" cy="450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rgbClr val="757575"/>
              </a:buClr>
              <a:buSzPts val="7200"/>
              <a:buNone/>
              <a:defRPr sz="72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6000"/>
              <a:buNone/>
              <a:defRPr sz="6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5400"/>
              <a:buNone/>
              <a:defRPr sz="5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18516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2"/>
          <p:cNvSpPr txBox="1">
            <a:spLocks noGrp="1"/>
          </p:cNvSpPr>
          <p:nvPr>
            <p:ph type="title"/>
          </p:nvPr>
        </p:nvSpPr>
        <p:spPr>
          <a:xfrm>
            <a:off x="2519364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1"/>
          </p:nvPr>
        </p:nvSpPr>
        <p:spPr>
          <a:xfrm>
            <a:off x="2519366" y="5043489"/>
            <a:ext cx="15473361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2"/>
          </p:nvPr>
        </p:nvSpPr>
        <p:spPr>
          <a:xfrm>
            <a:off x="2519366" y="7515225"/>
            <a:ext cx="15473361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3"/>
          </p:nvPr>
        </p:nvSpPr>
        <p:spPr>
          <a:xfrm>
            <a:off x="18516600" y="5043489"/>
            <a:ext cx="15549564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4"/>
          </p:nvPr>
        </p:nvSpPr>
        <p:spPr>
          <a:xfrm>
            <a:off x="18516600" y="7515225"/>
            <a:ext cx="15549564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body" idx="1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8382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1pPr>
            <a:lvl2pPr marL="914400" lvl="1" indent="-7620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8400"/>
              <a:buChar char="•"/>
              <a:defRPr sz="8400"/>
            </a:lvl2pPr>
            <a:lvl3pPr marL="1371600" lvl="2" indent="-685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Char char="•"/>
              <a:defRPr sz="7200"/>
            </a:lvl3pPr>
            <a:lvl4pPr marL="1828800" lvl="3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4pPr>
            <a:lvl5pPr marL="2286000" lvl="4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5pPr>
            <a:lvl6pPr marL="2743200" lvl="5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6pPr>
            <a:lvl7pPr marL="3200400" lvl="6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7pPr>
            <a:lvl8pPr marL="3657600" lvl="7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8pPr>
            <a:lvl9pPr marL="4114800" lvl="8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body" idx="2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>
            <a:spLocks noGrp="1"/>
          </p:cNvSpPr>
          <p:nvPr>
            <p:ph type="pic" idx="2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5"/>
          <p:cNvSpPr txBox="1">
            <a:spLocks noGrp="1"/>
          </p:cNvSpPr>
          <p:nvPr>
            <p:ph type="body" idx="1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body" idx="1"/>
          </p:nvPr>
        </p:nvSpPr>
        <p:spPr>
          <a:xfrm rot="5400000">
            <a:off x="11760993" y="-3769518"/>
            <a:ext cx="13054014" cy="315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7"/>
          <p:cNvSpPr txBox="1">
            <a:spLocks noGrp="1"/>
          </p:cNvSpPr>
          <p:nvPr>
            <p:ph type="title"/>
          </p:nvPr>
        </p:nvSpPr>
        <p:spPr>
          <a:xfrm rot="5400000">
            <a:off x="21400293" y="5869782"/>
            <a:ext cx="1743551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 rot="5400000">
            <a:off x="5398293" y="-1788318"/>
            <a:ext cx="17435514" cy="232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Play"/>
              <a:buNone/>
              <a:defRPr sz="132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62000" algn="l" rtl="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8400"/>
              <a:buFont typeface="Arial"/>
              <a:buChar char="•"/>
              <a:defRPr sz="8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85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Char char="•"/>
              <a:defRPr sz="7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6096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Char char="•"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15" name="Google Shape;15;p16"/>
          <p:cNvGrpSpPr/>
          <p:nvPr/>
        </p:nvGrpSpPr>
        <p:grpSpPr>
          <a:xfrm>
            <a:off x="33712347" y="-2"/>
            <a:ext cx="2057358" cy="2669535"/>
            <a:chOff x="11306724" y="96065"/>
            <a:chExt cx="685786" cy="889845"/>
          </a:xfrm>
        </p:grpSpPr>
        <p:sp>
          <p:nvSpPr>
            <p:cNvPr id="16" name="Google Shape;16;p16"/>
            <p:cNvSpPr/>
            <p:nvPr/>
          </p:nvSpPr>
          <p:spPr>
            <a:xfrm rot="10800000" flipH="1">
              <a:off x="11306724" y="96065"/>
              <a:ext cx="685786" cy="88984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50800" dist="38100" dir="5400000" algn="t" rotWithShape="0">
                <a:srgbClr val="000000">
                  <a:alpha val="69411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00"/>
                <a:buFont typeface="Arial"/>
                <a:buNone/>
              </a:pPr>
              <a:endParaRPr sz="16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" name="Google Shape;17;p16"/>
            <p:cNvPicPr preferRelativeResize="0"/>
            <p:nvPr/>
          </p:nvPicPr>
          <p:blipFill rotWithShape="1">
            <a:blip r:embed="rId14">
              <a:alphaModFix/>
            </a:blip>
            <a:srcRect l="8081" t="7836" r="10621" b="9836"/>
            <a:stretch/>
          </p:blipFill>
          <p:spPr>
            <a:xfrm>
              <a:off x="11373763" y="365125"/>
              <a:ext cx="551707" cy="546550"/>
            </a:xfrm>
            <a:prstGeom prst="ellipse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Specific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Magnetic induction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Ampere mete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r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intensity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Weber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flux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Gauss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Ampere 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3. Electric field in a certain region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acc>
                      <m:accPr>
                        <m:chr m:val="⃗"/>
                      </m:acc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</m:ac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x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i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B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y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3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j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E⃗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( A/(x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î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B/(y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ĵ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SI unit of A and B are: [30 Jan, 2023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4. Match List-I with List-II. [27 Aug, 2021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H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R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H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(Rydberg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h (Planck's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μ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B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μ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B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(Magnetic field energy density)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(coefficient of viscosity)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5. If E and H represents the intensity of electric field and magnetising field respectively, then the unit of E/H will be: [27 Aug, 2021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Joule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Newton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Ohm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Mho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6. The density of a material in SI units is 128 kg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In certain units in which the unit of length is 25 cm and the unit of mass 50 g, the numerical value of density of the material is [10 Jan, 2019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410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7.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f>
                          <m:fPr/>
                          <m:num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equal to that of: (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permeability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permittivity) [07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Voltage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Capacitance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Inductance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Resistance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8. Match List-I with List-II. [07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Mass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9. Match the LIST-I with LIST-II [03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Boltzmann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10. Given a charge q, current I and permeability of vacuum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Which of the following quantity has the dimension of momentum?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qI/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qI/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q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11.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are the permeability and permittivity of free space, respectively, then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1</m:t>
                            </m:r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 </m:t>
                            </m:r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( 1/(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/L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12. If B is magnetic field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permeability of free space, then the dimensions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(B/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)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(B/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is: [22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A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13. Which one of the following is the correct dimensional formula for the capacitance in F? M, L, T and C stand for unit of mass, length, time and charge: [22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14. The position of a particle moving on x-axis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x(t) = A </m:t>
                    </m:r>
                    <m:func>
                      <m:funcPr/>
                      <m:fName>
                        <m:r>
                          <m:rPr>
                            <m:sty m:val="p"/>
                          </m:rP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sin</m:t>
                        </m:r>
                      </m:fName>
                      <m:e/>
                    </m:fun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B </m:t>
                    </m:r>
                    <m:sSup>
                      <m:sSupPr/>
                      <m:e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cos</m:t>
                            </m:r>
                          </m:fName>
                          <m:e/>
                        </m:func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D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x(t) = A sin t + B cos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+ Ct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t is time.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ABC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D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ABC/D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[23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15. Match List - I with List - II. [23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(B)-(IV), (C)-(II),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Torsional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A]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16. The energy E and momentum p of a moving body of mass m are related by some equation. Given that c represents the speed of light, identify the correct equation [24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EBAFB25-DD5B-F566-A866-26C1351F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>
            <a:extLst>
              <a:ext uri="{FF2B5EF4-FFF2-40B4-BE49-F238E27FC236}">
                <a16:creationId xmlns:a16="http://schemas.microsoft.com/office/drawing/2014/main" id="{85CA81A3-3D37-1665-DB9A-D7056E0817FB}"/>
              </a:ext>
            </a:extLst>
          </p:cNvPr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17. In a measurement, it is asked to find modulus of elasticity per unit torque applied on the system. The measured quantity has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b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c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If b = 3, the value of c is ______. [28 Jan, 2025 (Shift-I)]</a:t>
            </a:r>
          </a:p>
        </p:txBody>
      </p:sp>
      <p:sp>
        <p:nvSpPr>
          <p:cNvPr id="3" name="Google Shape;131;p29">
            <a:extLst>
              <a:ext uri="{FF2B5EF4-FFF2-40B4-BE49-F238E27FC236}">
                <a16:creationId xmlns:a16="http://schemas.microsoft.com/office/drawing/2014/main" id="{9946FC45-E036-803C-1844-E619C8A31E32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Google Shape;132;p29">
            <a:extLst>
              <a:ext uri="{FF2B5EF4-FFF2-40B4-BE49-F238E27FC236}">
                <a16:creationId xmlns:a16="http://schemas.microsoft.com/office/drawing/2014/main" id="{B860A868-BB48-C17E-EDC8-5065AECEE0FB}"/>
              </a:ext>
            </a:extLst>
          </p:cNvPr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150632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18. Match List-I with List-II. [28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Electrical resistivity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Electromotive force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19. The pair of physical quantities not having same dimensions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and Young's modulus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Surface tension and impulse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Angular momentum and Planck's constant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Torque and energy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20. The expression given below shows the variation of velocity (v) with time (t),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v =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Bt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C+t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v = At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Bt/(C+t)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dimension of ABC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21.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(B)-(IV),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Gravitational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22. The dimensional formula of latent heat is: [09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23.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the permittivity of free space and E is the electric field, then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has the dimensions: [08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A]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A]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24. Given below are two statements: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(I): Dimensions of specific heat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(II): Dimensions of gas constant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[06 April,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incorrect but statement (II) is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correct but statement (II) is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25. Match List I with List II [06 April,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26. What is the dimensional formula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in the equation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P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V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(V-b) = RT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P + a/(V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)(V-b) = RT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letters have their usual meaning.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5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5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7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7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27. If G be the gravitational constant and u be the energy then which of the following quantity have the dimension as that the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uG</m:t>
                        </m:r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uG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: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gradient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Force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Gravitational potential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Energy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28. The dimensional formula of angular impulse is: [1 Feb,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29. Given below are two statements: [27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Statement-I: Planck's constant and angular momentum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Statement-II: Linear momentum and moment of force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 the light of the above statements, 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true but Statement-II is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false but Statement-II is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30. Match List-I with List-II. [30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Rotational kinetic energy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[25 Jan, 2023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 (h)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Work Function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φ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φ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32. Match List-I with List-II: [29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 (Physical Quantity)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 (Dimensional Formula)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Energy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33. Match List-I with List-II [25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C-(II), D-(I)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A-(III), B-(IV),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A-(II), B-(I), C-(III), D-(IV)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Pressure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34. Match List-I with List-II [12 April,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Spring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Angular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35. Match List-I with List-II. [31 Jan, 2023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B-IV,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Stress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364</Words>
  <Application>Microsoft Office PowerPoint</Application>
  <PresentationFormat>Custom</PresentationFormat>
  <Paragraphs>125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Cambria</vt:lpstr>
      <vt:lpstr>Calibri</vt:lpstr>
      <vt:lpstr>Arial</vt:lpstr>
      <vt:lpstr>Wingdings</vt:lpstr>
      <vt:lpstr>Poppins</vt:lpstr>
      <vt:lpstr>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PW MSO 530</dc:creator>
  <cp:lastModifiedBy>e.wilson4890@gmail.com</cp:lastModifiedBy>
  <cp:revision>5</cp:revision>
  <dcterms:created xsi:type="dcterms:W3CDTF">2025-02-10T10:24:55Z</dcterms:created>
  <dcterms:modified xsi:type="dcterms:W3CDTF">2026-07-31T10:45:07Z</dcterms:modified>
</cp:coreProperties>
</file>