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64" r:id="rId25"/>
    <p:sldId id="265" r:id="rId26"/>
    <p:sldId id="266" r:id="rId27"/>
    <p:sldId id="267" r:id="rId28"/>
    <p:sldId id="268" r:id="rId29"/>
    <p:sldId id="269" r:id="rId30"/>
    <p:sldId id="270" r:id="rId31"/>
    <p:sldId id="271" r:id="rId32"/>
    <p:sldId id="272" r:id="rId33"/>
    <p:sldId id="273" r:id="rId34"/>
    <p:sldId id="274" r:id="rId35"/>
    <p:sldId id="275" r:id="rId36"/>
    <p:sldId id="276" r:id="rId37"/>
    <p:sldId id="277" r:id="rId38"/>
    <p:sldId id="278" r:id="rId39"/>
    <p:sldId id="279" r:id="rId40"/>
    <p:sldId id="280" r:id="rId41"/>
    <p:sldId id="281" r:id="rId42"/>
    <p:sldId id="282" r:id="rId43"/>
    <p:sldId id="283" r:id="rId44"/>
    <p:sldId id="284" r:id="rId45"/>
    <p:sldId id="285" r:id="rId46"/>
    <p:sldId id="286" r:id="rId47"/>
    <p:sldId id="287" r:id="rId48"/>
    <p:sldId id="288" r:id="rId49"/>
    <p:sldId id="289" r:id="rId50"/>
    <p:sldId id="290" r:id="rId51"/>
    <p:sldId id="291" r:id="rId52"/>
    <p:sldId id="292" r:id="rId53"/>
    <p:sldId id="293" r:id="rId54"/>
    <p:sldId id="294" r:id="rId55"/>
    <p:sldId id="295" r:id="rId56"/>
    <p:sldId id="296" r:id="rId57"/>
    <p:sldId id="297" r:id="rId58"/>
    <p:sldId id="298" r:id="rId59"/>
  </p:sldIdLst>
  <p:sldSz cx="36576000" cy="20574000"/>
  <p:notesSz cx="6858000" cy="9144000"/>
  <p:embeddedFontLst>
    <p:embeddedFont>
      <p:font typeface="Cambria" panose="02040503050406030204" pitchFamily="18" charset="0"/>
      <p:regular r:id="rId10"/>
      <p:bold r:id="rId11"/>
      <p:italic r:id="rId12"/>
      <p:boldItalic r:id="rId13"/>
    </p:embeddedFont>
    <p:embeddedFont>
      <p:font typeface="Play" panose="020B0604020202020204" charset="0"/>
      <p:regular r:id="rId14"/>
      <p:bold r:id="rId15"/>
    </p:embeddedFont>
    <p:embeddedFont>
      <p:font typeface="Poppins" panose="000005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2264">
          <p15:clr>
            <a:srgbClr val="A4A3A4"/>
          </p15:clr>
        </p15:guide>
        <p15:guide id="2" pos="552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0" roundtripDataSignature="AMtx7mjPM40VdYJhqhmEoQ7Nos2Fch/Y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31FD818-33D0-4644-BCFC-9FF504466488}">
  <a:tblStyle styleId="{B31FD818-33D0-4644-BCFC-9FF504466488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tcBdr/>
        <a:fill>
          <a:solidFill>
            <a:srgbClr val="CAD1D8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1D8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7" d="100"/>
          <a:sy n="27" d="100"/>
        </p:scale>
        <p:origin x="906" y="90"/>
      </p:cViewPr>
      <p:guideLst>
        <p:guide orient="horz" pos="12264"/>
        <p:guide pos="5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1" Type="http://schemas.openxmlformats.org/officeDocument/2006/relationships/presProps" Target="presProps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16" Type="http://schemas.openxmlformats.org/officeDocument/2006/relationships/font" Target="fonts/font7.fntdata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11" Type="http://schemas.openxmlformats.org/officeDocument/2006/relationships/font" Target="fonts/font2.fntdata"/><Relationship Id="rId24" Type="http://schemas.openxmlformats.org/officeDocument/2006/relationships/tableStyles" Target="tableStyles.xml"/><Relationship Id="rId15" Type="http://schemas.openxmlformats.org/officeDocument/2006/relationships/font" Target="fonts/font6.fntdata"/><Relationship Id="rId23" Type="http://schemas.openxmlformats.org/officeDocument/2006/relationships/theme" Target="theme/theme1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viewProps" Target="viewProps.xml"/><Relationship Id="rId25" Type="http://schemas.openxmlformats.org/officeDocument/2006/relationships/slide" Target="slides/slide1.xml"/><Relationship Id="rId26" Type="http://schemas.openxmlformats.org/officeDocument/2006/relationships/slide" Target="slides/slide2.xml"/><Relationship Id="rId27" Type="http://schemas.openxmlformats.org/officeDocument/2006/relationships/slide" Target="slides/slide3.xml"/><Relationship Id="rId28" Type="http://schemas.openxmlformats.org/officeDocument/2006/relationships/slide" Target="slides/slide4.xml"/><Relationship Id="rId29" Type="http://schemas.openxmlformats.org/officeDocument/2006/relationships/slide" Target="slides/slide5.xml"/><Relationship Id="rId30" Type="http://schemas.openxmlformats.org/officeDocument/2006/relationships/slide" Target="slides/slide6.xml"/><Relationship Id="rId31" Type="http://schemas.openxmlformats.org/officeDocument/2006/relationships/slide" Target="slides/slide7.xml"/><Relationship Id="rId32" Type="http://schemas.openxmlformats.org/officeDocument/2006/relationships/slide" Target="slides/slide8.xml"/><Relationship Id="rId33" Type="http://schemas.openxmlformats.org/officeDocument/2006/relationships/slide" Target="slides/slide9.xml"/><Relationship Id="rId34" Type="http://schemas.openxmlformats.org/officeDocument/2006/relationships/slide" Target="slides/slide10.xml"/><Relationship Id="rId35" Type="http://schemas.openxmlformats.org/officeDocument/2006/relationships/slide" Target="slides/slide11.xml"/><Relationship Id="rId36" Type="http://schemas.openxmlformats.org/officeDocument/2006/relationships/slide" Target="slides/slide12.xml"/><Relationship Id="rId37" Type="http://schemas.openxmlformats.org/officeDocument/2006/relationships/slide" Target="slides/slide13.xml"/><Relationship Id="rId38" Type="http://schemas.openxmlformats.org/officeDocument/2006/relationships/slide" Target="slides/slide14.xml"/><Relationship Id="rId39" Type="http://schemas.openxmlformats.org/officeDocument/2006/relationships/slide" Target="slides/slide15.xml"/><Relationship Id="rId40" Type="http://schemas.openxmlformats.org/officeDocument/2006/relationships/slide" Target="slides/slide16.xml"/><Relationship Id="rId41" Type="http://schemas.openxmlformats.org/officeDocument/2006/relationships/slide" Target="slides/slide17.xml"/><Relationship Id="rId42" Type="http://schemas.openxmlformats.org/officeDocument/2006/relationships/slide" Target="slides/slide18.xml"/><Relationship Id="rId43" Type="http://schemas.openxmlformats.org/officeDocument/2006/relationships/slide" Target="slides/slide19.xml"/><Relationship Id="rId44" Type="http://schemas.openxmlformats.org/officeDocument/2006/relationships/slide" Target="slides/slide20.xml"/><Relationship Id="rId45" Type="http://schemas.openxmlformats.org/officeDocument/2006/relationships/slide" Target="slides/slide21.xml"/><Relationship Id="rId46" Type="http://schemas.openxmlformats.org/officeDocument/2006/relationships/slide" Target="slides/slide22.xml"/><Relationship Id="rId47" Type="http://schemas.openxmlformats.org/officeDocument/2006/relationships/slide" Target="slides/slide23.xml"/><Relationship Id="rId48" Type="http://schemas.openxmlformats.org/officeDocument/2006/relationships/slide" Target="slides/slide24.xml"/><Relationship Id="rId49" Type="http://schemas.openxmlformats.org/officeDocument/2006/relationships/slide" Target="slides/slide25.xml"/><Relationship Id="rId50" Type="http://schemas.openxmlformats.org/officeDocument/2006/relationships/slide" Target="slides/slide26.xml"/><Relationship Id="rId51" Type="http://schemas.openxmlformats.org/officeDocument/2006/relationships/slide" Target="slides/slide27.xml"/><Relationship Id="rId52" Type="http://schemas.openxmlformats.org/officeDocument/2006/relationships/slide" Target="slides/slide28.xml"/><Relationship Id="rId53" Type="http://schemas.openxmlformats.org/officeDocument/2006/relationships/slide" Target="slides/slide29.xml"/><Relationship Id="rId54" Type="http://schemas.openxmlformats.org/officeDocument/2006/relationships/slide" Target="slides/slide30.xml"/><Relationship Id="rId55" Type="http://schemas.openxmlformats.org/officeDocument/2006/relationships/slide" Target="slides/slide31.xml"/><Relationship Id="rId56" Type="http://schemas.openxmlformats.org/officeDocument/2006/relationships/slide" Target="slides/slide32.xml"/><Relationship Id="rId57" Type="http://schemas.openxmlformats.org/officeDocument/2006/relationships/slide" Target="slides/slide33.xml"/><Relationship Id="rId58" Type="http://schemas.openxmlformats.org/officeDocument/2006/relationships/slide" Target="slides/slide34.xml"/><Relationship Id="rId59" Type="http://schemas.openxmlformats.org/officeDocument/2006/relationships/slide" Target="slides/slide3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 txBox="1">
            <a:spLocks noGrp="1"/>
          </p:cNvSpPr>
          <p:nvPr>
            <p:ph type="ctrTitle"/>
          </p:nvPr>
        </p:nvSpPr>
        <p:spPr>
          <a:xfrm>
            <a:off x="4572000" y="3367089"/>
            <a:ext cx="27432000" cy="71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subTitle" idx="1"/>
          </p:nvPr>
        </p:nvSpPr>
        <p:spPr>
          <a:xfrm>
            <a:off x="4572000" y="10806114"/>
            <a:ext cx="27432000" cy="4967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1pPr>
            <a:lvl2pPr lvl="1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/>
            </a:lvl2pPr>
            <a:lvl3pPr lvl="2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/>
            </a:lvl3pPr>
            <a:lvl4pPr lvl="3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4pPr>
            <a:lvl5pPr lvl="4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5pPr>
            <a:lvl6pPr lvl="5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6pPr>
            <a:lvl7pPr lvl="6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7pPr>
            <a:lvl8pPr lvl="7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8pPr>
            <a:lvl9pPr lvl="8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"/>
          <p:cNvSpPr txBox="1">
            <a:spLocks noGrp="1"/>
          </p:cNvSpPr>
          <p:nvPr>
            <p:ph type="title"/>
          </p:nvPr>
        </p:nvSpPr>
        <p:spPr>
          <a:xfrm>
            <a:off x="2495550" y="5129216"/>
            <a:ext cx="31546800" cy="8558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1"/>
          </p:nvPr>
        </p:nvSpPr>
        <p:spPr>
          <a:xfrm>
            <a:off x="2495550" y="13768391"/>
            <a:ext cx="31546800" cy="4500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rgbClr val="757575"/>
              </a:buClr>
              <a:buSzPts val="7200"/>
              <a:buNone/>
              <a:defRPr sz="72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6000"/>
              <a:buNone/>
              <a:defRPr sz="6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5400"/>
              <a:buNone/>
              <a:defRPr sz="54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2"/>
          </p:nvPr>
        </p:nvSpPr>
        <p:spPr>
          <a:xfrm>
            <a:off x="18516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2"/>
          <p:cNvSpPr txBox="1">
            <a:spLocks noGrp="1"/>
          </p:cNvSpPr>
          <p:nvPr>
            <p:ph type="title"/>
          </p:nvPr>
        </p:nvSpPr>
        <p:spPr>
          <a:xfrm>
            <a:off x="2519364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body" idx="1"/>
          </p:nvPr>
        </p:nvSpPr>
        <p:spPr>
          <a:xfrm>
            <a:off x="2519366" y="5043489"/>
            <a:ext cx="15473361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body" idx="2"/>
          </p:nvPr>
        </p:nvSpPr>
        <p:spPr>
          <a:xfrm>
            <a:off x="2519366" y="7515225"/>
            <a:ext cx="15473361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body" idx="3"/>
          </p:nvPr>
        </p:nvSpPr>
        <p:spPr>
          <a:xfrm>
            <a:off x="18516600" y="5043489"/>
            <a:ext cx="15549564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body" idx="4"/>
          </p:nvPr>
        </p:nvSpPr>
        <p:spPr>
          <a:xfrm>
            <a:off x="18516600" y="7515225"/>
            <a:ext cx="15549564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3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 txBox="1">
            <a:spLocks noGrp="1"/>
          </p:cNvSpPr>
          <p:nvPr>
            <p:ph type="body" idx="1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8382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1pPr>
            <a:lvl2pPr marL="914400" lvl="1" indent="-762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8400"/>
              <a:buChar char="•"/>
              <a:defRPr sz="8400"/>
            </a:lvl2pPr>
            <a:lvl3pPr marL="1371600" lvl="2" indent="-685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/>
            </a:lvl3pPr>
            <a:lvl4pPr marL="1828800" lvl="3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4pPr>
            <a:lvl5pPr marL="2286000" lvl="4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5pPr>
            <a:lvl6pPr marL="2743200" lvl="5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6pPr>
            <a:lvl7pPr marL="3200400" lvl="6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7pPr>
            <a:lvl8pPr marL="3657600" lvl="7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8pPr>
            <a:lvl9pPr marL="4114800" lvl="8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body" idx="2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>
            <a:spLocks noGrp="1"/>
          </p:cNvSpPr>
          <p:nvPr>
            <p:ph type="pic" idx="2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25"/>
          <p:cNvSpPr txBox="1">
            <a:spLocks noGrp="1"/>
          </p:cNvSpPr>
          <p:nvPr>
            <p:ph type="body" idx="1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body" idx="1"/>
          </p:nvPr>
        </p:nvSpPr>
        <p:spPr>
          <a:xfrm rot="5400000">
            <a:off x="11760993" y="-3769518"/>
            <a:ext cx="13054014" cy="315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7"/>
          <p:cNvSpPr txBox="1">
            <a:spLocks noGrp="1"/>
          </p:cNvSpPr>
          <p:nvPr>
            <p:ph type="title"/>
          </p:nvPr>
        </p:nvSpPr>
        <p:spPr>
          <a:xfrm rot="5400000">
            <a:off x="21400293" y="5869782"/>
            <a:ext cx="1743551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7"/>
          <p:cNvSpPr txBox="1">
            <a:spLocks noGrp="1"/>
          </p:cNvSpPr>
          <p:nvPr>
            <p:ph type="body" idx="1"/>
          </p:nvPr>
        </p:nvSpPr>
        <p:spPr>
          <a:xfrm rot="5400000">
            <a:off x="5398293" y="-1788318"/>
            <a:ext cx="17435514" cy="232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2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0"/>
              <a:buFont typeface="Play"/>
              <a:buNone/>
              <a:defRPr sz="13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762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8400"/>
              <a:buFont typeface="Arial"/>
              <a:buChar char="•"/>
              <a:defRPr sz="8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685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609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Char char="•"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15" name="Google Shape;15;p16"/>
          <p:cNvGrpSpPr/>
          <p:nvPr/>
        </p:nvGrpSpPr>
        <p:grpSpPr>
          <a:xfrm>
            <a:off x="33712347" y="-2"/>
            <a:ext cx="2057358" cy="2669535"/>
            <a:chOff x="11306724" y="96065"/>
            <a:chExt cx="685786" cy="889845"/>
          </a:xfrm>
        </p:grpSpPr>
        <p:sp>
          <p:nvSpPr>
            <p:cNvPr id="16" name="Google Shape;16;p16"/>
            <p:cNvSpPr/>
            <p:nvPr/>
          </p:nvSpPr>
          <p:spPr>
            <a:xfrm rot="10800000" flipH="1">
              <a:off x="11306724" y="96065"/>
              <a:ext cx="685786" cy="88984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1"/>
            </a:solidFill>
            <a:ln>
              <a:noFill/>
            </a:ln>
            <a:effectLst>
              <a:outerShdw blurRad="50800" dist="38100" dir="5400000" algn="t" rotWithShape="0">
                <a:srgbClr val="000000">
                  <a:alpha val="69412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00"/>
                <a:buFont typeface="Arial"/>
                <a:buNone/>
              </a:pPr>
              <a:endParaRPr sz="16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" name="Google Shape;17;p16"/>
            <p:cNvPicPr preferRelativeResize="0"/>
            <p:nvPr/>
          </p:nvPicPr>
          <p:blipFill rotWithShape="1">
            <a:blip r:embed="rId14">
              <a:alphaModFix/>
            </a:blip>
            <a:srcRect l="8081" t="7836" r="10621" b="9836"/>
            <a:stretch/>
          </p:blipFill>
          <p:spPr>
            <a:xfrm>
              <a:off x="11373763" y="365125"/>
              <a:ext cx="551707" cy="546550"/>
            </a:xfrm>
            <a:prstGeom prst="ellipse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3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0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1. Match List-I with List-II.</a:t>
            </a:r>
          </a:p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Choose the correct answer from the options given below: [02 April, 2025 (Shift-II)]</a:t>
            </a:r>
          </a:p>
        </p:txBody>
      </p:sp>
      <p:sp>
        <p:nvSpPr>
          <p:cNvPr id="3" name="Google Shape;161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(A)-(III), (B)-(I), (C)-(II), (D)-(IV)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" name="Google Shape;162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63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Question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" name="Google Shape;164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65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sz="7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8" name="Google Shape;166;p29"/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67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68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B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1" name="Google Shape;169;p29"/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70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71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C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4" name="Google Shape;172;p29"/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73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74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D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7" name="Google Shape;175;p29"/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(A)-(IV), (B)-(III), (C)-(II), (D)-(I)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" name="Google Shape;176;p29"/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(A)-(III), (B)-(IV), (C)-(I), (D)-(II)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" name="Google Shape;177;p29"/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(A)-(II), (B)-(III), (C)-(I), (D)-(IV)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noFill/>
                <a:tableStyleId>{B31FD818-33D0-4644-BCFC-9FF504466488}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1" i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List-I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1" i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List-II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A. Heat capacity of body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I. J kg</a:t>
                      </a:r>
                      <a:r>
                        <a:rPr baseline="52000" lang="en-IN" sz="288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-1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B. Specific heat capacity of body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II. JK</a:t>
                      </a:r>
                      <a:r>
                        <a:rPr baseline="52000" lang="en-IN" sz="288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-1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C. Latent heat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III. J kg</a:t>
                      </a:r>
                      <a:r>
                        <a:rPr baseline="52000" lang="en-IN" sz="288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-1</a:t>
                      </a: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K</a:t>
                      </a:r>
                      <a:r>
                        <a:rPr baseline="52000" lang="en-IN" sz="288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-1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D. Thermal conductivity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IV. Jm</a:t>
                      </a:r>
                      <a:r>
                        <a:rPr baseline="52000" lang="en-IN" sz="288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-1</a:t>
                      </a: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K</a:t>
                      </a:r>
                      <a:r>
                        <a:rPr baseline="52000" lang="en-IN" sz="288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-1</a:t>
                      </a: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</a:t>
                      </a:r>
                      <a:r>
                        <a:rPr baseline="52000" lang="en-IN" sz="288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-1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0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2. Match List-I with List-II. [29 Jan, 2025 (Shift-II)]</a:t>
            </a:r>
          </a:p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61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(A)-(III), (B)-(II), (C)-(I), (D)-(IV)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" name="Google Shape;162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63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Question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" name="Google Shape;164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65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sz="7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8" name="Google Shape;166;p29"/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67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68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B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1" name="Google Shape;169;p29"/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70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71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C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4" name="Google Shape;172;p29"/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73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74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D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7" name="Google Shape;175;p29"/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(A)-(I), (B)-(II), (C)-(III), (D)-(IV)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" name="Google Shape;176;p29"/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(A)-(III), (B)-(IV), (C)-(I), (D)-(II)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" name="Google Shape;177;p29"/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(A)-(III), (B)-(IV), (C)-(II), (D)-(I)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noFill/>
                <a:tableStyleId>{B31FD818-33D0-4644-BCFC-9FF504466488}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1" i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List-I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1" i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List-II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A. Magnetic induction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I. Ampere meter</a:t>
                      </a:r>
                      <a:r>
                        <a:rPr baseline="52000" lang="en-IN" sz="288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B. Magnetic intensity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II. Weber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C. Magnetic flux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III. Gauss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D. Magnetic moment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IV. Ampere meter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0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3. Electric field in a certain region is given by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</m:t>
                    </m:r>
                    <m:acc>
                      <m:accPr>
                        <m:chr m:val="⃗"/>
                      </m:accPr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E</m:t>
                        </m:r>
                      </m:e>
                    </m:acc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ctrlPr/>
                      </m:dPr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 </m:t>
                        </m:r>
                        <m:f>
                          <m:fPr/>
                          <m:num>
                            <m:r>
                              <a:rPr lang="en-IN" sz="6000" b="1" i="0" u="none" strike="noStrike" cap="none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cs typeface="Cambria Math"/>
                                <a:sym typeface="Cambria Math"/>
                              </a:rPr>
                              <m:t xml:space="preserve">A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i="0" u="none" strike="noStrike" cap="none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  <a:sym typeface="Cambria Math"/>
                                  </a:rPr>
                                  <m:t xml:space="preserve">x</m:t>
                                </m:r>
                              </m:e>
                              <m:sup>
                                <m:r>
                                  <a:rPr lang="en-IN" sz="6000" b="1" i="0" u="none" strike="noStrike" cap="none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 </m:t>
                        </m:r>
                        <m:acc>
                          <m:accPr>
                            <m:chr m:val="̂"/>
                          </m:accPr>
                          <m:e>
                            <m:r>
                              <a:rPr lang="en-IN" sz="6000" b="1" i="0" u="none" strike="noStrike" cap="none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cs typeface="Cambria Math"/>
                                <a:sym typeface="Cambria Math"/>
                              </a:rPr>
                              <m:t xml:space="preserve">i</m:t>
                            </m:r>
                          </m:e>
                        </m:acc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 + </m:t>
                        </m:r>
                        <m:f>
                          <m:fPr/>
                          <m:num>
                            <m:r>
                              <a:rPr lang="en-IN" sz="6000" b="1" i="0" u="none" strike="noStrike" cap="none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cs typeface="Cambria Math"/>
                                <a:sym typeface="Cambria Math"/>
                              </a:rPr>
                              <m:t xml:space="preserve">B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i="0" u="none" strike="noStrike" cap="none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  <a:sym typeface="Cambria Math"/>
                                  </a:rPr>
                                  <m:t xml:space="preserve">y</m:t>
                                </m:r>
                              </m:e>
                              <m:sup>
                                <m:r>
                                  <a:rPr lang="en-IN" sz="6000" b="1" i="0" u="none" strike="noStrike" cap="none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  <a:sym typeface="Cambria Math"/>
                                  </a:rPr>
                                  <m:t xml:space="preserve">3</m:t>
                                </m:r>
                              </m:sup>
                            </m:sSup>
                          </m:den>
                        </m:f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 </m:t>
                        </m:r>
                        <m:acc>
                          <m:accPr>
                            <m:chr m:val="̂"/>
                          </m:accPr>
                          <m:e>
                            <m:r>
                              <a:rPr lang="en-IN" sz="6000" b="1" i="0" u="none" strike="noStrike" cap="none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cs typeface="Cambria Math"/>
                                <a:sym typeface="Cambria Math"/>
                              </a:rPr>
                              <m:t xml:space="preserve">j</m:t>
                            </m:r>
                          </m:e>
                        </m:acc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 </m:t>
                        </m:r>
                      </m:e>
                    </m:d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E⃗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= ( A/(x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2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) 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î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+ B/(y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3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) 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ĵ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) </a:t>
                </a:r>
              </mc:Fallback>
            </mc:AlternateContent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. The SI unit of A and B are: [30 Jan, 2023 (Shift-I)]</a:t>
            </a:r>
          </a:p>
        </p:txBody>
      </p:sp>
      <p:sp>
        <p:nvSpPr>
          <p:cNvPr id="3" name="Google Shape;161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; N</m:t>
                    </m:r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Nm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3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C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-1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; Nm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2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C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-1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</a:t>
                </a:r>
              </mc:Fallback>
            </mc:AlternateContent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" name="Google Shape;162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63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Question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" name="Google Shape;164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65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sz="7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8" name="Google Shape;166;p29"/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67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68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B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1" name="Google Shape;169;p29"/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70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71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C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4" name="Google Shape;172;p29"/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73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74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D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7" name="Google Shape;175;p29"/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; N</m:t>
                    </m:r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Nm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2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C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-1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; Nm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3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C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-1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</a:t>
                </a:r>
              </mc:Fallback>
            </mc:AlternateContent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" name="Google Shape;176;p29"/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C; N</m:t>
                    </m:r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C </m:t>
                    </m:r>
                  </m:oMath>
                </a14:m>
              </mc:Choice>
              <mc:Fallback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Nm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3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C; Nm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2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C </a:t>
                </a:r>
              </mc:Fallback>
            </mc:AlternateContent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" name="Google Shape;177;p29"/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C; N</m:t>
                    </m:r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C </m:t>
                    </m:r>
                  </m:oMath>
                </a14:m>
              </mc:Choice>
              <mc:Fallback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Nm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2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C; Nm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3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C </a:t>
                </a:r>
              </mc:Fallback>
            </mc:AlternateContent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0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4. Match List-I with List-II. [27 Aug, 2021 (Shift-I)]</a:t>
            </a:r>
          </a:p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61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A-II, B-III, C-IV, D-I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" name="Google Shape;162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63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Question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" name="Google Shape;164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65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sz="7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8" name="Google Shape;166;p29"/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67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68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B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1" name="Google Shape;169;p29"/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70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71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C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4" name="Google Shape;172;p29"/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73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74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D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7" name="Google Shape;175;p29"/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A-III, B-II, C-I, D-IV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" name="Google Shape;176;p29"/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A-III, B-II, C-IV, D-I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" name="Google Shape;177;p29"/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A-IV, B-II, C-I, D-III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noFill/>
                <a:tableStyleId>{B31FD818-33D0-4644-BCFC-9FF504466488}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1" i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List-I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1" i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List-II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A. R_H (Rydberg constant)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I. kg m</a:t>
                      </a:r>
                      <a:r>
                        <a:rPr baseline="52000" lang="en-IN" sz="288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-1</a:t>
                      </a: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s</a:t>
                      </a:r>
                      <a:r>
                        <a:rPr baseline="52000" lang="en-IN" sz="288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-1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B. h(Planck's constant)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II. kg m</a:t>
                      </a:r>
                      <a:r>
                        <a:rPr baseline="52000" lang="en-IN" sz="288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</a:t>
                      </a: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s</a:t>
                      </a:r>
                      <a:r>
                        <a:rPr baseline="52000" lang="en-IN" sz="288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-1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lang="en-IN" sz="40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μ</m:t>
                                  </m:r>
                                </m:e>
                                <m:sub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sub>
                              </m:sSub>
                              <m:r>
                                <a:rPr lang="en-IN" sz="40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 </a:t>
                          </a:r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μ</a:t>
                          </a:r>
                          <a:r>
                            <a:rPr baseline="-25000" lang="en-IN" sz="288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B</a:t>
                          </a:r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 </a:t>
                          </a:r>
                        </mc:Fallback>
                      </mc:AlternateContent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(Magnetic field energy density)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III. m</a:t>
                      </a:r>
                      <a:r>
                        <a:rPr baseline="52000" lang="en-IN" sz="288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-1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D.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lang="en-IN" sz="40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η </m:t>
                              </m:r>
                            </m:oMath>
                          </a14:m>
                        </mc:Choice>
                        <mc:Fallback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 </a:t>
                          </a:r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η</a:t>
                          </a:r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 </a:t>
                          </a:r>
                        </mc:Fallback>
                      </mc:AlternateContent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(coefficient of viscosity)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IV. kg m</a:t>
                      </a:r>
                      <a:r>
                        <a:rPr baseline="52000" lang="en-IN" sz="288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-1</a:t>
                      </a: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s</a:t>
                      </a:r>
                      <a:r>
                        <a:rPr baseline="52000" lang="en-IN" sz="288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-2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0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5. If E and H represents the intensity of electric field and magnetising field respectively, then the unit of E/H will be: [27 Aug, 2021 (Shift-I)]</a:t>
            </a:r>
          </a:p>
        </p:txBody>
      </p:sp>
      <p:sp>
        <p:nvSpPr>
          <p:cNvPr id="3" name="Google Shape;161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Joule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" name="Google Shape;162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63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Question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" name="Google Shape;164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65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sz="7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8" name="Google Shape;166;p29"/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67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68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B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1" name="Google Shape;169;p29"/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70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71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C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4" name="Google Shape;172;p29"/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73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74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D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7" name="Google Shape;175;p29"/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Newton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" name="Google Shape;176;p29"/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Ohm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" name="Google Shape;177;p29"/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Mho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0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6. The density of a material in SI units is 128 kg m</a:t>
            </a:r>
            <a:r>
              <a:rPr baseline="52000" lang="en-IN" sz="432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-3</a:t>
            </a: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. In certain units in which the unit of length is 25 cm and the unit of mass 50 g, the numerical value of density of the material is [10 Jan, 2019 (Shift-I)]</a:t>
            </a:r>
          </a:p>
        </p:txBody>
      </p:sp>
      <p:sp>
        <p:nvSpPr>
          <p:cNvPr id="3" name="Google Shape;161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40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" name="Google Shape;162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63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Question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" name="Google Shape;164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65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sz="7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8" name="Google Shape;166;p29"/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67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68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B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1" name="Google Shape;169;p29"/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70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71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C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4" name="Google Shape;172;p29"/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73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74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D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7" name="Google Shape;175;p29"/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16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" name="Google Shape;176;p29"/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640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" name="Google Shape;177;p29"/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410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0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7. The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</m:t>
                    </m:r>
                    <m:rad>
                      <m:radPr>
                        <m:degHide m:val="1"/>
                      </m:radPr>
                      <m:deg/>
                      <m:e>
                        <m:f>
                          <m:fPr/>
                          <m:num>
                            <m:sSub>
                              <m:sSubPr/>
                              <m:e>
                                <m:r>
                                  <a:rPr lang="en-IN" sz="6000" b="1" i="0" u="none" strike="noStrike" cap="none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  <a:sym typeface="Cambria Math"/>
                                  </a:rPr>
                                  <m:t xml:space="preserve">μ</m:t>
                                </m:r>
                              </m:e>
                              <m:sub>
                                <m:r>
                                  <a:rPr lang="en-IN" sz="6000" b="1" i="0" u="none" strike="noStrike" cap="none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</m:num>
                          <m:den>
                            <m:sSub>
                              <m:sSubPr/>
                              <m:e>
                                <m:r>
                                  <a:rPr lang="en-IN" sz="6000" b="1" i="0" u="none" strike="noStrike" cap="none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  <a:sym typeface="Cambria Math"/>
                                  </a:rPr>
                                  <m:t xml:space="preserve">ε</m:t>
                                </m:r>
                              </m:e>
                              <m:sub>
                                <m:r>
                                  <a:rPr lang="en-IN" sz="6000" b="1" i="0" u="none" strike="noStrike" cap="none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</m:den>
                        </m:f>
                      </m:e>
                    </m:rad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√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(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μ</a:t>
                </a:r>
                <a:r>
                  <a:rPr baseline="-25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0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/(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ε</a:t>
                </a:r>
                <a:r>
                  <a:rPr baseline="-25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0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)) </a:t>
                </a:r>
              </mc:Fallback>
            </mc:AlternateContent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 is equal to that of: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(</m:t>
                    </m:r>
                    <m:sSub>
                      <m:sSub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= </m:t>
                    </m:r>
                    <m:r>
                      <m:rPr>
                        <m:sty m:val="p"/>
                      </m:rP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Vacuum permeability and </m:t>
                    </m:r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= </m:t>
                    </m:r>
                    <m:r>
                      <m:rPr>
                        <m:sty m:val="p"/>
                      </m:rP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Vacuum permittivity</m:t>
                    </m:r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) </m:t>
                    </m:r>
                  </m:oMath>
                </a14:m>
              </mc:Choice>
              <mc:Fallback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(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μ</a:t>
                </a:r>
                <a:r>
                  <a:rPr baseline="-25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0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= Vacuum permeability and  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ε</a:t>
                </a:r>
                <a:r>
                  <a:rPr baseline="-25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0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= Vacuum permittivity) </a:t>
                </a:r>
              </mc:Fallback>
            </mc:AlternateContent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 [07 April, 2025 (Shift-II)]</a:t>
            </a:r>
          </a:p>
        </p:txBody>
      </p:sp>
      <p:sp>
        <p:nvSpPr>
          <p:cNvPr id="3" name="Google Shape;161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Voltage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" name="Google Shape;162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63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Question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" name="Google Shape;164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65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sz="7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8" name="Google Shape;166;p29"/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67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68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B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1" name="Google Shape;169;p29"/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70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71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C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4" name="Google Shape;172;p29"/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73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74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D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7" name="Google Shape;175;p29"/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Capacitance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" name="Google Shape;176;p29"/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Inductance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" name="Google Shape;177;p29"/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Resistance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0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8. Match List-I with List-II.</a:t>
            </a:r>
          </a:p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Choose the correct answer from the options given below: [07 April, 2025 (Shift-II)]</a:t>
            </a:r>
          </a:p>
        </p:txBody>
      </p:sp>
      <p:sp>
        <p:nvSpPr>
          <p:cNvPr id="3" name="Google Shape;161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(A)-(IV), (B)-(II), (C)-(III), (D)-(I)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" name="Google Shape;162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63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Question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" name="Google Shape;164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65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sz="7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8" name="Google Shape;166;p29"/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67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68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B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1" name="Google Shape;169;p29"/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70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71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C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4" name="Google Shape;172;p29"/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73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74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D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7" name="Google Shape;175;p29"/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(A)-(I), (B)-(III), (C)-(IV), (D)-(II)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" name="Google Shape;176;p29"/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(A)-(IV), (B)-(II), (C)-(I), (D)-(III)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" name="Google Shape;177;p29"/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(A)-(II), (B)-(III), (C)-(IV), (D)-(I)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noFill/>
                <a:tableStyleId>{B31FD818-33D0-4644-BCFC-9FF504466488}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1" i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List-I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1" i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List-II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(A) Mass density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(I)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lang="en-IN" sz="40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lang="en-IN" sz="40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lang="en-IN" sz="40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 [ML</a:t>
                          </a:r>
                          <a:r>
                            <a:rPr baseline="52000" lang="en-IN" sz="288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2</a:t>
                          </a:r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 T</a:t>
                          </a:r>
                          <a:r>
                            <a:rPr baseline="52000" lang="en-IN" sz="288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-3</a:t>
                          </a:r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(B) Impulse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(II)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lang="en-IN" sz="40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[ML</m:t>
                              </m:r>
                              <m:sSup>
                                <m:sSupPr/>
                                <m:e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lang="en-IN" sz="40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 [MLT</a:t>
                          </a:r>
                          <a:r>
                            <a:rPr baseline="52000" lang="en-IN" sz="288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-1</a:t>
                          </a:r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(C) Power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(III)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lang="en-IN" sz="40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lang="en-IN" sz="40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lang="en-IN" sz="40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 [ML</a:t>
                          </a:r>
                          <a:r>
                            <a:rPr baseline="52000" lang="en-IN" sz="288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2</a:t>
                          </a:r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 T</a:t>
                          </a:r>
                          <a:r>
                            <a:rPr baseline="52000" lang="en-IN" sz="288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0</a:t>
                          </a:r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(D) Moment of inertia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(IV)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lang="en-IN" sz="40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lang="en-IN" sz="40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lang="en-IN" sz="40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 [ML</a:t>
                          </a:r>
                          <a:r>
                            <a:rPr baseline="52000" lang="en-IN" sz="288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-3</a:t>
                          </a:r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 T</a:t>
                          </a:r>
                          <a:r>
                            <a:rPr baseline="52000" lang="en-IN" sz="288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0</a:t>
                          </a:r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0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9. Match the LIST-I with LIST-II</a:t>
            </a:r>
          </a:p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Choose the correct answer from the options given below: [03 April, 2025 (Shift-I)]</a:t>
            </a:r>
          </a:p>
        </p:txBody>
      </p:sp>
      <p:sp>
        <p:nvSpPr>
          <p:cNvPr id="3" name="Google Shape;161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A-III, B-IV, C-I, D-II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" name="Google Shape;162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63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Question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" name="Google Shape;164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65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sz="7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8" name="Google Shape;166;p29"/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67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68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B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1" name="Google Shape;169;p29"/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70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71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C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4" name="Google Shape;172;p29"/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73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74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D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7" name="Google Shape;175;p29"/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A-II, B-III, C-IV, D-I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" name="Google Shape;176;p29"/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A-III, B-II, C-I, D-IV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" name="Google Shape;177;p29"/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A-III, B-IV, C-II, D-I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noFill/>
                <a:tableStyleId>{B31FD818-33D0-4644-BCFC-9FF504466488}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1" i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LIST-I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1" i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LIST-II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A. Boltzmann constant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lang="en-IN" sz="40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</m:t>
                              </m:r>
                              <m:sSup>
                                <m:sSupPr/>
                                <m:e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lang="en-IN" sz="40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lang="en-IN" sz="40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 ML</a:t>
                          </a:r>
                          <a:r>
                            <a:rPr baseline="52000" lang="en-IN" sz="288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2</a:t>
                          </a:r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 T</a:t>
                          </a:r>
                          <a:r>
                            <a:rPr baseline="52000" lang="en-IN" sz="288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-1</a:t>
                          </a:r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B. Coefficient of viscosity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lang="en-IN" sz="40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ML</m:t>
                              </m:r>
                              <m:sSup>
                                <m:sSupPr/>
                                <m:e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lang="en-IN" sz="40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lang="en-IN" sz="40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 MLT</a:t>
                          </a:r>
                          <a:r>
                            <a:rPr baseline="52000" lang="en-IN" sz="288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-3</a:t>
                          </a:r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 K</a:t>
                          </a:r>
                          <a:r>
                            <a:rPr baseline="52000" lang="en-IN" sz="288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-1</a:t>
                          </a:r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C. Planck's constant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lang="en-IN" sz="40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</m:t>
                              </m:r>
                              <m:sSup>
                                <m:sSupPr/>
                                <m:e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lang="en-IN" sz="40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lang="en-IN" sz="40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lang="en-IN" sz="40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 ML</a:t>
                          </a:r>
                          <a:r>
                            <a:rPr baseline="52000" lang="en-IN" sz="288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2</a:t>
                          </a:r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 T</a:t>
                          </a:r>
                          <a:r>
                            <a:rPr baseline="52000" lang="en-IN" sz="288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-2</a:t>
                          </a:r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 K</a:t>
                          </a:r>
                          <a:r>
                            <a:rPr baseline="52000" lang="en-IN" sz="288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-1</a:t>
                          </a:r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D. Thermal conductivity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lang="en-IN" sz="40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</m:t>
                              </m:r>
                              <m:sSup>
                                <m:sSupPr/>
                                <m:e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lang="en-IN" sz="40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lang="en-IN" sz="40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 ML</a:t>
                          </a:r>
                          <a:r>
                            <a:rPr baseline="52000" lang="en-IN" sz="288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-1</a:t>
                          </a:r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 T</a:t>
                          </a:r>
                          <a:r>
                            <a:rPr baseline="52000" lang="en-IN" sz="288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-1</a:t>
                          </a:r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0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10. Given a charge q, current I and permeability of vacuum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μ</a:t>
                </a:r>
                <a:r>
                  <a:rPr baseline="-25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0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. Which of the following quantity has the dimension of momentum? [02 April, 2025 (Shift-I)]</a:t>
            </a:r>
          </a:p>
        </p:txBody>
      </p:sp>
      <p:sp>
        <p:nvSpPr>
          <p:cNvPr id="3" name="Google Shape;161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qI/</m:t>
                    </m:r>
                    <m:sSub>
                      <m:sSub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qI/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μ</a:t>
                </a:r>
                <a:r>
                  <a:rPr baseline="-25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0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</a:t>
                </a:r>
              </mc:Fallback>
            </mc:AlternateContent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" name="Google Shape;162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63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Question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" name="Google Shape;164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65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sz="7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8" name="Google Shape;166;p29"/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67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68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B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1" name="Google Shape;169;p29"/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70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71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C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4" name="Google Shape;172;p29"/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73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74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D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7" name="Google Shape;175;p29"/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q</m:t>
                    </m:r>
                    <m:sSub>
                      <m:sSub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I </m:t>
                    </m:r>
                  </m:oMath>
                </a14:m>
              </mc:Choice>
              <mc:Fallback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q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μ</a:t>
                </a:r>
                <a:r>
                  <a:rPr baseline="-25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0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I </a:t>
                </a:r>
              </mc:Fallback>
            </mc:AlternateContent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" name="Google Shape;176;p29"/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q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sSub>
                      <m:sSub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I </m:t>
                    </m:r>
                  </m:oMath>
                </a14:m>
              </mc:Choice>
              <mc:Fallback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q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2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μ</a:t>
                </a:r>
                <a:r>
                  <a:rPr baseline="-25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0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I </a:t>
                </a:r>
              </mc:Fallback>
            </mc:AlternateContent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" name="Google Shape;177;p29"/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q</m:t>
                    </m:r>
                    <m:sSub>
                      <m:sSub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/I </m:t>
                    </m:r>
                  </m:oMath>
                </a14:m>
              </mc:Choice>
              <mc:Fallback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q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μ</a:t>
                </a:r>
                <a:r>
                  <a:rPr baseline="-25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0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/I </a:t>
                </a:r>
              </mc:Fallback>
            </mc:AlternateContent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0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11. 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μ</a:t>
                </a:r>
                <a:r>
                  <a:rPr baseline="-25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0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ε</a:t>
                </a:r>
                <a:r>
                  <a:rPr baseline="-25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0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 are the permeability and permittivity of free space, respectively, then the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ctrlPr/>
                      </m:dPr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 </m:t>
                        </m:r>
                        <m:f>
                          <m:fPr/>
                          <m:num>
                            <m:r>
                              <a:rPr lang="en-IN" sz="6000" b="1" i="0" u="none" strike="noStrike" cap="none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cs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b>
                              <m:sSubPr/>
                              <m:e>
                                <m:r>
                                  <a:rPr lang="en-IN" sz="6000" b="1" i="0" u="none" strike="noStrike" cap="none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  <a:sym typeface="Cambria Math"/>
                                  </a:rPr>
                                  <m:t xml:space="preserve">μ</m:t>
                                </m:r>
                              </m:e>
                              <m:sub>
                                <m:r>
                                  <a:rPr lang="en-IN" sz="6000" b="1" i="0" u="none" strike="noStrike" cap="none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  <m:r>
                              <a:rPr lang="en-IN" sz="6000" b="1" i="0" u="none" strike="noStrike" cap="none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cs typeface="Cambria Math"/>
                                <a:sym typeface="Cambria Math"/>
                              </a:rPr>
                              <m:t xml:space="preserve"> </m:t>
                            </m:r>
                            <m:sSub>
                              <m:sSubPr/>
                              <m:e>
                                <m:r>
                                  <a:rPr lang="en-IN" sz="6000" b="1" i="0" u="none" strike="noStrike" cap="none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  <a:sym typeface="Cambria Math"/>
                                  </a:rPr>
                                  <m:t xml:space="preserve">ε</m:t>
                                </m:r>
                              </m:e>
                              <m:sub>
                                <m:r>
                                  <a:rPr lang="en-IN" sz="6000" b="1" i="0" u="none" strike="noStrike" cap="none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</m:den>
                        </m:f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 </m:t>
                        </m:r>
                      </m:e>
                    </m:d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( 1/(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μ</a:t>
                </a:r>
                <a:r>
                  <a:rPr baseline="-25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0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ε</a:t>
                </a:r>
                <a:r>
                  <a:rPr baseline="-25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0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) ) </a:t>
                </a:r>
              </mc:Fallback>
            </mc:AlternateContent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 is: [02 April, 2025 (Shift-I)]</a:t>
            </a:r>
          </a:p>
        </p:txBody>
      </p:sp>
      <p:sp>
        <p:nvSpPr>
          <p:cNvPr id="3" name="Google Shape;161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L/</m:t>
                    </m:r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L/T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2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</a:t>
                </a:r>
              </mc:Fallback>
            </mc:AlternateContent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" name="Google Shape;162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63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Question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" name="Google Shape;164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65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sz="7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8" name="Google Shape;166;p29"/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67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68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B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1" name="Google Shape;169;p29"/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70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71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C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4" name="Google Shape;172;p29"/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73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74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D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7" name="Google Shape;175;p29"/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/</m:t>
                    </m:r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L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2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/T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2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</a:t>
                </a:r>
              </mc:Fallback>
            </mc:AlternateContent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" name="Google Shape;176;p29"/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/L </m:t>
                    </m:r>
                  </m:oMath>
                </a14:m>
              </mc:Choice>
              <mc:Fallback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T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2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/L </a:t>
                </a:r>
              </mc:Fallback>
            </mc:AlternateContent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" name="Google Shape;177;p29"/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/</m:t>
                    </m:r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T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2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/L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2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</a:t>
                </a:r>
              </mc:Fallback>
            </mc:AlternateContent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0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12. If B is magnetic field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μ</a:t>
                </a:r>
                <a:r>
                  <a:rPr baseline="-25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0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 is permeability of free space, then the dimensions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(B/</m:t>
                    </m:r>
                    <m:sSub>
                      <m:sSub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) </m:t>
                    </m:r>
                  </m:oMath>
                </a14:m>
              </mc:Choice>
              <mc:Fallback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(B/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μ</a:t>
                </a:r>
                <a:r>
                  <a:rPr baseline="-25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0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) </a:t>
                </a:r>
              </mc:Fallback>
            </mc:AlternateContent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 is: [22 Jan, 2025 (Shift-I)]</a:t>
            </a:r>
          </a:p>
        </p:txBody>
      </p:sp>
      <p:sp>
        <p:nvSpPr>
          <p:cNvPr id="3" name="Google Shape;161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M</m:t>
                    </m:r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ML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2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T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-2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A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-1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</a:t>
                </a:r>
              </mc:Fallback>
            </mc:AlternateContent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" name="Google Shape;162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63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Question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" name="Google Shape;164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65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sz="7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8" name="Google Shape;166;p29"/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67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68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B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1" name="Google Shape;169;p29"/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70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71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C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4" name="Google Shape;172;p29"/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73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74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D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7" name="Google Shape;175;p29"/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M</m:t>
                    </m:r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MT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-2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A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-1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</a:t>
                </a:r>
              </mc:Fallback>
            </mc:AlternateContent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" name="Google Shape;176;p29"/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L</m:t>
                    </m:r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LT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-2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A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-1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</a:t>
                </a:r>
              </mc:Fallback>
            </mc:AlternateContent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" name="Google Shape;177;p29"/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A </m:t>
                    </m:r>
                  </m:oMath>
                </a14:m>
              </mc:Choice>
              <mc:Fallback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L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-1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A </a:t>
                </a:r>
              </mc:Fallback>
            </mc:AlternateContent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0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13. Which one of the following is the correct dimensional formula for the capacitance in F? M, L, T and C stand for unit of mass, length, time and charge: [22 Jan, 2025 (Shift-I)]</a:t>
            </a:r>
          </a:p>
        </p:txBody>
      </p:sp>
      <p:sp>
        <p:nvSpPr>
          <p:cNvPr id="3" name="Google Shape;161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[F] = [</m:t>
                    </m:r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[F] = [C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2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M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-1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L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-2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T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2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] </a:t>
                </a:r>
              </mc:Fallback>
            </mc:AlternateContent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" name="Google Shape;162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63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Question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" name="Google Shape;164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65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sz="7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8" name="Google Shape;166;p29"/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67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68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B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1" name="Google Shape;169;p29"/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70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71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C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4" name="Google Shape;172;p29"/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73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74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D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7" name="Google Shape;175;p29"/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[F] = [C</m:t>
                    </m:r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[F] = [CM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-1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L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-2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T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-2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] </a:t>
                </a:r>
              </mc:Fallback>
            </mc:AlternateContent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" name="Google Shape;176;p29"/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[F] = [C</m:t>
                    </m:r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[F] = [CM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-1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L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-2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T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2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] </a:t>
                </a:r>
              </mc:Fallback>
            </mc:AlternateContent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" name="Google Shape;177;p29"/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[F] = [</m:t>
                    </m:r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[F] = [C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2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M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-1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L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2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T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2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] </a:t>
                </a:r>
              </mc:Fallback>
            </mc:AlternateContent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0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14. The position of a particle moving on x-axis is given by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x(t) = A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sin</m:t>
                        </m:r>
                      </m:fName>
                      <m:e/>
                    </m:func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t + B </m:t>
                    </m:r>
                    <m:sSup>
                      <m:sSupPr/>
                      <m:e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en-IN" sz="6000" b="1" i="0" u="none" strike="noStrike" cap="none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cs typeface="Cambria Math"/>
                                <a:sym typeface="Cambria Math"/>
                              </a:rPr>
                              <m:t xml:space="preserve">cos</m:t>
                            </m:r>
                          </m:fName>
                          <m:e/>
                        </m:func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t + Ct + D </m:t>
                    </m:r>
                  </m:oMath>
                </a14:m>
              </mc:Choice>
              <mc:Fallback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x(t) = A sin t + B cos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2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t + Ct + D </a:t>
                </a:r>
              </mc:Fallback>
            </mc:AlternateContent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, where t is time. The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</m:t>
                    </m:r>
                    <m:f>
                      <m:fPr/>
                      <m:num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ABC</m:t>
                        </m:r>
                      </m:num>
                      <m:den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D</m:t>
                        </m:r>
                      </m:den>
                    </m:f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ABC/D </a:t>
                </a:r>
              </mc:Fallback>
            </mc:AlternateContent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 is [23 Jan, 2025 (Shift-I)]</a:t>
            </a:r>
          </a:p>
        </p:txBody>
      </p:sp>
      <p:sp>
        <p:nvSpPr>
          <p:cNvPr id="3" name="Google Shape;161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L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3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T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-2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</a:t>
                </a:r>
              </mc:Fallback>
            </mc:AlternateContent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" name="Google Shape;162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63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Question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" name="Google Shape;164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65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sz="7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8" name="Google Shape;166;p29"/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67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68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B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1" name="Google Shape;169;p29"/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70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71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C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4" name="Google Shape;172;p29"/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73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74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D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7" name="Google Shape;175;p29"/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L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2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</a:t>
                </a:r>
              </mc:Fallback>
            </mc:AlternateContent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" name="Google Shape;176;p29"/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L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2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T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-2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</a:t>
                </a:r>
              </mc:Fallback>
            </mc:AlternateContent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" name="Google Shape;177;p29"/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L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0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15. Match List - I with List - II.</a:t>
            </a:r>
          </a:p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Choose the correct answer from the options given below: [23 Jan, 2025 (Shift-I)]</a:t>
            </a:r>
          </a:p>
        </p:txBody>
      </p:sp>
      <p:sp>
        <p:nvSpPr>
          <p:cNvPr id="3" name="Google Shape;161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(A)-(IV), (B)-(III), (C)-(I), (D)-(II)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" name="Google Shape;162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63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Question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" name="Google Shape;164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65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sz="7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8" name="Google Shape;166;p29"/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67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68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B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1" name="Google Shape;169;p29"/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70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71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C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4" name="Google Shape;172;p29"/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73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74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D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7" name="Google Shape;175;p29"/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(A)-(III), (B)-(II), (C)-(IV), (D)-(I)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" name="Google Shape;176;p29"/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(A)-(II), (B)-(I), (C)-(III), (D)-(IV)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" name="Google Shape;177;p29"/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(A)-(I), (B)-(IV), (C)-(II), (D)-(III)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noFill/>
                <a:tableStyleId>{B31FD818-33D0-4644-BCFC-9FF504466488}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1" i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List - I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1" i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List - II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(A) Permeability of free space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(I)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lang="en-IN" sz="40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lang="en-IN" sz="40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lang="en-IN" sz="40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 [ML</a:t>
                          </a:r>
                          <a:r>
                            <a:rPr baseline="52000" lang="en-IN" sz="288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2</a:t>
                          </a:r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 T</a:t>
                          </a:r>
                          <a:r>
                            <a:rPr baseline="52000" lang="en-IN" sz="288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-2</a:t>
                          </a:r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(B) Magnetic field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(II)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lang="en-IN" sz="40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lang="en-IN" sz="40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 [MT</a:t>
                          </a:r>
                          <a:r>
                            <a:rPr baseline="52000" lang="en-IN" sz="288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-2</a:t>
                          </a:r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A</a:t>
                          </a:r>
                          <a:r>
                            <a:rPr baseline="52000" lang="en-IN" sz="288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-1</a:t>
                          </a:r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(C) Magnetic moment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(III)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lang="en-IN" sz="40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lang="en-IN" sz="40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 [ML</a:t>
                          </a:r>
                          <a:r>
                            <a:rPr baseline="52000" lang="en-IN" sz="288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-2</a:t>
                          </a:r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A</a:t>
                          </a:r>
                          <a:r>
                            <a:rPr baseline="52000" lang="en-IN" sz="288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-2</a:t>
                          </a:r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(D) Torsional constant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(IV)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lang="en-IN" sz="40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lang="en-IN" sz="40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A] </m:t>
                              </m:r>
                            </m:oMath>
                          </a14:m>
                        </mc:Choice>
                        <mc:Fallback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 [L</a:t>
                          </a:r>
                          <a:r>
                            <a:rPr baseline="52000" lang="en-IN" sz="288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2</a:t>
                          </a:r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A] </a:t>
                          </a:r>
                        </mc:Fallback>
                      </mc:AlternateContent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0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16. The energy E and momentum p of a moving body of mass m are related by some equation. Given that c represents the speed of light, identify the correct equation [24 Jan, 2025 (Shift-I)]</a:t>
            </a:r>
          </a:p>
        </p:txBody>
      </p:sp>
      <p:sp>
        <p:nvSpPr>
          <p:cNvPr id="3" name="Google Shape;161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= p</m:t>
                    </m:r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E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2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= pc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2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+ m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2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c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4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</a:t>
                </a:r>
              </mc:Fallback>
            </mc:AlternateContent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" name="Google Shape;162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63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Question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" name="Google Shape;164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65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sz="7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8" name="Google Shape;166;p29"/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67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68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B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1" name="Google Shape;169;p29"/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70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71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C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4" name="Google Shape;172;p29"/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73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74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D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7" name="Google Shape;175;p29"/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= p</m:t>
                    </m:r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E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2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= pc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2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+ m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2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c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2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</a:t>
                </a:r>
              </mc:Fallback>
            </mc:AlternateContent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" name="Google Shape;176;p29"/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= </m:t>
                    </m:r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p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E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2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= p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2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c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2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+ m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2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c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4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</a:t>
                </a:r>
              </mc:Fallback>
            </mc:AlternateContent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" name="Google Shape;177;p29"/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= </m:t>
                    </m:r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p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E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2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= p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2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c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2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+ m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2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c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2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</a:t>
                </a:r>
              </mc:Fallback>
            </mc:AlternateContent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7;p5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17. In a measurement, it is asked to find modulus of elasticity per unit torque applied on the system. The measured quantity has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a</m:t>
                        </m:r>
                      </m:sup>
                    </m:sSup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b</m:t>
                        </m:r>
                      </m:sup>
                    </m:sSup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c</m:t>
                        </m:r>
                      </m:sup>
                    </m:sSup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[M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a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L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b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T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c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] </a:t>
                </a:r>
              </mc:Fallback>
            </mc:AlternateContent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. If b = 3, the value of c is______. [28 Jan, 2025 (Shift-I)]</a:t>
            </a:r>
          </a:p>
        </p:txBody>
      </p:sp>
      <p:sp>
        <p:nvSpPr>
          <p:cNvPr id="3" name="Google Shape;148;p5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49;p5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Question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0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18. Match List-I with List-II. [28 Jan, 2025 (Shift-I)]</a:t>
            </a:r>
          </a:p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61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(A)-(III), (B)-(I), (C)-(II), (D)-(IV)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" name="Google Shape;162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63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Question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" name="Google Shape;164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65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sz="7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8" name="Google Shape;166;p29"/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67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68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B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1" name="Google Shape;169;p29"/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70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71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C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4" name="Google Shape;172;p29"/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73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74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D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7" name="Google Shape;175;p29"/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(A)-(II), (B)-(I), (C)-(IV), (D)-(III)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" name="Google Shape;176;p29"/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(A)-(III), (B)-(I), (C)-(IV), (D)-(II)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" name="Google Shape;177;p29"/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(A)-(I), (B)-(III), (C)-(IV), (D)-(II)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noFill/>
                <a:tableStyleId>{B31FD818-33D0-4644-BCFC-9FF504466488}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1" i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List-I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1" i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List-II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A. Angular Impulse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lang="en-IN" sz="40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lang="en-IN" sz="40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lang="en-IN" sz="40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lang="en-IN" sz="40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 [M</a:t>
                          </a:r>
                          <a:r>
                            <a:rPr baseline="52000" lang="en-IN" sz="288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0</a:t>
                          </a:r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 L</a:t>
                          </a:r>
                          <a:r>
                            <a:rPr baseline="52000" lang="en-IN" sz="288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2</a:t>
                          </a:r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 T</a:t>
                          </a:r>
                          <a:r>
                            <a:rPr baseline="52000" lang="en-IN" sz="288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-2</a:t>
                          </a:r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B. Latent Heat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lang="en-IN" sz="40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lang="en-IN" sz="40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lang="en-IN" sz="40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 [ML</a:t>
                          </a:r>
                          <a:r>
                            <a:rPr baseline="52000" lang="en-IN" sz="288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2</a:t>
                          </a:r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 T</a:t>
                          </a:r>
                          <a:r>
                            <a:rPr baseline="52000" lang="en-IN" sz="288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-3</a:t>
                          </a:r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A</a:t>
                          </a:r>
                          <a:r>
                            <a:rPr baseline="52000" lang="en-IN" sz="288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-1</a:t>
                          </a:r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C. Electrical resistivity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lang="en-IN" sz="40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lang="en-IN" sz="40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lang="en-IN" sz="40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 [ML</a:t>
                          </a:r>
                          <a:r>
                            <a:rPr baseline="52000" lang="en-IN" sz="288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2</a:t>
                          </a:r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 T</a:t>
                          </a:r>
                          <a:r>
                            <a:rPr baseline="52000" lang="en-IN" sz="288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-1</a:t>
                          </a:r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D. Electromotive force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lang="en-IN" sz="40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p>
                              </m:sSup>
                              <m:r>
                                <a:rPr lang="en-IN" sz="40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lang="en-IN" sz="40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 [ML</a:t>
                          </a:r>
                          <a:r>
                            <a:rPr baseline="52000" lang="en-IN" sz="288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3</a:t>
                          </a:r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 T</a:t>
                          </a:r>
                          <a:r>
                            <a:rPr baseline="52000" lang="en-IN" sz="288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-3</a:t>
                          </a:r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A</a:t>
                          </a:r>
                          <a:r>
                            <a:rPr baseline="52000" lang="en-IN" sz="288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-2</a:t>
                          </a:r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0;p29"/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19. The pair of physical quantities not having same dimensions is: [29 Jan, 2025 (Shift-I)]</a:t>
            </a:r>
          </a:p>
        </p:txBody>
      </p:sp>
      <p:sp>
        <p:nvSpPr>
          <p:cNvPr id="3" name="Google Shape;161;p29"/>
          <p:cNvSpPr txBox="1"/>
          <p:nvPr/>
        </p:nvSpPr>
        <p:spPr>
          <a:xfrm>
            <a:off x="3107605" y="56534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Pressure and Young's modulus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" name="Google Shape;162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63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Question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" name="Google Shape;164;p29"/>
          <p:cNvSpPr/>
          <p:nvPr/>
        </p:nvSpPr>
        <p:spPr>
          <a:xfrm>
            <a:off x="1039499" y="53626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65;p29"/>
          <p:cNvSpPr txBox="1"/>
          <p:nvPr/>
        </p:nvSpPr>
        <p:spPr>
          <a:xfrm>
            <a:off x="1104807" y="55611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sz="7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8" name="Google Shape;166;p29"/>
          <p:cNvGrpSpPr/>
          <p:nvPr/>
        </p:nvGrpSpPr>
        <p:grpSpPr>
          <a:xfrm>
            <a:off x="1039499" y="7479969"/>
            <a:ext cx="1597200" cy="1597200"/>
            <a:chOff x="1039499" y="8887793"/>
            <a:chExt cx="1597200" cy="1597200"/>
          </a:xfrm>
        </p:grpSpPr>
        <p:sp>
          <p:nvSpPr>
            <p:cNvPr id="9" name="Google Shape;167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68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B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1" name="Google Shape;169;p29"/>
          <p:cNvGrpSpPr/>
          <p:nvPr/>
        </p:nvGrpSpPr>
        <p:grpSpPr>
          <a:xfrm>
            <a:off x="1039499" y="9597309"/>
            <a:ext cx="1597200" cy="1597200"/>
            <a:chOff x="1039499" y="11392904"/>
            <a:chExt cx="1597200" cy="1597200"/>
          </a:xfrm>
        </p:grpSpPr>
        <p:sp>
          <p:nvSpPr>
            <p:cNvPr id="12" name="Google Shape;170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71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C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4" name="Google Shape;172;p29"/>
          <p:cNvGrpSpPr/>
          <p:nvPr/>
        </p:nvGrpSpPr>
        <p:grpSpPr>
          <a:xfrm>
            <a:off x="1039499" y="11714649"/>
            <a:ext cx="1597200" cy="1597200"/>
            <a:chOff x="1039499" y="13898015"/>
            <a:chExt cx="1597200" cy="1597200"/>
          </a:xfrm>
        </p:grpSpPr>
        <p:sp>
          <p:nvSpPr>
            <p:cNvPr id="15" name="Google Shape;173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74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D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7" name="Google Shape;175;p29"/>
          <p:cNvSpPr txBox="1"/>
          <p:nvPr/>
        </p:nvSpPr>
        <p:spPr>
          <a:xfrm>
            <a:off x="3107605" y="77105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Surface tension and impulse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" name="Google Shape;176;p29"/>
          <p:cNvSpPr txBox="1"/>
          <p:nvPr/>
        </p:nvSpPr>
        <p:spPr>
          <a:xfrm>
            <a:off x="3107605" y="97778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Angular momentum and Planck's constant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" name="Google Shape;177;p29"/>
          <p:cNvSpPr txBox="1"/>
          <p:nvPr/>
        </p:nvSpPr>
        <p:spPr>
          <a:xfrm>
            <a:off x="3107605" y="119131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Torque and energy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0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20. The expression given below shows the variation of velocity (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υ </m:t>
                    </m:r>
                  </m:oMath>
                </a14:m>
              </mc:Choice>
              <mc:Fallback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υ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) with time (t),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υ = A</m:t>
                    </m:r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+ </m:t>
                    </m:r>
                    <m:f>
                      <m:fPr/>
                      <m:num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Bt</m:t>
                        </m:r>
                      </m:num>
                      <m:den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C+t</m:t>
                        </m:r>
                      </m:den>
                    </m:f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υ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= At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2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+ Bt/(C+t) </a:t>
                </a:r>
              </mc:Fallback>
            </mc:AlternateContent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. The dimension of ABC is: [29 Jan, 2025 (Shift-I)]</a:t>
            </a:r>
          </a:p>
        </p:txBody>
      </p:sp>
      <p:sp>
        <p:nvSpPr>
          <p:cNvPr id="3" name="Google Shape;161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[M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0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L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2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T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-2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] </a:t>
                </a:r>
              </mc:Fallback>
            </mc:AlternateContent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" name="Google Shape;162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63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Question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" name="Google Shape;164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65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sz="7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8" name="Google Shape;166;p29"/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67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68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B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1" name="Google Shape;169;p29"/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70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71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C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4" name="Google Shape;172;p29"/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73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74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D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7" name="Google Shape;175;p29"/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1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[M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0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L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1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T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-2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] </a:t>
                </a:r>
              </mc:Fallback>
            </mc:AlternateContent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" name="Google Shape;176;p29"/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[M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0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L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2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T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-3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] </a:t>
                </a:r>
              </mc:Fallback>
            </mc:AlternateContent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" name="Google Shape;177;p29"/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1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[M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0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L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1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T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-3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] </a:t>
                </a:r>
              </mc:Fallback>
            </mc:AlternateContent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0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21. Match List-I with List-II. [29 Jan, 2025 (Shift-II)]</a:t>
            </a:r>
          </a:p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61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(A)-(II), (B)-(IV), (C)-(I), (D)-(III)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" name="Google Shape;162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63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Question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" name="Google Shape;164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65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sz="7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8" name="Google Shape;166;p29"/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67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68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B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1" name="Google Shape;169;p29"/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70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71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C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4" name="Google Shape;172;p29"/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73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74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D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7" name="Google Shape;175;p29"/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(A)-(IV), (B)-(I), (C)-(IV), (D)-(III)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" name="Google Shape;176;p29"/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(A)-(IV), (B)-(II), (C)-(III), (D)-(I)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" name="Google Shape;177;p29"/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(A)-(I), (B)-(III), (C)-(II), (D)-(IV)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noFill/>
                <a:tableStyleId>{B31FD818-33D0-4644-BCFC-9FF504466488}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1" i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List-I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1" i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List-II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A. Young's Modulus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I. M L</a:t>
                      </a:r>
                      <a:r>
                        <a:rPr baseline="52000" lang="en-IN" sz="288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-1</a:t>
                      </a: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T</a:t>
                      </a:r>
                      <a:r>
                        <a:rPr baseline="52000" lang="en-IN" sz="288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-1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B. Torque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II. M L</a:t>
                      </a:r>
                      <a:r>
                        <a:rPr baseline="52000" lang="en-IN" sz="288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-1</a:t>
                      </a: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T</a:t>
                      </a:r>
                      <a:r>
                        <a:rPr baseline="52000" lang="en-IN" sz="288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-2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C. Coefficient of Viscosity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III. M</a:t>
                      </a:r>
                      <a:r>
                        <a:rPr baseline="52000" lang="en-IN" sz="288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-1</a:t>
                      </a: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L</a:t>
                      </a:r>
                      <a:r>
                        <a:rPr baseline="52000" lang="en-IN" sz="288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3</a:t>
                      </a: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T</a:t>
                      </a:r>
                      <a:r>
                        <a:rPr baseline="52000" lang="en-IN" sz="288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-2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D. Gravitational Constant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IV. M L</a:t>
                      </a:r>
                      <a:r>
                        <a:rPr baseline="52000" lang="en-IN" sz="288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</a:t>
                      </a: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T</a:t>
                      </a:r>
                      <a:r>
                        <a:rPr baseline="52000" lang="en-IN" sz="288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-2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0;p29"/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22. The dimensional formula of latent heat is: [09 April, 2024 (Shift-I)]</a:t>
            </a:r>
          </a:p>
        </p:txBody>
      </p:sp>
      <p:sp>
        <p:nvSpPr>
          <p:cNvPr id="3" name="Google Shape;161;p29"/>
          <p:cNvSpPr txBox="1"/>
          <p:nvPr/>
        </p:nvSpPr>
        <p:spPr>
          <a:xfrm>
            <a:off x="3107605" y="56534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L</m:t>
                    </m:r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[M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0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LT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-2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] </a:t>
                </a:r>
              </mc:Fallback>
            </mc:AlternateContent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" name="Google Shape;162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63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Question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" name="Google Shape;164;p29"/>
          <p:cNvSpPr/>
          <p:nvPr/>
        </p:nvSpPr>
        <p:spPr>
          <a:xfrm>
            <a:off x="1039499" y="53626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65;p29"/>
          <p:cNvSpPr txBox="1"/>
          <p:nvPr/>
        </p:nvSpPr>
        <p:spPr>
          <a:xfrm>
            <a:off x="1104807" y="55611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sz="7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8" name="Google Shape;166;p29"/>
          <p:cNvGrpSpPr/>
          <p:nvPr/>
        </p:nvGrpSpPr>
        <p:grpSpPr>
          <a:xfrm>
            <a:off x="1039499" y="7479969"/>
            <a:ext cx="1597200" cy="1597200"/>
            <a:chOff x="1039499" y="8887793"/>
            <a:chExt cx="1597200" cy="1597200"/>
          </a:xfrm>
        </p:grpSpPr>
        <p:sp>
          <p:nvSpPr>
            <p:cNvPr id="9" name="Google Shape;167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68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B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1" name="Google Shape;169;p29"/>
          <p:cNvGrpSpPr/>
          <p:nvPr/>
        </p:nvGrpSpPr>
        <p:grpSpPr>
          <a:xfrm>
            <a:off x="1039499" y="9597309"/>
            <a:ext cx="1597200" cy="1597200"/>
            <a:chOff x="1039499" y="11392904"/>
            <a:chExt cx="1597200" cy="1597200"/>
          </a:xfrm>
        </p:grpSpPr>
        <p:sp>
          <p:nvSpPr>
            <p:cNvPr id="12" name="Google Shape;170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71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C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4" name="Google Shape;172;p29"/>
          <p:cNvGrpSpPr/>
          <p:nvPr/>
        </p:nvGrpSpPr>
        <p:grpSpPr>
          <a:xfrm>
            <a:off x="1039499" y="11714649"/>
            <a:ext cx="1597200" cy="1597200"/>
            <a:chOff x="1039499" y="13898015"/>
            <a:chExt cx="1597200" cy="1597200"/>
          </a:xfrm>
        </p:grpSpPr>
        <p:sp>
          <p:nvSpPr>
            <p:cNvPr id="15" name="Google Shape;173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74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D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7" name="Google Shape;175;p29"/>
          <p:cNvSpPr txBox="1"/>
          <p:nvPr/>
        </p:nvSpPr>
        <p:spPr>
          <a:xfrm>
            <a:off x="3107605" y="77105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[ML</m:t>
                    </m:r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[MLT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-2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] </a:t>
                </a:r>
              </mc:Fallback>
            </mc:AlternateContent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" name="Google Shape;176;p29"/>
          <p:cNvSpPr txBox="1"/>
          <p:nvPr/>
        </p:nvSpPr>
        <p:spPr>
          <a:xfrm>
            <a:off x="3107605" y="97778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[M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0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L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2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T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-2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] </a:t>
                </a:r>
              </mc:Fallback>
            </mc:AlternateContent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" name="Google Shape;177;p29"/>
          <p:cNvSpPr txBox="1"/>
          <p:nvPr/>
        </p:nvSpPr>
        <p:spPr>
          <a:xfrm>
            <a:off x="3107605" y="119131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[ML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2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T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-2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] </a:t>
                </a:r>
              </mc:Fallback>
            </mc:AlternateContent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0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23. 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ε</a:t>
                </a:r>
                <a:r>
                  <a:rPr baseline="-25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0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 is the permittivity of free space and E is the electric field, then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ε</a:t>
                </a:r>
                <a:r>
                  <a:rPr baseline="-25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0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E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2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 has the dimensions: [08 April, 2024 (Shift-II)]</a:t>
            </a:r>
          </a:p>
        </p:txBody>
      </p:sp>
      <p:sp>
        <p:nvSpPr>
          <p:cNvPr id="3" name="Google Shape;161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T A] </m:t>
                    </m:r>
                  </m:oMath>
                </a14:m>
              </mc:Choice>
              <mc:Fallback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[M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0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L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-2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T A] </a:t>
                </a:r>
              </mc:Fallback>
            </mc:AlternateContent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" name="Google Shape;162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63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Question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" name="Google Shape;164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65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sz="7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8" name="Google Shape;166;p29"/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67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68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B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1" name="Google Shape;169;p29"/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70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71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C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4" name="Google Shape;172;p29"/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73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74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D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7" name="Google Shape;175;p29"/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[ML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-1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T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-2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] </a:t>
                </a:r>
              </mc:Fallback>
            </mc:AlternateContent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" name="Google Shape;176;p29"/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[M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-1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L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-3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T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4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A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2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] </a:t>
                </a:r>
              </mc:Fallback>
            </mc:AlternateContent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" name="Google Shape;177;p29"/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[ML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2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T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-2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] </a:t>
                </a:r>
              </mc:Fallback>
            </mc:AlternateContent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0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24. Given below are two statements:</a:t>
            </a:r>
          </a:p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Statement (I): Dimensions of specific heat is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K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[L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2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T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-2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K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-1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] </a:t>
                </a:r>
              </mc:Fallback>
            </mc:AlternateContent>
          </a:p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Statement (II): Dimensions of gas constant is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K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[ML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2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T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-1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K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-1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] </a:t>
                </a:r>
              </mc:Fallback>
            </mc:AlternateContent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 [06 April, 2024 (Shift-II)]</a:t>
            </a:r>
          </a:p>
        </p:txBody>
      </p:sp>
      <p:sp>
        <p:nvSpPr>
          <p:cNvPr id="3" name="Google Shape;161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Statement (I) is incorrect but statement (II) is correct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" name="Google Shape;162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63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Question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" name="Google Shape;164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65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sz="7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8" name="Google Shape;166;p29"/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67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68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B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1" name="Google Shape;169;p29"/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70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71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C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4" name="Google Shape;172;p29"/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73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74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D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7" name="Google Shape;175;p29"/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Both statement (I) and statement (II) are incorrect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" name="Google Shape;176;p29"/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Statement (I) is correct but statement (II) is incorrect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" name="Google Shape;177;p29"/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Both statement (I) and statement (II) are correct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0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25. Match List I with List II</a:t>
            </a:r>
          </a:p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Choose the correct answer from the options given below: [06 April, 2024 (Shift-II)]</a:t>
            </a:r>
          </a:p>
        </p:txBody>
      </p:sp>
      <p:sp>
        <p:nvSpPr>
          <p:cNvPr id="3" name="Google Shape;161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A-I, B-III, C-II, D-IV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" name="Google Shape;162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63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Question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" name="Google Shape;164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65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sz="7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8" name="Google Shape;166;p29"/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67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68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B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1" name="Google Shape;169;p29"/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70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71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C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4" name="Google Shape;172;p29"/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73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74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D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7" name="Google Shape;175;p29"/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A-IV, B-III, C-II, D-I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" name="Google Shape;176;p29"/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A-III, B-I, C-II, D-IV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" name="Google Shape;177;p29"/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A-IV, B-I, C-II, D-III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noFill/>
                <a:tableStyleId>{B31FD818-33D0-4644-BCFC-9FF504466488}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1" i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List-I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1" i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List-II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A. Torque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lang="en-IN" sz="40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lang="en-IN" sz="40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 [M</a:t>
                          </a:r>
                          <a:r>
                            <a:rPr baseline="52000" lang="en-IN" sz="288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1</a:t>
                          </a:r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L</a:t>
                          </a:r>
                          <a:r>
                            <a:rPr baseline="52000" lang="en-IN" sz="288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1</a:t>
                          </a:r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T</a:t>
                          </a:r>
                          <a:r>
                            <a:rPr baseline="52000" lang="en-IN" sz="288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-2</a:t>
                          </a:r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A</a:t>
                          </a:r>
                          <a:r>
                            <a:rPr baseline="52000" lang="en-IN" sz="288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-2</a:t>
                          </a:r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B. Magnetic field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lang="en-IN" sz="40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lang="en-IN" sz="40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 [L</a:t>
                          </a:r>
                          <a:r>
                            <a:rPr baseline="52000" lang="en-IN" sz="288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2</a:t>
                          </a:r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A</a:t>
                          </a:r>
                          <a:r>
                            <a:rPr baseline="52000" lang="en-IN" sz="288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1</a:t>
                          </a:r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C. Magnetic moment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lang="en-IN" sz="40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lang="en-IN" sz="40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 [M</a:t>
                          </a:r>
                          <a:r>
                            <a:rPr baseline="52000" lang="en-IN" sz="288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1</a:t>
                          </a:r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T</a:t>
                          </a:r>
                          <a:r>
                            <a:rPr baseline="52000" lang="en-IN" sz="288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-2</a:t>
                          </a:r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A</a:t>
                          </a:r>
                          <a:r>
                            <a:rPr baseline="52000" lang="en-IN" sz="288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-1</a:t>
                          </a:r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D. Permeability of free space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lang="en-IN" sz="40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lang="en-IN" sz="40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 [M</a:t>
                          </a:r>
                          <a:r>
                            <a:rPr baseline="52000" lang="en-IN" sz="288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1</a:t>
                          </a:r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L</a:t>
                          </a:r>
                          <a:r>
                            <a:rPr baseline="52000" lang="en-IN" sz="288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2</a:t>
                          </a:r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T</a:t>
                          </a:r>
                          <a:r>
                            <a:rPr baseline="52000" lang="en-IN" sz="288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-2</a:t>
                          </a:r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0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26. What is the dimensional formula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a</m:t>
                    </m:r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b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ab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-1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 in the equation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ctrlPr/>
                      </m:dPr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P + </m:t>
                        </m:r>
                        <m:f>
                          <m:fPr/>
                          <m:num>
                            <m:r>
                              <a:rPr lang="en-IN" sz="6000" b="1" i="0" u="none" strike="noStrike" cap="none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cs typeface="Cambria Math"/>
                                <a:sym typeface="Cambria Math"/>
                              </a:rPr>
                              <m:t xml:space="preserve">a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i="0" u="none" strike="noStrike" cap="none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  <a:sym typeface="Cambria Math"/>
                                  </a:rPr>
                                  <m:t xml:space="preserve">V</m:t>
                                </m:r>
                              </m:e>
                              <m:sup>
                                <m:r>
                                  <a:rPr lang="en-IN" sz="6000" b="1" i="0" u="none" strike="noStrike" cap="none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(V-b) = RT </m:t>
                    </m:r>
                  </m:oMath>
                </a14:m>
              </mc:Choice>
              <mc:Fallback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(P + a/(V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2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))(V-b) = RT </a:t>
                </a:r>
              </mc:Fallback>
            </mc:AlternateContent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, where letters have their usual meaning. [05 April, 2024 (Shift-I)]</a:t>
            </a:r>
          </a:p>
        </p:txBody>
      </p:sp>
      <p:sp>
        <p:nvSpPr>
          <p:cNvPr id="3" name="Google Shape;161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[M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0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L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3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T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-2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] </a:t>
                </a:r>
              </mc:Fallback>
            </mc:AlternateContent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" name="Google Shape;162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63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Question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" name="Google Shape;164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65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sz="7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8" name="Google Shape;166;p29"/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67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68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B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1" name="Google Shape;169;p29"/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70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71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C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4" name="Google Shape;172;p29"/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73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74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D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7" name="Google Shape;175;p29"/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[ML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2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T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-2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] </a:t>
                </a:r>
              </mc:Fallback>
            </mc:AlternateContent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" name="Google Shape;176;p29"/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5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[M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-1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L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5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T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3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] </a:t>
                </a:r>
              </mc:Fallback>
            </mc:AlternateContent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" name="Google Shape;177;p29"/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[M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0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L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3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T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4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] </a:t>
                </a:r>
              </mc:Fallback>
            </mc:AlternateContent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0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27. If G be the gravitational constant and u be the energy density then which of the following quantity have the dimension as that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</m:t>
                    </m:r>
                    <m:rad>
                      <m:radPr>
                        <m:degHide m:val="1"/>
                      </m:radPr>
                      <m:deg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uG</m:t>
                        </m:r>
                      </m:e>
                    </m:rad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√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uG </a:t>
                </a:r>
              </mc:Fallback>
            </mc:AlternateContent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: [05 April, 2024 (Shift-I)]</a:t>
            </a:r>
          </a:p>
        </p:txBody>
      </p:sp>
      <p:sp>
        <p:nvSpPr>
          <p:cNvPr id="3" name="Google Shape;161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Pressure gradient per unit mass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" name="Google Shape;162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63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Question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" name="Google Shape;164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65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sz="7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8" name="Google Shape;166;p29"/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67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68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B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1" name="Google Shape;169;p29"/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70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71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C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4" name="Google Shape;172;p29"/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73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74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D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7" name="Google Shape;175;p29"/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Force per unit mass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" name="Google Shape;176;p29"/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Gravitational potential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" name="Google Shape;177;p29"/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Energy per unit mass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0;p29"/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28. The dimensional formula of angular impulse is: [1 Feb, 2024 (Shift-I)]</a:t>
            </a:r>
          </a:p>
        </p:txBody>
      </p:sp>
      <p:sp>
        <p:nvSpPr>
          <p:cNvPr id="3" name="Google Shape;161;p29"/>
          <p:cNvSpPr txBox="1"/>
          <p:nvPr/>
        </p:nvSpPr>
        <p:spPr>
          <a:xfrm>
            <a:off x="3107605" y="56534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[ML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-2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T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-1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] </a:t>
                </a:r>
              </mc:Fallback>
            </mc:AlternateContent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" name="Google Shape;162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63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Question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" name="Google Shape;164;p29"/>
          <p:cNvSpPr/>
          <p:nvPr/>
        </p:nvSpPr>
        <p:spPr>
          <a:xfrm>
            <a:off x="1039499" y="53626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65;p29"/>
          <p:cNvSpPr txBox="1"/>
          <p:nvPr/>
        </p:nvSpPr>
        <p:spPr>
          <a:xfrm>
            <a:off x="1104807" y="55611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sz="7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8" name="Google Shape;166;p29"/>
          <p:cNvGrpSpPr/>
          <p:nvPr/>
        </p:nvGrpSpPr>
        <p:grpSpPr>
          <a:xfrm>
            <a:off x="1039499" y="7479969"/>
            <a:ext cx="1597200" cy="1597200"/>
            <a:chOff x="1039499" y="8887793"/>
            <a:chExt cx="1597200" cy="1597200"/>
          </a:xfrm>
        </p:grpSpPr>
        <p:sp>
          <p:nvSpPr>
            <p:cNvPr id="9" name="Google Shape;167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68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B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1" name="Google Shape;169;p29"/>
          <p:cNvGrpSpPr/>
          <p:nvPr/>
        </p:nvGrpSpPr>
        <p:grpSpPr>
          <a:xfrm>
            <a:off x="1039499" y="9597309"/>
            <a:ext cx="1597200" cy="1597200"/>
            <a:chOff x="1039499" y="11392904"/>
            <a:chExt cx="1597200" cy="1597200"/>
          </a:xfrm>
        </p:grpSpPr>
        <p:sp>
          <p:nvSpPr>
            <p:cNvPr id="12" name="Google Shape;170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71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C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4" name="Google Shape;172;p29"/>
          <p:cNvGrpSpPr/>
          <p:nvPr/>
        </p:nvGrpSpPr>
        <p:grpSpPr>
          <a:xfrm>
            <a:off x="1039499" y="11714649"/>
            <a:ext cx="1597200" cy="1597200"/>
            <a:chOff x="1039499" y="13898015"/>
            <a:chExt cx="1597200" cy="1597200"/>
          </a:xfrm>
        </p:grpSpPr>
        <p:sp>
          <p:nvSpPr>
            <p:cNvPr id="15" name="Google Shape;173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74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D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7" name="Google Shape;175;p29"/>
          <p:cNvSpPr txBox="1"/>
          <p:nvPr/>
        </p:nvSpPr>
        <p:spPr>
          <a:xfrm>
            <a:off x="3107605" y="77105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[ML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2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T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-2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] </a:t>
                </a:r>
              </mc:Fallback>
            </mc:AlternateContent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" name="Google Shape;176;p29"/>
          <p:cNvSpPr txBox="1"/>
          <p:nvPr/>
        </p:nvSpPr>
        <p:spPr>
          <a:xfrm>
            <a:off x="3107605" y="97778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[ML</m:t>
                    </m:r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[MLT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-1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] </a:t>
                </a:r>
              </mc:Fallback>
            </mc:AlternateContent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" name="Google Shape;177;p29"/>
          <p:cNvSpPr txBox="1"/>
          <p:nvPr/>
        </p:nvSpPr>
        <p:spPr>
          <a:xfrm>
            <a:off x="3107605" y="119131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i="0" u="none" strike="noStrike" cap="none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cs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i="0" u="none" strike="noStrike" cap="none">
                        <a:solidFill>
                          <a:schemeClr val="lt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[ML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2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T</a:t>
                </a:r>
                <a:r>
                  <a:rPr baseline="52000" lang="en-IN" sz="432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-1</a:t>
                </a:r>
                <a:r>
                  <a:rPr lang="en-IN" sz="6000" b="1" i="0" u="none" strike="noStrike" cap="none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] </a:t>
                </a:r>
              </mc:Fallback>
            </mc:AlternateContent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0;p29"/>
          <p:cNvSpPr txBox="1"/>
          <p:nvPr/>
        </p:nvSpPr>
        <p:spPr>
          <a:xfrm>
            <a:off x="1104806" y="2396709"/>
            <a:ext cx="347472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29. Given below are two statements:</a:t>
            </a:r>
          </a:p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Statement-I: Planck's constant and angular momentum have same dimensions.</a:t>
            </a:r>
          </a:p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Statement-II: Linear momentum and moment of force have same dimensions.</a:t>
            </a:r>
          </a:p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In the light of the above statements, choose the correct answer from the options given below: [27 Jan, 2024 (Shift-I)]</a:t>
            </a:r>
          </a:p>
        </p:txBody>
      </p:sp>
      <p:sp>
        <p:nvSpPr>
          <p:cNvPr id="3" name="Google Shape;161;p29"/>
          <p:cNvSpPr txBox="1"/>
          <p:nvPr/>
        </p:nvSpPr>
        <p:spPr>
          <a:xfrm>
            <a:off x="3107605" y="83966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Statement-I is true but Statement-II is false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" name="Google Shape;162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63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Question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" name="Google Shape;164;p29"/>
          <p:cNvSpPr/>
          <p:nvPr/>
        </p:nvSpPr>
        <p:spPr>
          <a:xfrm>
            <a:off x="1039499" y="81058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65;p29"/>
          <p:cNvSpPr txBox="1"/>
          <p:nvPr/>
        </p:nvSpPr>
        <p:spPr>
          <a:xfrm>
            <a:off x="1104807" y="83043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sz="7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8" name="Google Shape;166;p29"/>
          <p:cNvGrpSpPr/>
          <p:nvPr/>
        </p:nvGrpSpPr>
        <p:grpSpPr>
          <a:xfrm>
            <a:off x="1039499" y="10223169"/>
            <a:ext cx="1597200" cy="1597200"/>
            <a:chOff x="1039499" y="8887793"/>
            <a:chExt cx="1597200" cy="1597200"/>
          </a:xfrm>
        </p:grpSpPr>
        <p:sp>
          <p:nvSpPr>
            <p:cNvPr id="9" name="Google Shape;167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68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B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1" name="Google Shape;169;p29"/>
          <p:cNvGrpSpPr/>
          <p:nvPr/>
        </p:nvGrpSpPr>
        <p:grpSpPr>
          <a:xfrm>
            <a:off x="1039499" y="12340509"/>
            <a:ext cx="1597200" cy="1597200"/>
            <a:chOff x="1039499" y="11392904"/>
            <a:chExt cx="1597200" cy="1597200"/>
          </a:xfrm>
        </p:grpSpPr>
        <p:sp>
          <p:nvSpPr>
            <p:cNvPr id="12" name="Google Shape;170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71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C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4" name="Google Shape;172;p29"/>
          <p:cNvGrpSpPr/>
          <p:nvPr/>
        </p:nvGrpSpPr>
        <p:grpSpPr>
          <a:xfrm>
            <a:off x="1039499" y="14457849"/>
            <a:ext cx="1597200" cy="1597200"/>
            <a:chOff x="1039499" y="13898015"/>
            <a:chExt cx="1597200" cy="1597200"/>
          </a:xfrm>
        </p:grpSpPr>
        <p:sp>
          <p:nvSpPr>
            <p:cNvPr id="15" name="Google Shape;173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74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D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7" name="Google Shape;175;p29"/>
          <p:cNvSpPr txBox="1"/>
          <p:nvPr/>
        </p:nvSpPr>
        <p:spPr>
          <a:xfrm>
            <a:off x="3107605" y="104537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Both Statement-I and Statement-II are false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" name="Google Shape;176;p29"/>
          <p:cNvSpPr txBox="1"/>
          <p:nvPr/>
        </p:nvSpPr>
        <p:spPr>
          <a:xfrm>
            <a:off x="3107605" y="125210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Both Statement-I and Statement-II are true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" name="Google Shape;177;p29"/>
          <p:cNvSpPr txBox="1"/>
          <p:nvPr/>
        </p:nvSpPr>
        <p:spPr>
          <a:xfrm>
            <a:off x="3107605" y="146563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Statement-I is false but Statement-II is true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0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30. Match List-I with List-II. [30 Jan, 2024 (Shift-I)]</a:t>
            </a:r>
          </a:p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61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A-II, B-I, C-IV, D-III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" name="Google Shape;162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63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Question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" name="Google Shape;164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65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sz="7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8" name="Google Shape;166;p29"/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67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68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B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1" name="Google Shape;169;p29"/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70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71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C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4" name="Google Shape;172;p29"/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73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74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D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7" name="Google Shape;175;p29"/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A-I, B-II, C-III, D-IV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" name="Google Shape;176;p29"/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A-III, B-IV, C-II, D-I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" name="Google Shape;177;p29"/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A-IV, B-III, C-II, D-I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noFill/>
                <a:tableStyleId>{B31FD818-33D0-4644-BCFC-9FF504466488}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1" i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List-I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1" i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List-II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A. Coefficient of viscosity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lang="en-IN" sz="40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lang="en-IN" sz="40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 [M L</a:t>
                          </a:r>
                          <a:r>
                            <a:rPr baseline="52000" lang="en-IN" sz="288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2</a:t>
                          </a:r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T</a:t>
                          </a:r>
                          <a:r>
                            <a:rPr baseline="52000" lang="en-IN" sz="288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-2</a:t>
                          </a:r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B. Surface Tension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lang="en-IN" sz="40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lang="en-IN" sz="40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 [M L</a:t>
                          </a:r>
                          <a:r>
                            <a:rPr baseline="52000" lang="en-IN" sz="288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2</a:t>
                          </a:r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T</a:t>
                          </a:r>
                          <a:r>
                            <a:rPr baseline="52000" lang="en-IN" sz="288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-2</a:t>
                          </a:r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C. Angular momentum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lang="en-IN" sz="40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lang="en-IN" sz="40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 [M L</a:t>
                          </a:r>
                          <a:r>
                            <a:rPr baseline="52000" lang="en-IN" sz="288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-1</a:t>
                          </a:r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T</a:t>
                          </a:r>
                          <a:r>
                            <a:rPr baseline="52000" lang="en-IN" sz="288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-1</a:t>
                          </a:r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D. Rotational kinetic energy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lang="en-IN" sz="40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lang="en-IN" sz="40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 [M L</a:t>
                          </a:r>
                          <a:r>
                            <a:rPr baseline="52000" lang="en-IN" sz="288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0</a:t>
                          </a:r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T</a:t>
                          </a:r>
                          <a:r>
                            <a:rPr baseline="52000" lang="en-IN" sz="288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-2</a:t>
                          </a:r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0;p29"/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31. Match List-I with List-II.</a:t>
            </a:r>
          </a:p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61;p29"/>
          <p:cNvSpPr txBox="1"/>
          <p:nvPr/>
        </p:nvSpPr>
        <p:spPr>
          <a:xfrm>
            <a:off x="3107605" y="1139152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A-II, B-III, C-IV, D-I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" name="Google Shape;162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63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Question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" name="Google Shape;164;p29"/>
          <p:cNvSpPr/>
          <p:nvPr/>
        </p:nvSpPr>
        <p:spPr>
          <a:xfrm>
            <a:off x="1039499" y="11100731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65;p29"/>
          <p:cNvSpPr txBox="1"/>
          <p:nvPr/>
        </p:nvSpPr>
        <p:spPr>
          <a:xfrm>
            <a:off x="1104807" y="11299236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sz="7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8" name="Google Shape;166;p29"/>
          <p:cNvGrpSpPr/>
          <p:nvPr/>
        </p:nvGrpSpPr>
        <p:grpSpPr>
          <a:xfrm>
            <a:off x="1039499" y="13218071"/>
            <a:ext cx="1597200" cy="1597200"/>
            <a:chOff x="1039499" y="8887793"/>
            <a:chExt cx="1597200" cy="1597200"/>
          </a:xfrm>
        </p:grpSpPr>
        <p:sp>
          <p:nvSpPr>
            <p:cNvPr id="9" name="Google Shape;167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68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B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1" name="Google Shape;169;p29"/>
          <p:cNvGrpSpPr/>
          <p:nvPr/>
        </p:nvGrpSpPr>
        <p:grpSpPr>
          <a:xfrm>
            <a:off x="1039499" y="15335411"/>
            <a:ext cx="1597200" cy="1597200"/>
            <a:chOff x="1039499" y="11392904"/>
            <a:chExt cx="1597200" cy="1597200"/>
          </a:xfrm>
        </p:grpSpPr>
        <p:sp>
          <p:nvSpPr>
            <p:cNvPr id="12" name="Google Shape;170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71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C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4" name="Google Shape;172;p29"/>
          <p:cNvGrpSpPr/>
          <p:nvPr/>
        </p:nvGrpSpPr>
        <p:grpSpPr>
          <a:xfrm>
            <a:off x="1039499" y="17452751"/>
            <a:ext cx="1597200" cy="1597200"/>
            <a:chOff x="1039499" y="13898015"/>
            <a:chExt cx="1597200" cy="1597200"/>
          </a:xfrm>
        </p:grpSpPr>
        <p:sp>
          <p:nvSpPr>
            <p:cNvPr id="15" name="Google Shape;173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74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D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7" name="Google Shape;175;p29"/>
          <p:cNvSpPr txBox="1"/>
          <p:nvPr/>
        </p:nvSpPr>
        <p:spPr>
          <a:xfrm>
            <a:off x="3107605" y="13448662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A-III, B-I, C-II, D-IV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" name="Google Shape;176;p29"/>
          <p:cNvSpPr txBox="1"/>
          <p:nvPr/>
        </p:nvSpPr>
        <p:spPr>
          <a:xfrm>
            <a:off x="3107605" y="15515977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A-I, B-III, C-IV, D-II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" name="Google Shape;177;p29"/>
          <p:cNvSpPr txBox="1"/>
          <p:nvPr/>
        </p:nvSpPr>
        <p:spPr>
          <a:xfrm>
            <a:off x="3107605" y="1765125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A-I, B-II, C-III, D-IV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4562629"/>
          <a:ext cx="34747200" cy="5218102"/>
        </p:xfrm>
        <a:graphic>
          <a:graphicData uri="http://schemas.openxmlformats.org/drawingml/2006/table">
            <a:tbl>
              <a:tblPr firstRow="1" bandRow="1">
                <a:noFill/>
                <a:tableStyleId>{B31FD818-33D0-4644-BCFC-9FF504466488}</a:tableStyleId>
              </a:tblPr>
              <a:tblGrid>
                <a:gridCol w="17373600"/>
                <a:gridCol w="17373600"/>
              </a:tblGrid>
              <a:tr h="1043621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400" b="1" i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List-I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400" b="1" i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List-I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043621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4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A. Young's Modulus (Y)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4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lang="en-IN" sz="44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lang="en-IN" sz="44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lang="en-IN" sz="44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lang="en-IN" sz="44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lang="en-IN" sz="44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lang="en-IN" sz="44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lang="en-IN" sz="44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 [ML</a:t>
                          </a:r>
                          <a:r>
                            <a:rPr baseline="52000" lang="en-IN" sz="3168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-1</a:t>
                          </a:r>
                          <a:r>
                            <a:rPr lang="en-IN" sz="44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T</a:t>
                          </a:r>
                          <a:r>
                            <a:rPr baseline="52000" lang="en-IN" sz="3168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-1</a:t>
                          </a:r>
                          <a:r>
                            <a:rPr lang="en-IN" sz="44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043620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4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B. Coefficient of Viscosity (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lang="en-IN" sz="44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η </m:t>
                              </m:r>
                            </m:oMath>
                          </a14:m>
                        </mc:Choice>
                        <mc:Fallback>
                          <a:r>
                            <a:rPr lang="en-IN" sz="44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 </a:t>
                          </a:r>
                          <a:r>
                            <a:rPr lang="en-IN" sz="4400" b="0" i="0" u="none" strike="noStrike" cap="none">
                              <a:solidFill>
                                <a:srgbClr val="000000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η</a:t>
                          </a:r>
                          <a:r>
                            <a:rPr lang="en-IN" sz="44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 </a:t>
                          </a:r>
                        </mc:Fallback>
                      </mc:AlternateContent>
                      <a:r>
                        <a:rPr lang="en-IN" sz="44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)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4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lang="en-IN" sz="44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lang="en-IN" sz="44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lang="en-IN" sz="44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lang="en-IN" sz="44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lang="en-IN" sz="44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lang="en-IN" sz="44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lang="en-IN" sz="44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 [ML</a:t>
                          </a:r>
                          <a:r>
                            <a:rPr baseline="52000" lang="en-IN" sz="3168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2</a:t>
                          </a:r>
                          <a:r>
                            <a:rPr lang="en-IN" sz="44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T</a:t>
                          </a:r>
                          <a:r>
                            <a:rPr baseline="52000" lang="en-IN" sz="3168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-1</a:t>
                          </a:r>
                          <a:r>
                            <a:rPr lang="en-IN" sz="44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043620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4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C. Planck's Constant (h)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4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lang="en-IN" sz="44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lang="en-IN" sz="44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lang="en-IN" sz="44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lang="en-IN" sz="44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lang="en-IN" sz="44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lang="en-IN" sz="44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lang="en-IN" sz="44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 [ML</a:t>
                          </a:r>
                          <a:r>
                            <a:rPr baseline="52000" lang="en-IN" sz="3168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-1</a:t>
                          </a:r>
                          <a:r>
                            <a:rPr lang="en-IN" sz="44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T</a:t>
                          </a:r>
                          <a:r>
                            <a:rPr baseline="52000" lang="en-IN" sz="3168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-2</a:t>
                          </a:r>
                          <a:r>
                            <a:rPr lang="en-IN" sz="44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043620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4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D. Work Function (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lang="en-IN" sz="44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φ </m:t>
                              </m:r>
                            </m:oMath>
                          </a14:m>
                        </mc:Choice>
                        <mc:Fallback>
                          <a:r>
                            <a:rPr lang="en-IN" sz="44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 </a:t>
                          </a:r>
                          <a:r>
                            <a:rPr lang="en-IN" sz="4400" b="0" i="0" u="none" strike="noStrike" cap="none">
                              <a:solidFill>
                                <a:srgbClr val="000000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φ</a:t>
                          </a:r>
                          <a:r>
                            <a:rPr lang="en-IN" sz="44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 </a:t>
                          </a:r>
                        </mc:Fallback>
                      </mc:AlternateContent>
                      <a:r>
                        <a:rPr lang="en-IN" sz="44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)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4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lang="en-IN" sz="44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lang="en-IN" sz="44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lang="en-IN" sz="44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lang="en-IN" sz="44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lang="en-IN" sz="44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lang="en-IN" sz="44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lang="en-IN" sz="44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 [ML</a:t>
                          </a:r>
                          <a:r>
                            <a:rPr baseline="52000" lang="en-IN" sz="3168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2</a:t>
                          </a:r>
                          <a:r>
                            <a:rPr lang="en-IN" sz="44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T</a:t>
                          </a:r>
                          <a:r>
                            <a:rPr baseline="52000" lang="en-IN" sz="3168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-2</a:t>
                          </a:r>
                          <a:r>
                            <a:rPr lang="en-IN" sz="44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0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32. Match List-I with List-II:</a:t>
            </a:r>
          </a:p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Choose the correct answer from the options given below: [25 Jan, 2023 (Shift-II)] [29 Jan, 2023 (Shift-I)]</a:t>
            </a:r>
          </a:p>
        </p:txBody>
      </p:sp>
      <p:sp>
        <p:nvSpPr>
          <p:cNvPr id="3" name="Google Shape;161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A-III, B-II, C-I, D-IV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" name="Google Shape;162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63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Question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" name="Google Shape;164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65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sz="7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8" name="Google Shape;166;p29"/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67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68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B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1" name="Google Shape;169;p29"/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70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71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C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4" name="Google Shape;172;p29"/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73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74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D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7" name="Google Shape;175;p29"/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A-II, B-III, C-IV, D-I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" name="Google Shape;176;p29"/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A-III, B-II, C-IV, D-I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" name="Google Shape;177;p29"/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A-II, B-III, C-I, D-IV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noFill/>
                <a:tableStyleId>{B31FD818-33D0-4644-BCFC-9FF504466488}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1" i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List-I (Physical Quantity)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1" i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List-II (Dimensional Formula)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A. Pressure gradient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lang="en-IN" sz="40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lang="en-IN" sz="40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 [M</a:t>
                          </a:r>
                          <a:r>
                            <a:rPr baseline="52000" lang="en-IN" sz="288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0</a:t>
                          </a:r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L</a:t>
                          </a:r>
                          <a:r>
                            <a:rPr baseline="52000" lang="en-IN" sz="288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2</a:t>
                          </a:r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T</a:t>
                          </a:r>
                          <a:r>
                            <a:rPr baseline="52000" lang="en-IN" sz="288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-2</a:t>
                          </a:r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B. Energy density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lang="en-IN" sz="40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lang="en-IN" sz="40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 [M</a:t>
                          </a:r>
                          <a:r>
                            <a:rPr baseline="52000" lang="en-IN" sz="288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0</a:t>
                          </a:r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L</a:t>
                          </a:r>
                          <a:r>
                            <a:rPr baseline="52000" lang="en-IN" sz="288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-1</a:t>
                          </a:r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T</a:t>
                          </a:r>
                          <a:r>
                            <a:rPr baseline="52000" lang="en-IN" sz="288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-2</a:t>
                          </a:r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C. Electric Field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lang="en-IN" sz="40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lang="en-IN" sz="40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 [M</a:t>
                          </a:r>
                          <a:r>
                            <a:rPr baseline="52000" lang="en-IN" sz="288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1</a:t>
                          </a:r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L</a:t>
                          </a:r>
                          <a:r>
                            <a:rPr baseline="52000" lang="en-IN" sz="288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2</a:t>
                          </a:r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T</a:t>
                          </a:r>
                          <a:r>
                            <a:rPr baseline="52000" lang="en-IN" sz="288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-2</a:t>
                          </a:r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D. Latent heat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lang="en-IN" sz="40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lang="en-IN" sz="40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lang="en-IN" sz="4000" b="0" i="0" u="none" strike="noStrike" cap="none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 [M</a:t>
                          </a:r>
                          <a:r>
                            <a:rPr baseline="52000" lang="en-IN" sz="288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0</a:t>
                          </a:r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L</a:t>
                          </a:r>
                          <a:r>
                            <a:rPr baseline="52000" lang="en-IN" sz="288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1</a:t>
                          </a:r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T</a:t>
                          </a:r>
                          <a:r>
                            <a:rPr baseline="52000" lang="en-IN" sz="288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-3</a:t>
                          </a:r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A</a:t>
                          </a:r>
                          <a:r>
                            <a:rPr baseline="52000" lang="en-IN" sz="288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-1</a:t>
                          </a:r>
                          <a:r>
                            <a:rPr lang="en-IN" sz="4000" b="0" i="0" u="none" strike="noStrike" cap="none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0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33. Match List - I with List - II</a:t>
            </a:r>
          </a:p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Choose the correct answer from the options given below: [25 Jan, 2023 (Shift-I)]</a:t>
            </a:r>
          </a:p>
        </p:txBody>
      </p:sp>
      <p:sp>
        <p:nvSpPr>
          <p:cNvPr id="3" name="Google Shape;161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A-(IV), B-(III), C-(II), D-(I)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" name="Google Shape;162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63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Question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" name="Google Shape;164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65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sz="7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8" name="Google Shape;166;p29"/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67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68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B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1" name="Google Shape;169;p29"/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70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71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C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4" name="Google Shape;172;p29"/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73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74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D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7" name="Google Shape;175;p29"/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A-(IV), B-(III), C-(I), D-(II)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" name="Google Shape;176;p29"/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A-(III), B-(IV), C-(I), D-(II)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" name="Google Shape;177;p29"/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A-(II), B-(I), C-(III), D-(IV)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noFill/>
                <a:tableStyleId>{B31FD818-33D0-4644-BCFC-9FF504466488}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1" i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List - I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1" i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List - II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A. Surface tension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I. Kgm</a:t>
                      </a:r>
                      <a:r>
                        <a:rPr baseline="52000" lang="en-IN" sz="288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-1</a:t>
                      </a: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</a:t>
                      </a:r>
                      <a:r>
                        <a:rPr baseline="52000" lang="en-IN" sz="288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-1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B. Pressure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II. Kgms</a:t>
                      </a:r>
                      <a:r>
                        <a:rPr baseline="52000" lang="en-IN" sz="288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-1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C. Viscosity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III. Kgm</a:t>
                      </a:r>
                      <a:r>
                        <a:rPr baseline="52000" lang="en-IN" sz="288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-1</a:t>
                      </a: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</a:t>
                      </a:r>
                      <a:r>
                        <a:rPr baseline="52000" lang="en-IN" sz="288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-2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D. Impulse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IV. Kgs</a:t>
                      </a:r>
                      <a:r>
                        <a:rPr baseline="52000" lang="en-IN" sz="288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-2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0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34. Match List-I with List-II</a:t>
            </a:r>
          </a:p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Choose the correct answer from the options given below: [12 April, 2023 (Shift-I)]</a:t>
            </a:r>
          </a:p>
        </p:txBody>
      </p:sp>
      <p:sp>
        <p:nvSpPr>
          <p:cNvPr id="3" name="Google Shape;161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A-II, B-I, C-IV, D-III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" name="Google Shape;162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63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Question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" name="Google Shape;164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65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sz="7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8" name="Google Shape;166;p29"/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67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68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B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1" name="Google Shape;169;p29"/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70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71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C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4" name="Google Shape;172;p29"/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73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74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D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7" name="Google Shape;175;p29"/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A-IV, B-I, C-III, D-II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" name="Google Shape;176;p29"/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A-II, B-III, C-I, D-IV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" name="Google Shape;177;p29"/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A-I, B-III, C-II, D-IV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noFill/>
                <a:tableStyleId>{B31FD818-33D0-4644-BCFC-9FF504466488}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1" i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List-I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1" i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List-II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A. Spring constant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I. (T</a:t>
                      </a:r>
                      <a:r>
                        <a:rPr baseline="52000" lang="en-IN" sz="288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-1</a:t>
                      </a: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)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B. Angular speed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II. (MT</a:t>
                      </a:r>
                      <a:r>
                        <a:rPr baseline="52000" lang="en-IN" sz="288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-2</a:t>
                      </a: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)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C. Angular momentum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III. (ML</a:t>
                      </a:r>
                      <a:r>
                        <a:rPr baseline="52000" lang="en-IN" sz="288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</a:t>
                      </a: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)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D. Moment of Inertia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IV. (ML</a:t>
                      </a:r>
                      <a:r>
                        <a:rPr baseline="52000" lang="en-IN" sz="288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</a:t>
                      </a: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</a:t>
                      </a:r>
                      <a:r>
                        <a:rPr baseline="52000" lang="en-IN" sz="288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-1</a:t>
                      </a: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)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0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35. Match List-I with List-II.</a:t>
            </a:r>
          </a:p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Choose the correct answer from the options given below: [31 Jan, 2023 (Shift-II)]</a:t>
            </a:r>
          </a:p>
        </p:txBody>
      </p:sp>
      <p:sp>
        <p:nvSpPr>
          <p:cNvPr id="3" name="Google Shape;161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A-I, B-IV, C-III, D-II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" name="Google Shape;162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63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Question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" name="Google Shape;164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65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IN"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sz="7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8" name="Google Shape;166;p29"/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67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68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B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1" name="Google Shape;169;p29"/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70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71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C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4" name="Google Shape;172;p29"/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73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74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7000" b="1" i="0" u="none" strike="noStrike" cap="none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D</a:t>
              </a:r>
              <a:endParaRPr sz="7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7" name="Google Shape;175;p29"/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A-III, B-I, C-IV, D-II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" name="Google Shape;176;p29"/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A-II, B-III, C-IV, D-I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" name="Google Shape;177;p29"/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A-IV, B-II, C-I, D-III</a:t>
            </a:r>
            <a:endParaRPr sz="6000" b="1" i="0" u="none" strike="noStrike" cap="non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noFill/>
                <a:tableStyleId>{B31FD818-33D0-4644-BCFC-9FF504466488}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1" i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List-I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1" i="0" u="none" strike="noStrike" cap="non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List-II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A. Angular momentum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I. [ML</a:t>
                      </a:r>
                      <a:r>
                        <a:rPr baseline="52000" lang="en-IN" sz="288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</a:t>
                      </a: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T</a:t>
                      </a:r>
                      <a:r>
                        <a:rPr baseline="52000" lang="en-IN" sz="288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-2</a:t>
                      </a: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]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B. Torque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II. [ML</a:t>
                      </a:r>
                      <a:r>
                        <a:rPr baseline="52000" lang="en-IN" sz="288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-2</a:t>
                      </a: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T</a:t>
                      </a:r>
                      <a:r>
                        <a:rPr baseline="52000" lang="en-IN" sz="288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-2</a:t>
                      </a: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]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C. Stress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III. [ML</a:t>
                      </a:r>
                      <a:r>
                        <a:rPr baseline="52000" lang="en-IN" sz="288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</a:t>
                      </a: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T</a:t>
                      </a:r>
                      <a:r>
                        <a:rPr baseline="52000" lang="en-IN" sz="288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-1</a:t>
                      </a: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]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D. Pressure gradient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0"/>
                        <a:buFont typeface="Arial"/>
                        <a:buNone/>
                      </a:pP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IV. [ML</a:t>
                      </a:r>
                      <a:r>
                        <a:rPr baseline="52000" lang="en-IN" sz="288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-1</a:t>
                      </a: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T</a:t>
                      </a:r>
                      <a:r>
                        <a:rPr baseline="52000" lang="en-IN" sz="288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-2</a:t>
                      </a:r>
                      <a:r>
                        <a:rPr lang="en-IN" sz="4000" b="0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]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364</Words>
  <Application>Microsoft Office PowerPoint</Application>
  <PresentationFormat>Custom</PresentationFormat>
  <Paragraphs>125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Noto Sans Symbols</vt:lpstr>
      <vt:lpstr>Cambria</vt:lpstr>
      <vt:lpstr>Poppins</vt:lpstr>
      <vt:lpstr>Play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PW MSO 530</dc:creator>
  <cp:lastModifiedBy>PW MSO 390</cp:lastModifiedBy>
  <cp:revision>3</cp:revision>
  <dcterms:created xsi:type="dcterms:W3CDTF">2025-02-10T10:24:55Z</dcterms:created>
  <dcterms:modified xsi:type="dcterms:W3CDTF">2026-08-08T07:18:08Z</dcterms:modified>
</cp:coreProperties>
</file>