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  <p:sldId id="274" r:id="rId118"/>
    <p:sldId id="275" r:id="rId119"/>
    <p:sldId id="276" r:id="rId120"/>
    <p:sldId id="277" r:id="rId121"/>
    <p:sldId id="278" r:id="rId122"/>
    <p:sldId id="279" r:id="rId123"/>
    <p:sldId id="280" r:id="rId124"/>
    <p:sldId id="281" r:id="rId125"/>
    <p:sldId id="282" r:id="rId126"/>
    <p:sldId id="283" r:id="rId127"/>
    <p:sldId id="284" r:id="rId128"/>
    <p:sldId id="285" r:id="rId129"/>
    <p:sldId id="286" r:id="rId130"/>
    <p:sldId id="287" r:id="rId131"/>
    <p:sldId id="288" r:id="rId132"/>
    <p:sldId id="289" r:id="rId133"/>
    <p:sldId id="290" r:id="rId134"/>
  </p:sldIdLst>
  <p:sldSz cy="20574000" cx="36576000"/>
  <p:notesSz cx="6858000" cy="9144000"/>
  <p:embeddedFontLst>
    <p:embeddedFont>
      <p:font typeface="Play"/>
      <p:regular r:id="rId14"/>
      <p:bold r:id="rId15"/>
    </p:embeddedFon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V07PD8zlqM2SEz6WwVlGLHKeB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81514A-FE7A-401F-91E9-0F86E8B910C8}">
  <a:tblStyle styleId="{6A81514A-FE7A-401F-91E9-0F86E8B910C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64" orient="horz"/>
        <p:guide pos="55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italic.fntdata"/><Relationship Id="rIdLayout1" Type="http://schemas.openxmlformats.org/officeDocument/2006/relationships/slideLayout" Target="../slideLayouts/slideLayout2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21.xml"/><Relationship Id="rId121" Type="http://schemas.openxmlformats.org/officeDocument/2006/relationships/slide" Target="slides/slide22.xml"/><Relationship Id="rId122" Type="http://schemas.openxmlformats.org/officeDocument/2006/relationships/slide" Target="slides/slide23.xml"/><Relationship Id="rId123" Type="http://schemas.openxmlformats.org/officeDocument/2006/relationships/slide" Target="slides/slide24.xml"/><Relationship Id="rId124" Type="http://schemas.openxmlformats.org/officeDocument/2006/relationships/slide" Target="slides/slide25.xml"/><Relationship Id="rId125" Type="http://schemas.openxmlformats.org/officeDocument/2006/relationships/slide" Target="slides/slide26.xml"/><Relationship Id="rId126" Type="http://schemas.openxmlformats.org/officeDocument/2006/relationships/slide" Target="slides/slide27.xml"/><Relationship Id="rId127" Type="http://schemas.openxmlformats.org/officeDocument/2006/relationships/slide" Target="slides/slide28.xml"/><Relationship Id="rId128" Type="http://schemas.openxmlformats.org/officeDocument/2006/relationships/slide" Target="slides/slide29.xml"/><Relationship Id="rId129" Type="http://schemas.openxmlformats.org/officeDocument/2006/relationships/slide" Target="slides/slide30.xml"/><Relationship Id="rId130" Type="http://schemas.openxmlformats.org/officeDocument/2006/relationships/slide" Target="slides/slide31.xml"/><Relationship Id="rId131" Type="http://schemas.openxmlformats.org/officeDocument/2006/relationships/slide" Target="slides/slide32.xml"/><Relationship Id="rId132" Type="http://schemas.openxmlformats.org/officeDocument/2006/relationships/slide" Target="slides/slide33.xml"/><Relationship Id="rId133" Type="http://schemas.openxmlformats.org/officeDocument/2006/relationships/slide" Target="slides/slide34.xml"/><Relationship Id="rId134" Type="http://schemas.openxmlformats.org/officeDocument/2006/relationships/slide" Target="slides/slide3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subTitle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9pPr>
          </a:lstStyle>
          <a:p/>
        </p:txBody>
      </p:sp>
      <p:sp>
        <p:nvSpPr>
          <p:cNvPr id="50" name="Google Shape;50;p22"/>
          <p:cNvSpPr txBox="1"/>
          <p:nvPr>
            <p:ph idx="2" type="body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3" type="body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9pPr>
          </a:lstStyle>
          <a:p/>
        </p:txBody>
      </p:sp>
      <p:sp>
        <p:nvSpPr>
          <p:cNvPr id="52" name="Google Shape;52;p22"/>
          <p:cNvSpPr txBox="1"/>
          <p:nvPr>
            <p:ph idx="4" type="body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body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382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indent="-762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indent="-6858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indent="-609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indent="-609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indent="-609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indent="-609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indent="-609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indent="-609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/>
        </p:txBody>
      </p:sp>
      <p:sp>
        <p:nvSpPr>
          <p:cNvPr id="64" name="Google Shape;64;p24"/>
          <p:cNvSpPr txBox="1"/>
          <p:nvPr>
            <p:ph idx="2" type="body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/>
          <p:nvPr>
            <p:ph idx="2" type="pic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72" name="Google Shape;72;p25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" type="body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/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" type="body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b="0" i="0" sz="1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62000" lvl="0" marL="457200" marR="0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b="0" i="0" sz="8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09600" lvl="2" marL="1371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1500" lvl="3" marL="1828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1500" lvl="4" marL="22860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1500" lvl="5" marL="2743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1500" lvl="6" marL="3200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1500" lvl="7" marL="3657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1500" lvl="8" marL="4114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flipH="1" rot="10800000">
              <a:off x="11306724" y="96065"/>
              <a:ext cx="685786" cy="889845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6941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r>
                <a:t/>
              </a:r>
              <a:endParaRPr b="0" i="0" sz="16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2">
              <a:alphaModFix/>
            </a:blip>
            <a:srcRect b="9836" l="8081" r="10621" t="7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4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5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6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7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8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9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0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1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2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3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4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5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6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7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8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9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0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1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2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3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4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5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6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7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8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9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0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1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2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3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4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5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(B)-(I), (C)-(II),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(A)-(IV), (B)-(III), (C)-(II), (D)-(I)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(B)-(IV), (C)-(I), (D)-(II)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(A)-(II), (B)-(III), (C)-(I),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(B)-(II), (C)-(I),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(A)-(I), (B)-(II), (C)-(III),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(B)-(IV), (C)-(I), (D)-(II)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(B)-(IV), (C)-(II), (D)-(I)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3. Electric field in a certain region is given by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E⃗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= ( A/(x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)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î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B/(y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)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ĵ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C; Nm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B-II, C-I,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A-IV, B-II, C-I, D-III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Joule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Newton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Ohm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Mho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6. The density of a material in SI units is 128 kg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40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16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640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410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7. The dimension of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√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(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/(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is equal to that of: (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= Vacuum permeability and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Voltage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Capacitance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Inductance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Resistance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(A)-(IV), (B)-(II), (C)-(III), (D)-(I)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(A)-(I), (B)-(III), (C)-(IV), (D)-(II)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(A)-(IV), (B)-(II), (C)-(I), (D)-(III)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(A)-(II), (B)-(III), (C)-(IV), (D)-(I)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B-IV, C-I, D-II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B-II, C-I,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B-IV, C-II,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10. Given a charge q, current I and permeability of vacuum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qI/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q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I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q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I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q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/I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11. If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and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are the permeability and permittivity of free space, respectively, then the dimension of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( 1/(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L/T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/T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/L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/L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12. If B is magnetic field and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is permeability of free space, then the dimensions of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(B/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μ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MT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A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[F] = [C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[F] = [CM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[F] = [CM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[F] = [C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14. The position of a particle moving on x-axis is given by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x(t) = A sin t + B cos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 + Ct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, where t is time. The dimension of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L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(A)-(IV), (B)-(III), (C)-(I), (D)-(II)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(B)-(II), (C)-(IV), (D)-(I)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(A)-(II), (B)-(I), (C)-(III),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(A)-(I), (B)-(IV), (C)-(II), (D)-(III)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= pc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= pc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= p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= p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c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17. In a measurement, it is asked to find modulus of elasticity per unit torque applied on the system. The measured quantity has dimension of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a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b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c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. If b = 3, the value of c is ______. [28 Jan, 2025 (Shift-I)]</a:t>
            </a: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(B)-(I), (C)-(II),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(A)-(II), (B)-(I), (C)-(IV), (D)-(III)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(A)-(III), (B)-(I), (C)-(IV), (D)-(II)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(A)-(I), (B)-(III), (C)-(IV), (D)-(II)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Pressure and Young's modulus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95973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17146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Surface tension and impulse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Angular momentum and Planck's constant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Torque and energy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20. The expression given below shows the variation of velocity (v) with time (t),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v = At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(A)-(II), (B)-(IV), (C)-(I), (D)-(III)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(A)-(II), (B)-(I), (C)-(IV), (D)-(III)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(A)-(IV), (B)-(II), (C)-(III), (D)-(I)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(A)-(I), (B)-(III), (C)-(II), (D)-(IV)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95973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17146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[MLT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23. If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is the permittivity of free space and E is the electric field, then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ε</a:t>
                </a:r>
                <a:r>
                  <a:rPr baseline="-25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E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 A]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A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 (I): Dimensions of specific heat is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K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 (II): Dimensions of gas constant is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K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 (I) is incorrect but statement (II) is correct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Both statement (I) and statement (II) are incorrect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 (I) is correct but statement (II) is incorrect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Both statement (I) and statement (II) are correct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A-I, B-III, C-II,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A-IV, B-III, C-II,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B-I, C-II,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A-IV, B-II, C-III,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26. What is the dimensional formula of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ab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in the equation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rgbClr val="FFFFFF"/>
                                </a:solidFill>
                                <a:latin typeface="Cambria Font Color"/>
                                <a:ea typeface="Cambria Font Color"/>
                                <a:cs typeface="Cambria Font Color"/>
                                <a:sym typeface="Cambria Font Color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rgbClr val="FFFFFF"/>
                                    </a:solidFill>
                                    <a:latin typeface="Cambria Font Color"/>
                                    <a:ea typeface="Cambria Font Color"/>
                                    <a:cs typeface="Cambria Font Color"/>
                                    <a:sym typeface="Cambria Font Color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( P + a/(V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14261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35434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5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3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0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7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4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27. If G be the gravitational constant and u be the energy then which of the following quantity have the dimension as that the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√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Pressure gradient per unit mass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05117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26290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Force per unit mass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Gravitational potential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Energy per unit mass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95973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17146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 L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rgbClr val="FFFFFF"/>
                            </a:solidFill>
                            <a:latin typeface="Cambria Font Color"/>
                            <a:ea typeface="Cambria Font Color"/>
                            <a:cs typeface="Cambria Font Color"/>
                            <a:sym typeface="Cambria Font Color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rgbClr val="FFFFFF"/>
                        </a:solidFill>
                        <a:latin typeface="Cambria Font Color"/>
                        <a:ea typeface="Cambria Font Color"/>
                        <a:cs typeface="Cambria Font Color"/>
                        <a:sym typeface="Cambria Font Color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[M L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2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 T</a:t>
                </a:r>
                <a:r>
                  <a:rPr baseline="52000" lang="en-IN" sz="432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-1</a:t>
                </a:r>
                <a:r>
                  <a:rPr lang="en-IN" sz="6000" b="1" dirty="0">
                    <a:solidFill>
                      <a:srgbClr val="FFFFFF"/>
                    </a:solidFill>
                    <a:latin typeface="Cambria Font Color"/>
                    <a:ea typeface="Cambria Font Color"/>
                    <a:cs typeface="Cambria Font Color"/>
                    <a:sym typeface="Cambria Font Color"/>
                  </a:rPr>
                  <a:t>] </a:t>
                </a:r>
              </mc:Fallback>
            </mc:AlternateContent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Statement-I is true but Statement-II is false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2340509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4457849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Both Statement-I and Statement-II are false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Both Statement-I and Statement-II are true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Statement-I is false but Statement-II is true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B-I, C-IV, D-III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A-I, B-II, C-III,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B-IV, C-II,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A-IV, B-III, C-II,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B-I, C-II,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A-I, B-III, C-IV, D-II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A-I, B-II, C-III,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B-II, C-I,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B-III, C-I,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A-(IV), B-(III), C-(II), D-(I)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A-(IV), B-(III), C-(I), D-(II)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A-(III), B-(IV), C-(I), D-(II)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A-(II), B-(I), C-(III), D-(IV)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B-I, C-IV, D-III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A-IV, B-I, C-III, D-II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B-III, C-I,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A-I, B-III, C-II, D-IV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A-I, B-IV, C-III, D-II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9001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b="1" i="0" sz="6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03" name="Google Shape;111;p2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4" name="Google Shape;112;p2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IN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1" i="0" sz="7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5" name="Google Shape;113;p2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006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08" name="Google Shape;113;p2"/>
          <p:cNvGrpSpPr/>
          <p:nvPr/>
        </p:nvGrpSpPr>
        <p:grpSpPr>
          <a:xfrm>
            <a:off x="1039499" y="15607800"/>
            <a:ext cx="1597200" cy="1597200"/>
            <a:chOff x="1039499" y="8887793"/>
            <a:chExt cx="1597200" cy="1597200"/>
          </a:xfrm>
        </p:grpSpPr>
        <p:sp>
          <p:nvSpPr>
            <p:cNvPr id="9009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011" name="Google Shape;113;p2"/>
          <p:cNvGrpSpPr/>
          <p:nvPr/>
        </p:nvGrpSpPr>
        <p:grpSpPr>
          <a:xfrm>
            <a:off x="1039499" y="17725140"/>
            <a:ext cx="1597200" cy="1597200"/>
            <a:chOff x="1039499" y="8887793"/>
            <a:chExt cx="1597200" cy="1597200"/>
          </a:xfrm>
        </p:grpSpPr>
        <p:sp>
          <p:nvSpPr>
            <p:cNvPr id="9012" name="Google Shape;114;p2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solidFill>
              <a:srgbClr val="015500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115;p2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70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b="1" i="0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A-III, B-I, C-IV, D-II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A-II, B-III, C-IV, D-I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rgbClr val="FFFFFF"/>
                </a:solidFill>
                <a:latin typeface="Cambria Font Color"/>
                <a:ea typeface="Cambria Font Color"/>
                <a:cs typeface="Cambria Font Color"/>
                <a:sym typeface="Cambria Font Color"/>
              </a:rPr>
              <a:t>A-IV, B-II, C-I, D-III</a:t>
            </a:r>
            <a:endParaRPr sz="6000" b="1" dirty="0">
              <a:solidFill>
                <a:srgbClr val="FFFFFF"/>
              </a:solidFill>
              <a:latin typeface="Cambria Font Color"/>
              <a:ea typeface="Cambria Font Color"/>
              <a:cs typeface="Cambria Font Color"/>
              <a:sym typeface="Cambria Font Color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2025-02-10T10:24:55Z</dcterms:created>
  <dc:creator>PW MSO 530</dc:creator>
</cp:coreProperties>
</file>