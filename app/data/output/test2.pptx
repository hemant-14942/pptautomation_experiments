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100"/>
    <p:sldId id="257" r:id="rId101"/>
    <p:sldId id="258" r:id="rId102"/>
    <p:sldId id="259" r:id="rId103"/>
    <p:sldId id="260" r:id="rId104"/>
    <p:sldId id="261" r:id="rId105"/>
    <p:sldId id="262" r:id="rId106"/>
    <p:sldId id="263" r:id="rId107"/>
    <p:sldId id="264" r:id="rId108"/>
    <p:sldId id="265" r:id="rId109"/>
    <p:sldId id="266" r:id="rId110"/>
    <p:sldId id="267" r:id="rId111"/>
    <p:sldId id="268" r:id="rId112"/>
    <p:sldId id="269" r:id="rId113"/>
  </p:sldIdLst>
  <p:sldSz cy="20574000" cx="36576000"/>
  <p:notesSz cx="6858000" cy="9144000"/>
  <p:embeddedFontLst>
    <p:embeddedFont>
      <p:font typeface="Play"/>
      <p:regular r:id="rId14"/>
      <p:bold r:id="rId15"/>
    </p:embeddedFont>
    <p:embeddedFont>
      <p:font typeface="Poppi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iV07PD8zlqM2SEz6WwVlGLHKeB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81514A-FE7A-401F-91E9-0F86E8B910C8}">
  <a:tblStyle styleId="{6A81514A-FE7A-401F-91E9-0F86E8B910C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264" orient="horz"/>
        <p:guide pos="552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20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Poppins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oppins-italic.fntdata"/><Relationship Id="rIdLayout1" Type="http://schemas.openxmlformats.org/officeDocument/2006/relationships/slideLayout" Target="../slideLayouts/slideLayout2.xml"/><Relationship Id="rId100" Type="http://schemas.openxmlformats.org/officeDocument/2006/relationships/slide" Target="slides/slide1.xml"/><Relationship Id="rId101" Type="http://schemas.openxmlformats.org/officeDocument/2006/relationships/slide" Target="slides/slide2.xml"/><Relationship Id="rId102" Type="http://schemas.openxmlformats.org/officeDocument/2006/relationships/slide" Target="slides/slide3.xml"/><Relationship Id="rId103" Type="http://schemas.openxmlformats.org/officeDocument/2006/relationships/slide" Target="slides/slide4.xml"/><Relationship Id="rId104" Type="http://schemas.openxmlformats.org/officeDocument/2006/relationships/slide" Target="slides/slide5.xml"/><Relationship Id="rId105" Type="http://schemas.openxmlformats.org/officeDocument/2006/relationships/slide" Target="slides/slide6.xml"/><Relationship Id="rId106" Type="http://schemas.openxmlformats.org/officeDocument/2006/relationships/slide" Target="slides/slide7.xml"/><Relationship Id="rId107" Type="http://schemas.openxmlformats.org/officeDocument/2006/relationships/slide" Target="slides/slide8.xml"/><Relationship Id="rId108" Type="http://schemas.openxmlformats.org/officeDocument/2006/relationships/slide" Target="slides/slide9.xml"/><Relationship Id="rId109" Type="http://schemas.openxmlformats.org/officeDocument/2006/relationships/slide" Target="slides/slide10.xml"/><Relationship Id="rId110" Type="http://schemas.openxmlformats.org/officeDocument/2006/relationships/slide" Target="slides/slide11.xml"/><Relationship Id="rId111" Type="http://schemas.openxmlformats.org/officeDocument/2006/relationships/slide" Target="slides/slide12.xml"/><Relationship Id="rId112" Type="http://schemas.openxmlformats.org/officeDocument/2006/relationships/slide" Target="slides/slide13.xml"/><Relationship Id="rId113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/>
          <p:nvPr>
            <p:ph idx="10" type="dt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1" type="ftr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2" type="sldNum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/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" type="subTitle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25" name="Google Shape;25;p18"/>
          <p:cNvSpPr txBox="1"/>
          <p:nvPr>
            <p:ph idx="10" type="dt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1" type="ftr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" type="body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0" type="dt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1" type="ftr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" type="body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0" type="dt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1" type="ftr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2" type="sldNum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/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" type="body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b="1" sz="7200"/>
            </a:lvl1pPr>
            <a:lvl2pPr indent="-2286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/>
            </a:lvl2pPr>
            <a:lvl3pPr indent="-2286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3pPr>
            <a:lvl4pPr indent="-2286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4pPr>
            <a:lvl5pPr indent="-2286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5pPr>
            <a:lvl6pPr indent="-2286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6pPr>
            <a:lvl7pPr indent="-2286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7pPr>
            <a:lvl8pPr indent="-2286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8pPr>
            <a:lvl9pPr indent="-2286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9pPr>
          </a:lstStyle>
          <a:p/>
        </p:txBody>
      </p:sp>
      <p:sp>
        <p:nvSpPr>
          <p:cNvPr id="50" name="Google Shape;50;p22"/>
          <p:cNvSpPr txBox="1"/>
          <p:nvPr>
            <p:ph idx="2" type="body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3" type="body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b="1" sz="7200"/>
            </a:lvl1pPr>
            <a:lvl2pPr indent="-2286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/>
            </a:lvl2pPr>
            <a:lvl3pPr indent="-2286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3pPr>
            <a:lvl4pPr indent="-2286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4pPr>
            <a:lvl5pPr indent="-2286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5pPr>
            <a:lvl6pPr indent="-2286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6pPr>
            <a:lvl7pPr indent="-2286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7pPr>
            <a:lvl8pPr indent="-2286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8pPr>
            <a:lvl9pPr indent="-2286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9pPr>
          </a:lstStyle>
          <a:p/>
        </p:txBody>
      </p:sp>
      <p:sp>
        <p:nvSpPr>
          <p:cNvPr id="52" name="Google Shape;52;p22"/>
          <p:cNvSpPr txBox="1"/>
          <p:nvPr>
            <p:ph idx="4" type="body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0" type="dt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1" type="ftr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2" type="sldNum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/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" type="body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8382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indent="-7620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indent="-6858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indent="-6096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indent="-6096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indent="-6096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indent="-6096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indent="-6096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indent="-6096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/>
        </p:txBody>
      </p:sp>
      <p:sp>
        <p:nvSpPr>
          <p:cNvPr id="64" name="Google Shape;64;p24"/>
          <p:cNvSpPr txBox="1"/>
          <p:nvPr>
            <p:ph idx="2" type="body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indent="-2286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indent="-2286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indent="-2286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indent="-2286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indent="-2286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indent="-2286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indent="-2286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indent="-2286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/>
          <p:nvPr>
            <p:ph idx="2" type="pic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/>
          <p:nvPr>
            <p:ph idx="1" type="body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indent="-2286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indent="-2286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indent="-2286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indent="-2286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indent="-2286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indent="-2286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indent="-2286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indent="-2286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/>
        </p:txBody>
      </p:sp>
      <p:sp>
        <p:nvSpPr>
          <p:cNvPr id="72" name="Google Shape;72;p25"/>
          <p:cNvSpPr txBox="1"/>
          <p:nvPr>
            <p:ph idx="10" type="dt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1" type="ftr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2" type="sldNum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/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" type="body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0" type="dt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1" type="ftr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2" type="sldNum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/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" type="body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7"/>
          <p:cNvSpPr txBox="1"/>
          <p:nvPr>
            <p:ph idx="10" type="dt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7"/>
          <p:cNvSpPr txBox="1"/>
          <p:nvPr>
            <p:ph idx="11" type="ftr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7"/>
          <p:cNvSpPr txBox="1"/>
          <p:nvPr>
            <p:ph idx="12" type="sldNum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b="0" i="0" sz="1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762000" lvl="0" marL="457200" marR="0" rtl="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b="0" i="0" sz="8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685800" lvl="1" marL="9144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609600" lvl="2" marL="13716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571500" lvl="3" marL="18288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b="0" i="0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571500" lvl="4" marL="22860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b="0" i="0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71500" lvl="5" marL="27432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b="0" i="0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71500" lvl="6" marL="32004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b="0" i="0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71500" lvl="7" marL="36576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b="0" i="0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71500" lvl="8" marL="41148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b="0" i="0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flipH="1" rot="10800000">
              <a:off x="11306724" y="96065"/>
              <a:ext cx="685786" cy="889845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rotWithShape="0" algn="t" dir="5400000" dist="38100">
                <a:srgbClr val="000000">
                  <a:alpha val="6941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r>
                <a:t/>
              </a:r>
              <a:endParaRPr b="0" i="0" sz="16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2">
              <a:alphaModFix/>
            </a:blip>
            <a:srcRect b="9836" l="8081" r="10621" t="7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ns0:Relationships xmlns:ns0="http://schemas.openxmlformats.org/package/2006/relationships"><ns0:Relationship Id="rIdTitleIcon9003" Type="http://schemas.openxmlformats.org/officeDocument/2006/relationships/image" Target="../media/design_spec_title_icon.png"/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2.xml.rels><?xml version='1.0' encoding='UTF-8' standalone='yes'?>
<ns0:Relationships xmlns:ns0="http://schemas.openxmlformats.org/package/2006/relationships"><ns0:Relationship Id="rIdTitleIcon9003" Type="http://schemas.openxmlformats.org/officeDocument/2006/relationships/image" Target="../media/design_spec_title_icon.png"/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3.xml.rels><?xml version='1.0' encoding='UTF-8' standalone='yes'?>
<ns0:Relationships xmlns:ns0="http://schemas.openxmlformats.org/package/2006/relationships"><ns0:Relationship Id="rIdTitleIcon9003" Type="http://schemas.openxmlformats.org/officeDocument/2006/relationships/image" Target="../media/design_spec_title_icon.png"/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4.xml.rels><?xml version='1.0' encoding='UTF-8' standalone='yes'?>
<ns0:Relationships xmlns:ns0="http://schemas.openxmlformats.org/package/2006/relationships"><ns0:Relationship Id="rIdTitleIcon9003" Type="http://schemas.openxmlformats.org/officeDocument/2006/relationships/image" Target="../media/design_spec_title_icon.png"/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5.xml.rels><?xml version='1.0' encoding='UTF-8' standalone='yes'?>
<ns0:Relationships xmlns:ns0="http://schemas.openxmlformats.org/package/2006/relationships"><ns0:Relationship Id="rIdTitleIcon9003" Type="http://schemas.openxmlformats.org/officeDocument/2006/relationships/image" Target="../media/design_spec_title_icon.png"/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6.xml.rels><?xml version='1.0' encoding='UTF-8' standalone='yes'?>
<ns0:Relationships xmlns:ns0="http://schemas.openxmlformats.org/package/2006/relationships"><ns0:Relationship Id="rIdTitleIcon9003" Type="http://schemas.openxmlformats.org/officeDocument/2006/relationships/image" Target="../media/design_spec_title_icon.png"/><ns0:Relationship Id="rIdPic9006" Type="http://schemas.openxmlformats.org/officeDocument/2006/relationships/image" Target="../media/input_pic_1.png"/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7.xml.rels><?xml version='1.0' encoding='UTF-8' standalone='yes'?>
<ns0:Relationships xmlns:ns0="http://schemas.openxmlformats.org/package/2006/relationships"><ns0:Relationship Id="rIdTitleIcon9003" Type="http://schemas.openxmlformats.org/officeDocument/2006/relationships/image" Target="../media/design_spec_title_icon.png"/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8.xml.rels><?xml version='1.0' encoding='UTF-8' standalone='yes'?>
<ns0:Relationships xmlns:ns0="http://schemas.openxmlformats.org/package/2006/relationships"><ns0:Relationship Id="rIdTitleIcon9003" Type="http://schemas.openxmlformats.org/officeDocument/2006/relationships/image" Target="../media/design_spec_title_icon.png"/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9.xml.rels><?xml version='1.0' encoding='UTF-8' standalone='yes'?>
<ns0:Relationships xmlns:ns0="http://schemas.openxmlformats.org/package/2006/relationships"><ns0:Relationship Id="rIdTitleIcon9003" Type="http://schemas.openxmlformats.org/officeDocument/2006/relationships/image" Target="../media/design_spec_title_icon.png"/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10.xml.rels><?xml version='1.0' encoding='UTF-8' standalone='yes'?>
<ns0:Relationships xmlns:ns0="http://schemas.openxmlformats.org/package/2006/relationships"><ns0:Relationship Id="rIdTitleIcon9003" Type="http://schemas.openxmlformats.org/officeDocument/2006/relationships/image" Target="../media/design_spec_title_icon.png"/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11.xml.rels><?xml version='1.0' encoding='UTF-8' standalone='yes'?>
<ns0:Relationships xmlns:ns0="http://schemas.openxmlformats.org/package/2006/relationships"><ns0:Relationship Id="rIdTitleIcon9003" Type="http://schemas.openxmlformats.org/officeDocument/2006/relationships/image" Target="../media/design_spec_title_icon.png"/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12.xml.rels><?xml version='1.0' encoding='UTF-8' standalone='yes'?>
<ns0:Relationships xmlns:ns0="http://schemas.openxmlformats.org/package/2006/relationships"><ns0:Relationship Id="rIdTitleIcon9003" Type="http://schemas.openxmlformats.org/officeDocument/2006/relationships/image" Target="../media/design_spec_title_icon.png"/><ns0:Relationship Id="rIdPic9006" Type="http://schemas.openxmlformats.org/officeDocument/2006/relationships/image" Target="../media/input_pic_2.png"/><ns0:Relationship Id="rIdPic9007" Type="http://schemas.openxmlformats.org/officeDocument/2006/relationships/image" Target="../media/input_pic_3.png"/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13.xml.rels><?xml version='1.0' encoding='UTF-8' standalone='yes'?>
<ns0:Relationships xmlns:ns0="http://schemas.openxmlformats.org/package/2006/relationships"><ns0:Relationship Id="rIdTitleIcon9003" Type="http://schemas.openxmlformats.org/officeDocument/2006/relationships/image" Target="../media/design_spec_title_icon.png"/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_rels/slide14.xml.rels><?xml version='1.0' encoding='UTF-8' standalone='yes'?>
<ns0:Relationships xmlns:ns0="http://schemas.openxmlformats.org/package/2006/relationships"><ns0:Relationship Id="rIdTitleIcon9003" Type="http://schemas.openxmlformats.org/officeDocument/2006/relationships/image" Target="../media/design_spec_title_icon.png"/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2.png"/><ns0:Relationship Id="rId4" Type="http://schemas.openxmlformats.org/officeDocument/2006/relationships/image" Target="../media/image3.png"/></ns0: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9001" name="Google Shape;186;p30"/>
          <p:cNvSpPr/>
          <p:nvPr/>
        </p:nvSpPr>
        <p:spPr>
          <a:xfrm>
            <a:off x="1780335" y="1462365"/>
            <a:ext cx="20393866" cy="2748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87;p30"/>
          <p:cNvSpPr txBox="1"/>
          <p:nvPr/>
        </p:nvSpPr>
        <p:spPr>
          <a:xfrm>
            <a:off x="5345559" y="2144198"/>
            <a:ext cx="16462882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8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Mutations</a:t>
            </a:r>
            <a:endParaRPr b="1" i="0" sz="8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3" name="Google Shape;217;p30"/>
          <p:cNvGrpSpPr/>
          <p:nvPr/>
        </p:nvGrpSpPr>
        <p:grpSpPr>
          <a:xfrm>
            <a:off x="1025774" y="1047001"/>
            <a:ext cx="4319785" cy="3845857"/>
            <a:chOff x="981166" y="913767"/>
            <a:chExt cx="4319785" cy="3845857"/>
          </a:xfrm>
        </p:grpSpPr>
        <p:sp>
          <p:nvSpPr>
            <p:cNvPr id="9004" name="Google Shape;218;p30"/>
            <p:cNvSpPr/>
            <p:nvPr/>
          </p:nvSpPr>
          <p:spPr>
            <a:xfrm>
              <a:off x="985575" y="913767"/>
              <a:ext cx="3845857" cy="3845857"/>
            </a:xfrm>
            <a:prstGeom prst="ellipse">
              <a:avLst/>
            </a:pr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05" name="Google Shape;219;p30"/>
            <p:cNvPicPr preferRelativeResize="0"/>
            <p:nvPr/>
          </p:nvPicPr>
          <p:blipFill rotWithShape="1">
            <a:blip r:embed="rIdTitleIcon9003">
              <a:alphaModFix/>
            </a:blip>
            <a:srcRect b="0" l="0" r="0" t="0"/>
            <a:stretch/>
          </p:blipFill>
          <p:spPr>
            <a:xfrm>
              <a:off x="981166" y="1170878"/>
              <a:ext cx="4319785" cy="3331634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" dir="5400000" dist="152400">
                <a:srgbClr val="000000">
                  <a:alpha val="54902"/>
                </a:srgbClr>
              </a:outerShdw>
            </a:effectLst>
          </p:spPr>
        </p:pic>
      </p:grpSp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471102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Sudden inheritable change is mutation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Sudden, discontinuous variations in genotype and phenotype of an organism.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Mutation term given by </a:t>
            </a:r>
            <a:r>
              <a:rPr b="1"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Hugo de Vries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Mutation causing agent- </a:t>
            </a:r>
            <a:r>
              <a:rPr b="1"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Mutagen</a:t>
            </a: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9001" name="Google Shape;186;p30"/>
          <p:cNvSpPr/>
          <p:nvPr/>
        </p:nvSpPr>
        <p:spPr>
          <a:xfrm>
            <a:off x="1780335" y="1462365"/>
            <a:ext cx="20393866" cy="2748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87;p30"/>
          <p:cNvSpPr txBox="1"/>
          <p:nvPr/>
        </p:nvSpPr>
        <p:spPr>
          <a:xfrm>
            <a:off x="5345559" y="2144198"/>
            <a:ext cx="16462882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8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Types of Mutagen</a:t>
            </a:r>
            <a:endParaRPr b="1" i="0" sz="8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3" name="Google Shape;217;p30"/>
          <p:cNvGrpSpPr/>
          <p:nvPr/>
        </p:nvGrpSpPr>
        <p:grpSpPr>
          <a:xfrm>
            <a:off x="1025774" y="1047001"/>
            <a:ext cx="4319785" cy="3845857"/>
            <a:chOff x="981166" y="913767"/>
            <a:chExt cx="4319785" cy="3845857"/>
          </a:xfrm>
        </p:grpSpPr>
        <p:sp>
          <p:nvSpPr>
            <p:cNvPr id="9004" name="Google Shape;218;p30"/>
            <p:cNvSpPr/>
            <p:nvPr/>
          </p:nvSpPr>
          <p:spPr>
            <a:xfrm>
              <a:off x="985575" y="913767"/>
              <a:ext cx="3845857" cy="3845857"/>
            </a:xfrm>
            <a:prstGeom prst="ellipse">
              <a:avLst/>
            </a:pr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05" name="Google Shape;219;p30"/>
            <p:cNvPicPr preferRelativeResize="0"/>
            <p:nvPr/>
          </p:nvPicPr>
          <p:blipFill rotWithShape="1">
            <a:blip r:embed="rIdTitleIcon9003">
              <a:alphaModFix/>
            </a:blip>
            <a:srcRect b="0" l="0" r="0" t="0"/>
            <a:stretch/>
          </p:blipFill>
          <p:spPr>
            <a:xfrm>
              <a:off x="981166" y="1170878"/>
              <a:ext cx="4319785" cy="3331634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" dir="5400000" dist="152400">
                <a:srgbClr val="000000">
                  <a:alpha val="54902"/>
                </a:srgbClr>
              </a:outerShdw>
            </a:effectLst>
          </p:spPr>
        </p:pic>
      </p:grpSp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471102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Physical Mutagen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a) Ionizing radiations: X-rays, gamma rays etc.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b) Non-ionizing radiations: UV-rays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Chemical Mutagen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Mustard gas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HN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O</m:t>
                        </m:r>
                      </m:e>
                      <m:sub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HNO</a:t>
                </a:r>
                <a:r>
                  <a:rPr baseline="-25000" lang="en-IN" sz="36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Biological Mutagen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Bacteria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Virus</a:t>
            </a: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9001" name="Google Shape;186;p30"/>
          <p:cNvSpPr/>
          <p:nvPr/>
        </p:nvSpPr>
        <p:spPr>
          <a:xfrm>
            <a:off x="1780335" y="1462365"/>
            <a:ext cx="20393866" cy="2748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87;p30"/>
          <p:cNvSpPr txBox="1"/>
          <p:nvPr/>
        </p:nvSpPr>
        <p:spPr>
          <a:xfrm>
            <a:off x="5345559" y="2144198"/>
            <a:ext cx="16462882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8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Types of Mutations</a:t>
            </a:r>
            <a:endParaRPr b="1" i="0" sz="8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3" name="Google Shape;217;p30"/>
          <p:cNvGrpSpPr/>
          <p:nvPr/>
        </p:nvGrpSpPr>
        <p:grpSpPr>
          <a:xfrm>
            <a:off x="1025774" y="1047001"/>
            <a:ext cx="4319785" cy="3845857"/>
            <a:chOff x="981166" y="913767"/>
            <a:chExt cx="4319785" cy="3845857"/>
          </a:xfrm>
        </p:grpSpPr>
        <p:sp>
          <p:nvSpPr>
            <p:cNvPr id="9004" name="Google Shape;218;p30"/>
            <p:cNvSpPr/>
            <p:nvPr/>
          </p:nvSpPr>
          <p:spPr>
            <a:xfrm>
              <a:off x="985575" y="913767"/>
              <a:ext cx="3845857" cy="3845857"/>
            </a:xfrm>
            <a:prstGeom prst="ellipse">
              <a:avLst/>
            </a:pr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05" name="Google Shape;219;p30"/>
            <p:cNvPicPr preferRelativeResize="0"/>
            <p:nvPr/>
          </p:nvPicPr>
          <p:blipFill rotWithShape="1">
            <a:blip r:embed="rIdTitleIcon9003">
              <a:alphaModFix/>
            </a:blip>
            <a:srcRect b="0" l="0" r="0" t="0"/>
            <a:stretch/>
          </p:blipFill>
          <p:spPr>
            <a:xfrm>
              <a:off x="981166" y="1170878"/>
              <a:ext cx="4319785" cy="3331634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" dir="5400000" dist="152400">
                <a:srgbClr val="000000">
                  <a:alpha val="54902"/>
                </a:srgbClr>
              </a:outerShdw>
            </a:effectLst>
          </p:spPr>
        </p:pic>
      </p:grpSp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471102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Genomatic Mutation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Change w.r.t. no. of chromosomes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Chromosomal aberration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Change w.r.t. chromosomal structure and gene structure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Gene Mutation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Change w.r.t. DNA (nucleotide)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Change in single nucleotide is point mutation</a:t>
            </a: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9001" name="Google Shape;186;p30"/>
          <p:cNvSpPr/>
          <p:nvPr/>
        </p:nvSpPr>
        <p:spPr>
          <a:xfrm>
            <a:off x="1780335" y="1462365"/>
            <a:ext cx="20393866" cy="2748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87;p30"/>
          <p:cNvSpPr txBox="1"/>
          <p:nvPr/>
        </p:nvSpPr>
        <p:spPr>
          <a:xfrm>
            <a:off x="5345559" y="2144198"/>
            <a:ext cx="16462882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8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1. Genomatic Mutations</a:t>
            </a:r>
            <a:endParaRPr b="1" i="0" sz="8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3" name="Google Shape;217;p30"/>
          <p:cNvGrpSpPr/>
          <p:nvPr/>
        </p:nvGrpSpPr>
        <p:grpSpPr>
          <a:xfrm>
            <a:off x="1025774" y="1047001"/>
            <a:ext cx="4319785" cy="3845857"/>
            <a:chOff x="981166" y="913767"/>
            <a:chExt cx="4319785" cy="3845857"/>
          </a:xfrm>
        </p:grpSpPr>
        <p:sp>
          <p:nvSpPr>
            <p:cNvPr id="9004" name="Google Shape;218;p30"/>
            <p:cNvSpPr/>
            <p:nvPr/>
          </p:nvSpPr>
          <p:spPr>
            <a:xfrm>
              <a:off x="985575" y="913767"/>
              <a:ext cx="3845857" cy="3845857"/>
            </a:xfrm>
            <a:prstGeom prst="ellipse">
              <a:avLst/>
            </a:pr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05" name="Google Shape;219;p30"/>
            <p:cNvPicPr preferRelativeResize="0"/>
            <p:nvPr/>
          </p:nvPicPr>
          <p:blipFill rotWithShape="1">
            <a:blip r:embed="rIdTitleIcon9003">
              <a:alphaModFix/>
            </a:blip>
            <a:srcRect b="0" l="0" r="0" t="0"/>
            <a:stretch/>
          </p:blipFill>
          <p:spPr>
            <a:xfrm>
              <a:off x="981166" y="1170878"/>
              <a:ext cx="4319785" cy="3331634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" dir="5400000" dist="152400">
                <a:srgbClr val="000000">
                  <a:alpha val="54902"/>
                </a:srgbClr>
              </a:outerShdw>
            </a:effectLst>
          </p:spPr>
        </p:pic>
      </p:grpSp>
      <p:graphicFrame>
        <p:nvGraphicFramePr>
          <p:cNvPr id="3" name="ContentTable"/>
          <p:cNvGraphicFramePr>
            <a:graphicFrameLocks noGrp="1"/>
          </p:cNvGraphicFramePr>
          <p:nvPr/>
        </p:nvGraphicFramePr>
        <p:xfrm>
          <a:off x="6096000" y="4711025"/>
          <a:ext cx="24384000" cy="473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/>
                <a:gridCol w="12192000"/>
              </a:tblGrid>
              <a:tr h="132000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Aneuploidy / Heteroploidy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Euploidy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</a:tr>
              <a:tr h="3413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Change in 1–2 chromosomes (few); 2 types: 1. Hyperploidy: gain of chromosome 2. Hypoploidy: loss of chromosome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Change in set of chromosome — addition or deletion of complete set of chromosomes; 2 types: 1. Addition: Polyploidy 2. Deletion: Haploidy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9001" name="Google Shape;186;p30"/>
          <p:cNvSpPr/>
          <p:nvPr/>
        </p:nvSpPr>
        <p:spPr>
          <a:xfrm>
            <a:off x="1780335" y="1462365"/>
            <a:ext cx="20393866" cy="2748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87;p30"/>
          <p:cNvSpPr txBox="1"/>
          <p:nvPr/>
        </p:nvSpPr>
        <p:spPr>
          <a:xfrm>
            <a:off x="5345559" y="2144198"/>
            <a:ext cx="16462882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8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Aneuploidy — Types</a:t>
            </a:r>
            <a:endParaRPr b="1" i="0" sz="8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3" name="Google Shape;217;p30"/>
          <p:cNvGrpSpPr/>
          <p:nvPr/>
        </p:nvGrpSpPr>
        <p:grpSpPr>
          <a:xfrm>
            <a:off x="1025774" y="1047001"/>
            <a:ext cx="4319785" cy="3845857"/>
            <a:chOff x="981166" y="913767"/>
            <a:chExt cx="4319785" cy="3845857"/>
          </a:xfrm>
        </p:grpSpPr>
        <p:sp>
          <p:nvSpPr>
            <p:cNvPr id="9004" name="Google Shape;218;p30"/>
            <p:cNvSpPr/>
            <p:nvPr/>
          </p:nvSpPr>
          <p:spPr>
            <a:xfrm>
              <a:off x="985575" y="913767"/>
              <a:ext cx="3845857" cy="3845857"/>
            </a:xfrm>
            <a:prstGeom prst="ellipse">
              <a:avLst/>
            </a:pr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05" name="Google Shape;219;p30"/>
            <p:cNvPicPr preferRelativeResize="0"/>
            <p:nvPr/>
          </p:nvPicPr>
          <p:blipFill rotWithShape="1">
            <a:blip r:embed="rIdTitleIcon9003">
              <a:alphaModFix/>
            </a:blip>
            <a:srcRect b="0" l="0" r="0" t="0"/>
            <a:stretch/>
          </p:blipFill>
          <p:spPr>
            <a:xfrm>
              <a:off x="981166" y="1170878"/>
              <a:ext cx="4319785" cy="3331634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" dir="5400000" dist="152400">
                <a:srgbClr val="000000">
                  <a:alpha val="54902"/>
                </a:srgbClr>
              </a:outerShdw>
            </a:effectLst>
          </p:spPr>
        </p:pic>
      </p:grpSp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471102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Hyperploidy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e.g. Trisomy at Ch-21 ↳ Down Syndrome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e.g. Trisomy in sex chromosome ↳ Klinefelter's syndrome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e.g. Trisomy at Ch = 18 ↳ Edward syndrome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Hypoploidy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e.g. Monosomy at X Chromosome ↳ Turner's Syndrome</a:t>
            </a: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9001" name="Google Shape;186;p30"/>
          <p:cNvSpPr/>
          <p:nvPr/>
        </p:nvSpPr>
        <p:spPr>
          <a:xfrm>
            <a:off x="1780335" y="1462365"/>
            <a:ext cx="20393866" cy="2748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87;p30"/>
          <p:cNvSpPr txBox="1"/>
          <p:nvPr/>
        </p:nvSpPr>
        <p:spPr>
          <a:xfrm>
            <a:off x="5345559" y="2144198"/>
            <a:ext cx="16462882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8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Reason of Aneuploidy</a:t>
            </a:r>
            <a:endParaRPr b="1" i="0" sz="8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3" name="Google Shape;217;p30"/>
          <p:cNvGrpSpPr/>
          <p:nvPr/>
        </p:nvGrpSpPr>
        <p:grpSpPr>
          <a:xfrm>
            <a:off x="1025774" y="1047001"/>
            <a:ext cx="4319785" cy="3845857"/>
            <a:chOff x="981166" y="913767"/>
            <a:chExt cx="4319785" cy="3845857"/>
          </a:xfrm>
        </p:grpSpPr>
        <p:sp>
          <p:nvSpPr>
            <p:cNvPr id="9004" name="Google Shape;218;p30"/>
            <p:cNvSpPr/>
            <p:nvPr/>
          </p:nvSpPr>
          <p:spPr>
            <a:xfrm>
              <a:off x="985575" y="913767"/>
              <a:ext cx="3845857" cy="3845857"/>
            </a:xfrm>
            <a:prstGeom prst="ellipse">
              <a:avLst/>
            </a:pr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05" name="Google Shape;219;p30"/>
            <p:cNvPicPr preferRelativeResize="0"/>
            <p:nvPr/>
          </p:nvPicPr>
          <p:blipFill rotWithShape="1">
            <a:blip r:embed="rIdTitleIcon9003">
              <a:alphaModFix/>
            </a:blip>
            <a:srcRect b="0" l="0" r="0" t="0"/>
            <a:stretch/>
          </p:blipFill>
          <p:spPr>
            <a:xfrm>
              <a:off x="981166" y="1170878"/>
              <a:ext cx="4319785" cy="3331634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" dir="5400000" dist="152400">
                <a:srgbClr val="000000">
                  <a:alpha val="54902"/>
                </a:srgbClr>
              </a:outerShdw>
            </a:effectLst>
          </p:spPr>
        </p:pic>
      </p:grpSp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4711025"/>
            <a:ext cx="34747200" cy="8348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during cell division there is non-disjunction of chromosomes in anaphase</a:t>
            </a:r>
          </a:p>
        </p:txBody>
      </p:sp>
      <p:pic>
        <p:nvPicPr>
          <p:cNvPr id="9006" name="slide_006_1_enhanced.png"/>
          <p:cNvPicPr preferRelativeResize="0"/>
          <p:nvPr/>
        </p:nvPicPr>
        <p:blipFill rotWithShape="1">
          <a:blip r:embed="rIdPic9006"/>
          <a:srcRect/>
          <a:stretch>
            <a:fillRect/>
          </a:stretch>
        </p:blipFill>
        <p:spPr>
          <a:xfrm>
            <a:off x="8886809" y="10957769"/>
            <a:ext cx="18802382" cy="8724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9001" name="Google Shape;186;p30"/>
          <p:cNvSpPr/>
          <p:nvPr/>
        </p:nvSpPr>
        <p:spPr>
          <a:xfrm>
            <a:off x="1780335" y="1462365"/>
            <a:ext cx="20393866" cy="2748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87;p30"/>
          <p:cNvSpPr txBox="1"/>
          <p:nvPr/>
        </p:nvSpPr>
        <p:spPr>
          <a:xfrm>
            <a:off x="5345559" y="2144198"/>
            <a:ext cx="16462882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8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2. Chromosomal Aberrations</a:t>
            </a:r>
            <a:endParaRPr b="1" i="0" sz="8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3" name="Google Shape;217;p30"/>
          <p:cNvGrpSpPr/>
          <p:nvPr/>
        </p:nvGrpSpPr>
        <p:grpSpPr>
          <a:xfrm>
            <a:off x="1025774" y="1047001"/>
            <a:ext cx="4319785" cy="3845857"/>
            <a:chOff x="981166" y="913767"/>
            <a:chExt cx="4319785" cy="3845857"/>
          </a:xfrm>
        </p:grpSpPr>
        <p:sp>
          <p:nvSpPr>
            <p:cNvPr id="9004" name="Google Shape;218;p30"/>
            <p:cNvSpPr/>
            <p:nvPr/>
          </p:nvSpPr>
          <p:spPr>
            <a:xfrm>
              <a:off x="985575" y="913767"/>
              <a:ext cx="3845857" cy="3845857"/>
            </a:xfrm>
            <a:prstGeom prst="ellipse">
              <a:avLst/>
            </a:pr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05" name="Google Shape;219;p30"/>
            <p:cNvPicPr preferRelativeResize="0"/>
            <p:nvPr/>
          </p:nvPicPr>
          <p:blipFill rotWithShape="1">
            <a:blip r:embed="rIdTitleIcon9003">
              <a:alphaModFix/>
            </a:blip>
            <a:srcRect b="0" l="0" r="0" t="0"/>
            <a:stretch/>
          </p:blipFill>
          <p:spPr>
            <a:xfrm>
              <a:off x="981166" y="1170878"/>
              <a:ext cx="4319785" cy="3331634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" dir="5400000" dist="152400">
                <a:srgbClr val="000000">
                  <a:alpha val="54902"/>
                </a:srgbClr>
              </a:outerShdw>
            </a:effectLst>
          </p:spPr>
        </p:pic>
      </p:grpSp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471102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Change in structure of chromosome</a:t>
            </a: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9001" name="Google Shape;186;p30"/>
          <p:cNvSpPr/>
          <p:nvPr/>
        </p:nvSpPr>
        <p:spPr>
          <a:xfrm>
            <a:off x="1780335" y="1462365"/>
            <a:ext cx="20393866" cy="2748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87;p30"/>
          <p:cNvSpPr txBox="1"/>
          <p:nvPr/>
        </p:nvSpPr>
        <p:spPr>
          <a:xfrm>
            <a:off x="5345559" y="2144198"/>
            <a:ext cx="16462882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8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3. Gene mutation</a:t>
            </a:r>
            <a:endParaRPr b="1" i="0" sz="8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3" name="Google Shape;217;p30"/>
          <p:cNvGrpSpPr/>
          <p:nvPr/>
        </p:nvGrpSpPr>
        <p:grpSpPr>
          <a:xfrm>
            <a:off x="1025774" y="1047001"/>
            <a:ext cx="4319785" cy="3845857"/>
            <a:chOff x="981166" y="913767"/>
            <a:chExt cx="4319785" cy="3845857"/>
          </a:xfrm>
        </p:grpSpPr>
        <p:sp>
          <p:nvSpPr>
            <p:cNvPr id="9004" name="Google Shape;218;p30"/>
            <p:cNvSpPr/>
            <p:nvPr/>
          </p:nvSpPr>
          <p:spPr>
            <a:xfrm>
              <a:off x="985575" y="913767"/>
              <a:ext cx="3845857" cy="3845857"/>
            </a:xfrm>
            <a:prstGeom prst="ellipse">
              <a:avLst/>
            </a:pr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05" name="Google Shape;219;p30"/>
            <p:cNvPicPr preferRelativeResize="0"/>
            <p:nvPr/>
          </p:nvPicPr>
          <p:blipFill rotWithShape="1">
            <a:blip r:embed="rIdTitleIcon9003">
              <a:alphaModFix/>
            </a:blip>
            <a:srcRect b="0" l="0" r="0" t="0"/>
            <a:stretch/>
          </p:blipFill>
          <p:spPr>
            <a:xfrm>
              <a:off x="981166" y="1170878"/>
              <a:ext cx="4319785" cy="3331634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" dir="5400000" dist="152400">
                <a:srgbClr val="000000">
                  <a:alpha val="54902"/>
                </a:srgbClr>
              </a:outerShdw>
            </a:effectLst>
          </p:spPr>
        </p:pic>
      </p:grpSp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471102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(a) </a:t>
            </a:r>
            <a:r>
              <a:rPr b="1"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Substitution: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one nitrogenous base is replaced by other (point mutation)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Transition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Purine Replace Purine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Pyrimidine Replace Pyrimidine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Transversion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e.g. SCA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Purine </a:t>
            </a:r>
            <mc:AlternateContent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⇌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⇌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Pyrimidine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(b) </a:t>
            </a:r>
            <a:r>
              <a:rPr b="1"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Frame shift mutation: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(will study in molecular basis of Inheritance)</a:t>
            </a: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9001" name="Google Shape;186;p30"/>
          <p:cNvSpPr/>
          <p:nvPr/>
        </p:nvSpPr>
        <p:spPr>
          <a:xfrm>
            <a:off x="1780335" y="1462365"/>
            <a:ext cx="24088424" cy="2748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87;p30"/>
          <p:cNvSpPr txBox="1"/>
          <p:nvPr/>
        </p:nvSpPr>
        <p:spPr>
          <a:xfrm>
            <a:off x="5345559" y="2144198"/>
            <a:ext cx="20157440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8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Types of Human Genetic Disorders</a:t>
            </a:r>
            <a:endParaRPr b="1" i="0" sz="8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3" name="Google Shape;217;p30"/>
          <p:cNvGrpSpPr/>
          <p:nvPr/>
        </p:nvGrpSpPr>
        <p:grpSpPr>
          <a:xfrm>
            <a:off x="1025774" y="1047001"/>
            <a:ext cx="4319785" cy="3845857"/>
            <a:chOff x="981166" y="913767"/>
            <a:chExt cx="4319785" cy="3845857"/>
          </a:xfrm>
        </p:grpSpPr>
        <p:sp>
          <p:nvSpPr>
            <p:cNvPr id="9004" name="Google Shape;218;p30"/>
            <p:cNvSpPr/>
            <p:nvPr/>
          </p:nvSpPr>
          <p:spPr>
            <a:xfrm>
              <a:off x="985575" y="913767"/>
              <a:ext cx="3845857" cy="3845857"/>
            </a:xfrm>
            <a:prstGeom prst="ellipse">
              <a:avLst/>
            </a:pr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05" name="Google Shape;219;p30"/>
            <p:cNvPicPr preferRelativeResize="0"/>
            <p:nvPr/>
          </p:nvPicPr>
          <p:blipFill rotWithShape="1">
            <a:blip r:embed="rIdTitleIcon9003">
              <a:alphaModFix/>
            </a:blip>
            <a:srcRect b="0" l="0" r="0" t="0"/>
            <a:stretch/>
          </p:blipFill>
          <p:spPr>
            <a:xfrm>
              <a:off x="981166" y="1170878"/>
              <a:ext cx="4319785" cy="3331634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" dir="5400000" dist="152400">
                <a:srgbClr val="000000">
                  <a:alpha val="54902"/>
                </a:srgbClr>
              </a:outerShdw>
            </a:effectLst>
          </p:spPr>
        </p:pic>
      </p:grpSp>
      <p:graphicFrame>
        <p:nvGraphicFramePr>
          <p:cNvPr id="3" name="ContentTable"/>
          <p:cNvGraphicFramePr>
            <a:graphicFrameLocks noGrp="1"/>
          </p:cNvGraphicFramePr>
          <p:nvPr/>
        </p:nvGraphicFramePr>
        <p:xfrm>
          <a:off x="6096000" y="4711025"/>
          <a:ext cx="24384000" cy="1040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/>
                <a:gridCol w="12192000"/>
              </a:tblGrid>
              <a:tr h="132000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Mendelian Disorders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Chromosomal Disorders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500"/>
                    </a:solidFill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1. Determined by mutation is single gene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1. Disorder created due to imbalance in number 2 rearrangement of chromosome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2. There is change in single gene, this disease is also k/a gene related human disorders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2. Can't be studied through pedigree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3. They are transmitted to offspring as Mendelian principles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4. Can be studied through pedigree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9001" name="Google Shape;186;p30"/>
          <p:cNvSpPr/>
          <p:nvPr/>
        </p:nvSpPr>
        <p:spPr>
          <a:xfrm>
            <a:off x="1780335" y="1462365"/>
            <a:ext cx="20393866" cy="2748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87;p30"/>
          <p:cNvSpPr txBox="1"/>
          <p:nvPr/>
        </p:nvSpPr>
        <p:spPr>
          <a:xfrm>
            <a:off x="5345559" y="2144198"/>
            <a:ext cx="16462882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8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Chromosomal Disorders</a:t>
            </a:r>
            <a:endParaRPr b="1" i="0" sz="8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3" name="Google Shape;217;p30"/>
          <p:cNvGrpSpPr/>
          <p:nvPr/>
        </p:nvGrpSpPr>
        <p:grpSpPr>
          <a:xfrm>
            <a:off x="1025774" y="1047001"/>
            <a:ext cx="4319785" cy="3845857"/>
            <a:chOff x="981166" y="913767"/>
            <a:chExt cx="4319785" cy="3845857"/>
          </a:xfrm>
        </p:grpSpPr>
        <p:sp>
          <p:nvSpPr>
            <p:cNvPr id="9004" name="Google Shape;218;p30"/>
            <p:cNvSpPr/>
            <p:nvPr/>
          </p:nvSpPr>
          <p:spPr>
            <a:xfrm>
              <a:off x="985575" y="913767"/>
              <a:ext cx="3845857" cy="3845857"/>
            </a:xfrm>
            <a:prstGeom prst="ellipse">
              <a:avLst/>
            </a:pr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05" name="Google Shape;219;p30"/>
            <p:cNvPicPr preferRelativeResize="0"/>
            <p:nvPr/>
          </p:nvPicPr>
          <p:blipFill rotWithShape="1">
            <a:blip r:embed="rIdTitleIcon9003">
              <a:alphaModFix/>
            </a:blip>
            <a:srcRect b="0" l="0" r="0" t="0"/>
            <a:stretch/>
          </p:blipFill>
          <p:spPr>
            <a:xfrm>
              <a:off x="981166" y="1170878"/>
              <a:ext cx="4319785" cy="3331634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" dir="5400000" dist="152400">
                <a:srgbClr val="000000">
                  <a:alpha val="54902"/>
                </a:srgbClr>
              </a:outerShdw>
            </a:effectLst>
          </p:spPr>
        </p:pic>
      </p:grpSp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471102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1. Down's Syndrome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2. Klinefelter's Syndrome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3. Turner's Syndrome</a:t>
            </a: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9001" name="Google Shape;186;p30"/>
          <p:cNvSpPr/>
          <p:nvPr/>
        </p:nvSpPr>
        <p:spPr>
          <a:xfrm>
            <a:off x="1780335" y="1462365"/>
            <a:ext cx="20393866" cy="2748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87;p30"/>
          <p:cNvSpPr txBox="1"/>
          <p:nvPr/>
        </p:nvSpPr>
        <p:spPr>
          <a:xfrm>
            <a:off x="5345559" y="2144198"/>
            <a:ext cx="16462882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8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Down's Syndrome</a:t>
            </a:r>
            <a:endParaRPr b="1" i="0" sz="8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3" name="Google Shape;217;p30"/>
          <p:cNvGrpSpPr/>
          <p:nvPr/>
        </p:nvGrpSpPr>
        <p:grpSpPr>
          <a:xfrm>
            <a:off x="1025774" y="1047001"/>
            <a:ext cx="4319785" cy="3845857"/>
            <a:chOff x="981166" y="913767"/>
            <a:chExt cx="4319785" cy="3845857"/>
          </a:xfrm>
        </p:grpSpPr>
        <p:sp>
          <p:nvSpPr>
            <p:cNvPr id="9004" name="Google Shape;218;p30"/>
            <p:cNvSpPr/>
            <p:nvPr/>
          </p:nvSpPr>
          <p:spPr>
            <a:xfrm>
              <a:off x="985575" y="913767"/>
              <a:ext cx="3845857" cy="3845857"/>
            </a:xfrm>
            <a:prstGeom prst="ellipse">
              <a:avLst/>
            </a:pr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05" name="Google Shape;219;p30"/>
            <p:cNvPicPr preferRelativeResize="0"/>
            <p:nvPr/>
          </p:nvPicPr>
          <p:blipFill rotWithShape="1">
            <a:blip r:embed="rIdTitleIcon9003">
              <a:alphaModFix/>
            </a:blip>
            <a:srcRect b="0" l="0" r="0" t="0"/>
            <a:stretch/>
          </p:blipFill>
          <p:spPr>
            <a:xfrm>
              <a:off x="981166" y="1170878"/>
              <a:ext cx="4319785" cy="3331634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" dir="5400000" dist="152400">
                <a:srgbClr val="000000">
                  <a:alpha val="54902"/>
                </a:srgbClr>
              </a:outerShdw>
            </a:effectLst>
          </p:spPr>
        </p:pic>
      </p:grpSp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471102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Autosomal Aneuploidy disorder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Presence of an additional copy of chromosome number 21 (trisomy of 21)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Chromosome involved 21st (Autosome)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Sex affected – both males &amp; females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Total chromosome number: 47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1st described by Langdon Down (1866)</a:t>
            </a: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9001" name="Google Shape;186;p30"/>
          <p:cNvSpPr/>
          <p:nvPr/>
        </p:nvSpPr>
        <p:spPr>
          <a:xfrm>
            <a:off x="1780335" y="1462365"/>
            <a:ext cx="20393866" cy="2748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87;p30"/>
          <p:cNvSpPr txBox="1"/>
          <p:nvPr/>
        </p:nvSpPr>
        <p:spPr>
          <a:xfrm>
            <a:off x="5345559" y="2144198"/>
            <a:ext cx="16462882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8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Down's Syndrome</a:t>
            </a:r>
            <a:endParaRPr b="1" i="0" sz="8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3" name="Google Shape;217;p30"/>
          <p:cNvGrpSpPr/>
          <p:nvPr/>
        </p:nvGrpSpPr>
        <p:grpSpPr>
          <a:xfrm>
            <a:off x="1025774" y="1047001"/>
            <a:ext cx="4319785" cy="3845857"/>
            <a:chOff x="981166" y="913767"/>
            <a:chExt cx="4319785" cy="3845857"/>
          </a:xfrm>
        </p:grpSpPr>
        <p:sp>
          <p:nvSpPr>
            <p:cNvPr id="9004" name="Google Shape;218;p30"/>
            <p:cNvSpPr/>
            <p:nvPr/>
          </p:nvSpPr>
          <p:spPr>
            <a:xfrm>
              <a:off x="985575" y="913767"/>
              <a:ext cx="3845857" cy="3845857"/>
            </a:xfrm>
            <a:prstGeom prst="ellipse">
              <a:avLst/>
            </a:pr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05" name="Google Shape;219;p30"/>
            <p:cNvPicPr preferRelativeResize="0"/>
            <p:nvPr/>
          </p:nvPicPr>
          <p:blipFill rotWithShape="1">
            <a:blip r:embed="rIdTitleIcon9003">
              <a:alphaModFix/>
            </a:blip>
            <a:srcRect b="0" l="0" r="0" t="0"/>
            <a:stretch/>
          </p:blipFill>
          <p:spPr>
            <a:xfrm>
              <a:off x="981166" y="1170878"/>
              <a:ext cx="4319785" cy="3331634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" dir="5400000" dist="152400">
                <a:srgbClr val="000000">
                  <a:alpha val="54902"/>
                </a:srgbClr>
              </a:outerShdw>
            </a:effectLst>
          </p:spPr>
        </p:pic>
      </p:grpSp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4711025"/>
            <a:ext cx="21409273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Features: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1. Short statured with small round head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2. Flat back of head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3. Broad flat face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4. Epicanthus (absent eye fold)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5. Partially open mouth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6. Furrowed Big &amp; wrinkled tongue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7. Congenital heart disease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8. Palm broad with characteristic palm crease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9. Many 'loops' on finger tips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10. Physical, psychomotor &amp; mental development retarded (I.Q very less)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11. Under-developed gonads and genitalia</a:t>
            </a:r>
          </a:p>
        </p:txBody>
      </p:sp>
      <p:pic>
        <p:nvPicPr>
          <p:cNvPr id="9006" name="slide_012_1.png"/>
          <p:cNvPicPr preferRelativeResize="0"/>
          <p:nvPr/>
        </p:nvPicPr>
        <p:blipFill rotWithShape="1">
          <a:blip r:embed="rIdPic9006"/>
          <a:srcRect/>
          <a:stretch>
            <a:fillRect/>
          </a:stretch>
        </p:blipFill>
        <p:spPr>
          <a:xfrm>
            <a:off x="24662922" y="4711025"/>
            <a:ext cx="8664814" cy="6447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7" name="slide_012_3.png"/>
          <p:cNvPicPr preferRelativeResize="0"/>
          <p:nvPr/>
        </p:nvPicPr>
        <p:blipFill rotWithShape="1">
          <a:blip r:embed="rIdPic9007"/>
          <a:srcRect/>
          <a:stretch>
            <a:fillRect/>
          </a:stretch>
        </p:blipFill>
        <p:spPr>
          <a:xfrm>
            <a:off x="26016404" y="10602974"/>
            <a:ext cx="5957850" cy="6447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9001" name="Google Shape;186;p30"/>
          <p:cNvSpPr/>
          <p:nvPr/>
        </p:nvSpPr>
        <p:spPr>
          <a:xfrm>
            <a:off x="1780335" y="1462365"/>
            <a:ext cx="20393866" cy="2748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87;p30"/>
          <p:cNvSpPr txBox="1"/>
          <p:nvPr/>
        </p:nvSpPr>
        <p:spPr>
          <a:xfrm>
            <a:off x="5345559" y="2144198"/>
            <a:ext cx="16462882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8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Klinefelter's Syndrome</a:t>
            </a:r>
            <a:endParaRPr b="1" i="0" sz="8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3" name="Google Shape;217;p30"/>
          <p:cNvGrpSpPr/>
          <p:nvPr/>
        </p:nvGrpSpPr>
        <p:grpSpPr>
          <a:xfrm>
            <a:off x="1025774" y="1047001"/>
            <a:ext cx="4319785" cy="3845857"/>
            <a:chOff x="981166" y="913767"/>
            <a:chExt cx="4319785" cy="3845857"/>
          </a:xfrm>
        </p:grpSpPr>
        <p:sp>
          <p:nvSpPr>
            <p:cNvPr id="9004" name="Google Shape;218;p30"/>
            <p:cNvSpPr/>
            <p:nvPr/>
          </p:nvSpPr>
          <p:spPr>
            <a:xfrm>
              <a:off x="985575" y="913767"/>
              <a:ext cx="3845857" cy="3845857"/>
            </a:xfrm>
            <a:prstGeom prst="ellipse">
              <a:avLst/>
            </a:pr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05" name="Google Shape;219;p30"/>
            <p:cNvPicPr preferRelativeResize="0"/>
            <p:nvPr/>
          </p:nvPicPr>
          <p:blipFill rotWithShape="1">
            <a:blip r:embed="rIdTitleIcon9003">
              <a:alphaModFix/>
            </a:blip>
            <a:srcRect b="0" l="0" r="0" t="0"/>
            <a:stretch/>
          </p:blipFill>
          <p:spPr>
            <a:xfrm>
              <a:off x="981166" y="1170878"/>
              <a:ext cx="4319785" cy="3331634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" dir="5400000" dist="152400">
                <a:srgbClr val="000000">
                  <a:alpha val="54902"/>
                </a:srgbClr>
              </a:outerShdw>
            </a:effectLst>
          </p:spPr>
        </p:pic>
      </p:grpSp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471102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Sex-linked Aneuploidy disorder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Presence of an additional copy of X-chromosome (trisomy of X-chromosome)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Genetic complement - 44+XXY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Sex affected – Males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Total chromosome number: 47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Discovered by Klinefelter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Overall masculine development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Tall Stature Feminine characters develop (Breast develop - Gynecomastia) and other ♀ sec. sex characters.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Sterile</a:t>
            </a: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sp>
        <p:nvSpPr>
          <p:cNvPr id="9001" name="Google Shape;186;p30"/>
          <p:cNvSpPr/>
          <p:nvPr/>
        </p:nvSpPr>
        <p:spPr>
          <a:xfrm>
            <a:off x="1780335" y="1462365"/>
            <a:ext cx="20393866" cy="2748660"/>
          </a:xfrm>
          <a:prstGeom prst="roundRect">
            <a:avLst>
              <a:gd fmla="val 50000" name="adj"/>
            </a:avLst>
          </a:prstGeom>
          <a:solidFill>
            <a:srgbClr val="015500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2" name="Google Shape;187;p30"/>
          <p:cNvSpPr txBox="1"/>
          <p:nvPr/>
        </p:nvSpPr>
        <p:spPr>
          <a:xfrm>
            <a:off x="5345559" y="2144198"/>
            <a:ext cx="16462882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8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Turner's Syndrome</a:t>
            </a:r>
            <a:endParaRPr b="1" i="0" sz="8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03" name="Google Shape;217;p30"/>
          <p:cNvGrpSpPr/>
          <p:nvPr/>
        </p:nvGrpSpPr>
        <p:grpSpPr>
          <a:xfrm>
            <a:off x="1025774" y="1047001"/>
            <a:ext cx="4319785" cy="3845857"/>
            <a:chOff x="981166" y="913767"/>
            <a:chExt cx="4319785" cy="3845857"/>
          </a:xfrm>
        </p:grpSpPr>
        <p:sp>
          <p:nvSpPr>
            <p:cNvPr id="9004" name="Google Shape;218;p30"/>
            <p:cNvSpPr/>
            <p:nvPr/>
          </p:nvSpPr>
          <p:spPr>
            <a:xfrm>
              <a:off x="985575" y="913767"/>
              <a:ext cx="3845857" cy="3845857"/>
            </a:xfrm>
            <a:prstGeom prst="ellipse">
              <a:avLst/>
            </a:pr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05" name="Google Shape;219;p30"/>
            <p:cNvPicPr preferRelativeResize="0"/>
            <p:nvPr/>
          </p:nvPicPr>
          <p:blipFill rotWithShape="1">
            <a:blip r:embed="rIdTitleIcon9003">
              <a:alphaModFix/>
            </a:blip>
            <a:srcRect b="0" l="0" r="0" t="0"/>
            <a:stretch/>
          </p:blipFill>
          <p:spPr>
            <a:xfrm>
              <a:off x="981166" y="1170878"/>
              <a:ext cx="4319785" cy="3331634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" dir="5400000" dist="152400">
                <a:srgbClr val="000000">
                  <a:alpha val="54902"/>
                </a:srgbClr>
              </a:outerShdw>
            </a:effectLst>
          </p:spPr>
        </p:pic>
      </p:grpSp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471102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Sex-linked Aneuploidy disorder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Loss of one copy of X-chromosome (Monosomy of X-chromosome)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Short stature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Females are sterile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Ovaries &amp; genitalia are rudimentary; No menstruation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Poor breast development &amp; lack of other secondary sexual characters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Webbed neck</a:t>
            </a: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2025-02-10T10:24:55Z</dcterms:created>
  <dc:creator>PW MSO 530</dc:creator>
</cp:coreProperties>
</file>